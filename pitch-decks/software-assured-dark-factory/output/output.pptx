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3ef63260884e38" /><Relationship Type="http://schemas.openxmlformats.org/officeDocument/2006/relationships/extended-properties" Target="/docProps/app.xml" Id="R3c3603ae108c40a3" /><Relationship Type="http://schemas.openxmlformats.org/officeDocument/2006/relationships/officeDocument" Target="/ppt/presentation.xml" Id="R8554bf931bb4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1298391224f12"/>
  </p:sldMasterIdLst>
  <p:notesMasterIdLst>
    <p:notesMasterId xmlns:r="http://schemas.openxmlformats.org/officeDocument/2006/relationships" r:id="Rb122e800d84c4a03"/>
  </p:notesMasterIdLst>
  <p:sldIdLst>
    <p:sldId xmlns:r="http://schemas.openxmlformats.org/officeDocument/2006/relationships" id="256" r:id="Rf62f14585ac943ba"/>
    <p:sldId xmlns:r="http://schemas.openxmlformats.org/officeDocument/2006/relationships" id="257" r:id="Ra73e02342cf44768"/>
    <p:sldId xmlns:r="http://schemas.openxmlformats.org/officeDocument/2006/relationships" id="258" r:id="R5b917f2778d64598"/>
    <p:sldId xmlns:r="http://schemas.openxmlformats.org/officeDocument/2006/relationships" id="259" r:id="Rfbbff98bad3e42a0"/>
    <p:sldId xmlns:r="http://schemas.openxmlformats.org/officeDocument/2006/relationships" id="260" r:id="Rfa1c7dabb9a14675"/>
    <p:sldId xmlns:r="http://schemas.openxmlformats.org/officeDocument/2006/relationships" id="261" r:id="R61e88fa0d55d4442"/>
    <p:sldId xmlns:r="http://schemas.openxmlformats.org/officeDocument/2006/relationships" id="262" r:id="R5a7a84a1b71849d8"/>
    <p:sldId xmlns:r="http://schemas.openxmlformats.org/officeDocument/2006/relationships" id="263" r:id="R48cce5f3a718446e"/>
    <p:sldId xmlns:r="http://schemas.openxmlformats.org/officeDocument/2006/relationships" id="264" r:id="R13662d8f58b445cf"/>
    <p:sldId xmlns:r="http://schemas.openxmlformats.org/officeDocument/2006/relationships" id="265" r:id="R1275d89db4504011"/>
    <p:sldId xmlns:r="http://schemas.openxmlformats.org/officeDocument/2006/relationships" id="266" r:id="R60cda9178d82444a"/>
    <p:sldId xmlns:r="http://schemas.openxmlformats.org/officeDocument/2006/relationships" id="267" r:id="R90884b3c6078446c"/>
    <p:sldId xmlns:r="http://schemas.openxmlformats.org/officeDocument/2006/relationships" id="268" r:id="Rd2a411a2e89246cf"/>
    <p:sldId xmlns:r="http://schemas.openxmlformats.org/officeDocument/2006/relationships" id="269" r:id="Ra11a4920ad8b48c9"/>
    <p:sldId xmlns:r="http://schemas.openxmlformats.org/officeDocument/2006/relationships" id="270" r:id="Rd5de7ad97a844548"/>
    <p:sldId xmlns:r="http://schemas.openxmlformats.org/officeDocument/2006/relationships" id="271" r:id="Rd422802374834486"/>
    <p:sldId xmlns:r="http://schemas.openxmlformats.org/officeDocument/2006/relationships" id="272" r:id="Re1e723ec3e03461d"/>
    <p:sldId xmlns:r="http://schemas.openxmlformats.org/officeDocument/2006/relationships" id="273" r:id="Rdb47bae11a2246a7"/>
    <p:sldId xmlns:r="http://schemas.openxmlformats.org/officeDocument/2006/relationships" id="274" r:id="R11ef129ff1a24b2d"/>
    <p:sldId xmlns:r="http://schemas.openxmlformats.org/officeDocument/2006/relationships" id="275" r:id="Rf6cc0b4d48ab44f7"/>
    <p:sldId xmlns:r="http://schemas.openxmlformats.org/officeDocument/2006/relationships" id="276" r:id="R7b479740eeb54b9c"/>
    <p:sldId xmlns:r="http://schemas.openxmlformats.org/officeDocument/2006/relationships" id="277" r:id="R9457e50bcc314229"/>
    <p:sldId xmlns:r="http://schemas.openxmlformats.org/officeDocument/2006/relationships" id="278" r:id="Ra87f4cd129204eac"/>
    <p:sldId xmlns:r="http://schemas.openxmlformats.org/officeDocument/2006/relationships" id="279" r:id="Rf7d95c99774e4aa5"/>
    <p:sldId xmlns:r="http://schemas.openxmlformats.org/officeDocument/2006/relationships" id="280" r:id="R36c6826cef3f4abb"/>
    <p:sldId xmlns:r="http://schemas.openxmlformats.org/officeDocument/2006/relationships" id="281" r:id="R69553f6b408d499e"/>
    <p:sldId xmlns:r="http://schemas.openxmlformats.org/officeDocument/2006/relationships" id="282" r:id="R02d107ef90f74d98"/>
    <p:sldId xmlns:r="http://schemas.openxmlformats.org/officeDocument/2006/relationships" id="283" r:id="Reb7edfb41b484c02"/>
    <p:sldId xmlns:r="http://schemas.openxmlformats.org/officeDocument/2006/relationships" id="284" r:id="R7b7ba03e61f141ba"/>
    <p:sldId xmlns:r="http://schemas.openxmlformats.org/officeDocument/2006/relationships" id="285" r:id="R0d541c5b7da242a8"/>
    <p:sldId xmlns:r="http://schemas.openxmlformats.org/officeDocument/2006/relationships" id="286" r:id="Ra9561e5724384099"/>
    <p:sldId xmlns:r="http://schemas.openxmlformats.org/officeDocument/2006/relationships" id="287" r:id="Rd262d387711247bd"/>
    <p:sldId xmlns:r="http://schemas.openxmlformats.org/officeDocument/2006/relationships" id="288" r:id="R7b657fd2ae654f3c"/>
    <p:sldId xmlns:r="http://schemas.openxmlformats.org/officeDocument/2006/relationships" id="289" r:id="R7aa88298a9454287"/>
    <p:sldId xmlns:r="http://schemas.openxmlformats.org/officeDocument/2006/relationships" id="290" r:id="Rb7dbece356064ce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1298391224f12" /><Relationship Type="http://schemas.openxmlformats.org/officeDocument/2006/relationships/theme" Target="/ppt/theme/theme1.xml" Id="R6f098f636ab242f6" /><Relationship Type="http://schemas.openxmlformats.org/officeDocument/2006/relationships/notesMaster" Target="/ppt/notesMasters/notesMaster1.xml" Id="Rb122e800d84c4a03" /><Relationship Type="http://schemas.openxmlformats.org/officeDocument/2006/relationships/presProps" Target="/ppt/presProps.xml" Id="R0aa853b627cb469a" /><Relationship Type="http://schemas.openxmlformats.org/officeDocument/2006/relationships/viewProps" Target="/ppt/viewProps.xml" Id="Re90f6c5b0ce44d2a" /><Relationship Type="http://schemas.openxmlformats.org/officeDocument/2006/relationships/tableStyles" Target="/ppt/tableStyles.xml" Id="R5709d18a27954201" /><Relationship Type="http://schemas.openxmlformats.org/officeDocument/2006/relationships/slide" Target="/ppt/slides/slide1.xml" Id="Rf62f14585ac943ba" /><Relationship Type="http://schemas.openxmlformats.org/officeDocument/2006/relationships/slide" Target="/ppt/slides/slide2.xml" Id="Ra73e02342cf44768" /><Relationship Type="http://schemas.openxmlformats.org/officeDocument/2006/relationships/slide" Target="/ppt/slides/slide3.xml" Id="R5b917f2778d64598" /><Relationship Type="http://schemas.openxmlformats.org/officeDocument/2006/relationships/slide" Target="/ppt/slides/slide4.xml" Id="Rfbbff98bad3e42a0" /><Relationship Type="http://schemas.openxmlformats.org/officeDocument/2006/relationships/slide" Target="/ppt/slides/slide5.xml" Id="Rfa1c7dabb9a14675" /><Relationship Type="http://schemas.openxmlformats.org/officeDocument/2006/relationships/slide" Target="/ppt/slides/slide6.xml" Id="R61e88fa0d55d4442" /><Relationship Type="http://schemas.openxmlformats.org/officeDocument/2006/relationships/slide" Target="/ppt/slides/slide7.xml" Id="R5a7a84a1b71849d8" /><Relationship Type="http://schemas.openxmlformats.org/officeDocument/2006/relationships/slide" Target="/ppt/slides/slide8.xml" Id="R48cce5f3a718446e" /><Relationship Type="http://schemas.openxmlformats.org/officeDocument/2006/relationships/slide" Target="/ppt/slides/slide9.xml" Id="R13662d8f58b445cf" /><Relationship Type="http://schemas.openxmlformats.org/officeDocument/2006/relationships/slide" Target="/ppt/slides/slide10.xml" Id="R1275d89db4504011" /><Relationship Type="http://schemas.openxmlformats.org/officeDocument/2006/relationships/slide" Target="/ppt/slides/slide11.xml" Id="R60cda9178d82444a" /><Relationship Type="http://schemas.openxmlformats.org/officeDocument/2006/relationships/slide" Target="/ppt/slides/slide12.xml" Id="R90884b3c6078446c" /><Relationship Type="http://schemas.openxmlformats.org/officeDocument/2006/relationships/slide" Target="/ppt/slides/slide13.xml" Id="Rd2a411a2e89246cf" /><Relationship Type="http://schemas.openxmlformats.org/officeDocument/2006/relationships/slide" Target="/ppt/slides/slide14.xml" Id="Ra11a4920ad8b48c9" /><Relationship Type="http://schemas.openxmlformats.org/officeDocument/2006/relationships/slide" Target="/ppt/slides/slide15.xml" Id="Rd5de7ad97a844548" /><Relationship Type="http://schemas.openxmlformats.org/officeDocument/2006/relationships/slide" Target="/ppt/slides/slide16.xml" Id="Rd422802374834486" /><Relationship Type="http://schemas.openxmlformats.org/officeDocument/2006/relationships/slide" Target="/ppt/slides/slide17.xml" Id="Re1e723ec3e03461d" /><Relationship Type="http://schemas.openxmlformats.org/officeDocument/2006/relationships/slide" Target="/ppt/slides/slide18.xml" Id="Rdb47bae11a2246a7" /><Relationship Type="http://schemas.openxmlformats.org/officeDocument/2006/relationships/slide" Target="/ppt/slides/slide19.xml" Id="R11ef129ff1a24b2d" /><Relationship Type="http://schemas.openxmlformats.org/officeDocument/2006/relationships/slide" Target="/ppt/slides/slide20.xml" Id="Rf6cc0b4d48ab44f7" /><Relationship Type="http://schemas.openxmlformats.org/officeDocument/2006/relationships/slide" Target="/ppt/slides/slide21.xml" Id="R7b479740eeb54b9c" /><Relationship Type="http://schemas.openxmlformats.org/officeDocument/2006/relationships/slide" Target="/ppt/slides/slide22.xml" Id="R9457e50bcc314229" /><Relationship Type="http://schemas.openxmlformats.org/officeDocument/2006/relationships/slide" Target="/ppt/slides/slide23.xml" Id="Ra87f4cd129204eac" /><Relationship Type="http://schemas.openxmlformats.org/officeDocument/2006/relationships/slide" Target="/ppt/slides/slide24.xml" Id="Rf7d95c99774e4aa5" /><Relationship Type="http://schemas.openxmlformats.org/officeDocument/2006/relationships/slide" Target="/ppt/slides/slide25.xml" Id="R36c6826cef3f4abb" /><Relationship Type="http://schemas.openxmlformats.org/officeDocument/2006/relationships/slide" Target="/ppt/slides/slide26.xml" Id="R69553f6b408d499e" /><Relationship Type="http://schemas.openxmlformats.org/officeDocument/2006/relationships/slide" Target="/ppt/slides/slide27.xml" Id="R02d107ef90f74d98" /><Relationship Type="http://schemas.openxmlformats.org/officeDocument/2006/relationships/slide" Target="/ppt/slides/slide28.xml" Id="Reb7edfb41b484c02" /><Relationship Type="http://schemas.openxmlformats.org/officeDocument/2006/relationships/slide" Target="/ppt/slides/slide29.xml" Id="R7b7ba03e61f141ba" /><Relationship Type="http://schemas.openxmlformats.org/officeDocument/2006/relationships/slide" Target="/ppt/slides/slide30.xml" Id="R0d541c5b7da242a8" /><Relationship Type="http://schemas.openxmlformats.org/officeDocument/2006/relationships/slide" Target="/ppt/slides/slide31.xml" Id="Ra9561e5724384099" /><Relationship Type="http://schemas.openxmlformats.org/officeDocument/2006/relationships/slide" Target="/ppt/slides/slide32.xml" Id="Rd262d387711247bd" /><Relationship Type="http://schemas.openxmlformats.org/officeDocument/2006/relationships/slide" Target="/ppt/slides/slide33.xml" Id="R7b657fd2ae654f3c" /><Relationship Type="http://schemas.openxmlformats.org/officeDocument/2006/relationships/slide" Target="/ppt/slides/slide34.xml" Id="R7aa88298a9454287" /><Relationship Type="http://schemas.openxmlformats.org/officeDocument/2006/relationships/slide" Target="/ppt/slides/slide35.xml" Id="Rb7dbece35606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52f9ca1a2b54d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29a81562a4d9e" /><Relationship Type="http://schemas.openxmlformats.org/officeDocument/2006/relationships/notesMaster" Target="/ppt/notesMasters/notesMaster1.xml" Id="Rd9bfd2e1228541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6f9a53a2524605" /><Relationship Type="http://schemas.openxmlformats.org/officeDocument/2006/relationships/notesMaster" Target="/ppt/notesMasters/notesMaster1.xml" Id="R294e3d45d3914a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7d0074b3274056" /><Relationship Type="http://schemas.openxmlformats.org/officeDocument/2006/relationships/notesMaster" Target="/ppt/notesMasters/notesMaster1.xml" Id="R7aa702ee009745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eedfea476d407a" /><Relationship Type="http://schemas.openxmlformats.org/officeDocument/2006/relationships/notesMaster" Target="/ppt/notesMasters/notesMaster1.xml" Id="Ree22e415574e4f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5f4a7b140c4ca3" /><Relationship Type="http://schemas.openxmlformats.org/officeDocument/2006/relationships/notesMaster" Target="/ppt/notesMasters/notesMaster1.xml" Id="R5e64bdba5b6742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c376dd05894999" /><Relationship Type="http://schemas.openxmlformats.org/officeDocument/2006/relationships/notesMaster" Target="/ppt/notesMasters/notesMaster1.xml" Id="Rd7019c4d8f2048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958a478a664098" /><Relationship Type="http://schemas.openxmlformats.org/officeDocument/2006/relationships/notesMaster" Target="/ppt/notesMasters/notesMaster1.xml" Id="R8d32ec66d4784a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7376bd9ded4da6" /><Relationship Type="http://schemas.openxmlformats.org/officeDocument/2006/relationships/notesMaster" Target="/ppt/notesMasters/notesMaster1.xml" Id="R18b2bf2d4bf749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82c81ef9214b29" /><Relationship Type="http://schemas.openxmlformats.org/officeDocument/2006/relationships/notesMaster" Target="/ppt/notesMasters/notesMaster1.xml" Id="R71342698ac2042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a82050b16040ea" /><Relationship Type="http://schemas.openxmlformats.org/officeDocument/2006/relationships/notesMaster" Target="/ppt/notesMasters/notesMaster1.xml" Id="R5b96fd9b731e40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9a7ac446e34cfd" /><Relationship Type="http://schemas.openxmlformats.org/officeDocument/2006/relationships/notesMaster" Target="/ppt/notesMasters/notesMaster1.xml" Id="Rbb23f8503b2b44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7d9a57bc1248e0" /><Relationship Type="http://schemas.openxmlformats.org/officeDocument/2006/relationships/notesMaster" Target="/ppt/notesMasters/notesMaster1.xml" Id="R00ec44f0a07047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e833cb05c8442c" /><Relationship Type="http://schemas.openxmlformats.org/officeDocument/2006/relationships/notesMaster" Target="/ppt/notesMasters/notesMaster1.xml" Id="R25176a419a774c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cc08f02439431d" /><Relationship Type="http://schemas.openxmlformats.org/officeDocument/2006/relationships/notesMaster" Target="/ppt/notesMasters/notesMaster1.xml" Id="Rb1912260d84447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1146dcc35b455d" /><Relationship Type="http://schemas.openxmlformats.org/officeDocument/2006/relationships/notesMaster" Target="/ppt/notesMasters/notesMaster1.xml" Id="R47721be9328f4a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ab764d21e14efb" /><Relationship Type="http://schemas.openxmlformats.org/officeDocument/2006/relationships/notesMaster" Target="/ppt/notesMasters/notesMaster1.xml" Id="Rf4971ca1cfa64c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4605dca1254e0d" /><Relationship Type="http://schemas.openxmlformats.org/officeDocument/2006/relationships/notesMaster" Target="/ppt/notesMasters/notesMaster1.xml" Id="R49bfb4bb77f64f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815f4d88c0498c" /><Relationship Type="http://schemas.openxmlformats.org/officeDocument/2006/relationships/notesMaster" Target="/ppt/notesMasters/notesMaster1.xml" Id="R9e6294dde78a48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8a691acee649b7" /><Relationship Type="http://schemas.openxmlformats.org/officeDocument/2006/relationships/notesMaster" Target="/ppt/notesMasters/notesMaster1.xml" Id="Rdb59bfb5ae5048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64434ca409443b" /><Relationship Type="http://schemas.openxmlformats.org/officeDocument/2006/relationships/notesMaster" Target="/ppt/notesMasters/notesMaster1.xml" Id="Rc7a44638240d4c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bb86f8f9344508" /><Relationship Type="http://schemas.openxmlformats.org/officeDocument/2006/relationships/notesMaster" Target="/ppt/notesMasters/notesMaster1.xml" Id="Rcbb58829290845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1eb044ec95413c" /><Relationship Type="http://schemas.openxmlformats.org/officeDocument/2006/relationships/notesMaster" Target="/ppt/notesMasters/notesMaster1.xml" Id="R0614086bcff642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998aa897dc04400" /><Relationship Type="http://schemas.openxmlformats.org/officeDocument/2006/relationships/notesMaster" Target="/ppt/notesMasters/notesMaster1.xml" Id="Rafe16ae4e1ad46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0107cfc10043d0" /><Relationship Type="http://schemas.openxmlformats.org/officeDocument/2006/relationships/notesMaster" Target="/ppt/notesMasters/notesMaster1.xml" Id="R334681319ddd4e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658bd03602542f9" /><Relationship Type="http://schemas.openxmlformats.org/officeDocument/2006/relationships/notesMaster" Target="/ppt/notesMasters/notesMaster1.xml" Id="R63df871ebdfd40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70b84c1557458f" /><Relationship Type="http://schemas.openxmlformats.org/officeDocument/2006/relationships/notesMaster" Target="/ppt/notesMasters/notesMaster1.xml" Id="R9ca2166e9cee44d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b49a5ba061f494b" /><Relationship Type="http://schemas.openxmlformats.org/officeDocument/2006/relationships/notesMaster" Target="/ppt/notesMasters/notesMaster1.xml" Id="R85b3cc7fab10443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c772769b3c14c2e" /><Relationship Type="http://schemas.openxmlformats.org/officeDocument/2006/relationships/notesMaster" Target="/ppt/notesMasters/notesMaster1.xml" Id="R30106e29899b476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2508435e6345c4" /><Relationship Type="http://schemas.openxmlformats.org/officeDocument/2006/relationships/notesMaster" Target="/ppt/notesMasters/notesMaster1.xml" Id="R39b4b1f88ce04b7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3a6a92c39fa41a4" /><Relationship Type="http://schemas.openxmlformats.org/officeDocument/2006/relationships/notesMaster" Target="/ppt/notesMasters/notesMaster1.xml" Id="Rf4c748db26b84ab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6d8399636404738" /><Relationship Type="http://schemas.openxmlformats.org/officeDocument/2006/relationships/notesMaster" Target="/ppt/notesMasters/notesMaster1.xml" Id="R5fc5dca76c864fa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c76fe8685224d32" /><Relationship Type="http://schemas.openxmlformats.org/officeDocument/2006/relationships/notesMaster" Target="/ppt/notesMasters/notesMaster1.xml" Id="R39fa56abfe5a479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ea18112c45949b0" /><Relationship Type="http://schemas.openxmlformats.org/officeDocument/2006/relationships/notesMaster" Target="/ppt/notesMasters/notesMaster1.xml" Id="R0d8b4a36f08e4fe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34ebe511394062" /><Relationship Type="http://schemas.openxmlformats.org/officeDocument/2006/relationships/notesMaster" Target="/ppt/notesMasters/notesMaster1.xml" Id="Rbc085b1bfc214d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451dbf4a3af435e" /><Relationship Type="http://schemas.openxmlformats.org/officeDocument/2006/relationships/notesMaster" Target="/ppt/notesMasters/notesMaster1.xml" Id="R402bb22584c94f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7d5b6edab4be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8614ba182d745af" /><Relationship Type="http://schemas.openxmlformats.org/officeDocument/2006/relationships/slideLayout" Target="/ppt/slideLayouts/slideLayout2.xml" Id="R05c3b98606d5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c3b98606d5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13a3c22704e70" /><Relationship Type="http://schemas.openxmlformats.org/officeDocument/2006/relationships/notesSlide" Target="/ppt/notesSlides/notesSlide1.xml" Id="R40dcc518b90b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f4885588684313" /><Relationship Type="http://schemas.openxmlformats.org/officeDocument/2006/relationships/notesSlide" Target="/ppt/notesSlides/notesSlide2.xml" Id="R4c43e28cbfae4c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b2c4816dd4912" /><Relationship Type="http://schemas.openxmlformats.org/officeDocument/2006/relationships/notesSlide" Target="/ppt/notesSlides/notesSlide3.xml" Id="R28db2a746c03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2b8f3689a4f6b" /><Relationship Type="http://schemas.openxmlformats.org/officeDocument/2006/relationships/notesSlide" Target="/ppt/notesSlides/notesSlide4.xml" Id="Rf74e3b510c4c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9c16205ab4e0e" /><Relationship Type="http://schemas.openxmlformats.org/officeDocument/2006/relationships/notesSlide" Target="/ppt/notesSlides/notesSlide5.xml" Id="Rc9ecee58236a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469b78d819484b" /><Relationship Type="http://schemas.openxmlformats.org/officeDocument/2006/relationships/notesSlide" Target="/ppt/notesSlides/notesSlide6.xml" Id="Rc0b768b77fdd4f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b99f462189418a" /><Relationship Type="http://schemas.openxmlformats.org/officeDocument/2006/relationships/notesSlide" Target="/ppt/notesSlides/notesSlide7.xml" Id="R89f54c66267749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7169a24d44f9a" /><Relationship Type="http://schemas.openxmlformats.org/officeDocument/2006/relationships/notesSlide" Target="/ppt/notesSlides/notesSlide8.xml" Id="Rc05f74808d1d40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5de71c4d884de2" /><Relationship Type="http://schemas.openxmlformats.org/officeDocument/2006/relationships/notesSlide" Target="/ppt/notesSlides/notesSlide9.xml" Id="Rcfe3aae2e75d43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a1a2a0ff144ae" /><Relationship Type="http://schemas.openxmlformats.org/officeDocument/2006/relationships/notesSlide" Target="/ppt/notesSlides/notesSlide10.xml" Id="R042cfb29f28c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d6bd7ae7174f5b" /><Relationship Type="http://schemas.openxmlformats.org/officeDocument/2006/relationships/notesSlide" Target="/ppt/notesSlides/notesSlide11.xml" Id="Rff8ac63a294f43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293bd9455a40bf" /><Relationship Type="http://schemas.openxmlformats.org/officeDocument/2006/relationships/notesSlide" Target="/ppt/notesSlides/notesSlide12.xml" Id="R5ae18205362043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c03c7fb5b4689" /><Relationship Type="http://schemas.openxmlformats.org/officeDocument/2006/relationships/notesSlide" Target="/ppt/notesSlides/notesSlide13.xml" Id="Rb8f9f38756c74e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5b77209d0645a5" /><Relationship Type="http://schemas.openxmlformats.org/officeDocument/2006/relationships/notesSlide" Target="/ppt/notesSlides/notesSlide14.xml" Id="R20e49a7567364d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fb97fd3114c72" /><Relationship Type="http://schemas.openxmlformats.org/officeDocument/2006/relationships/notesSlide" Target="/ppt/notesSlides/notesSlide15.xml" Id="R7a9d4f25d4d242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110fa4a6646e0" /><Relationship Type="http://schemas.openxmlformats.org/officeDocument/2006/relationships/notesSlide" Target="/ppt/notesSlides/notesSlide16.xml" Id="R1cf48380e0844a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00cfc8ffb4552" /><Relationship Type="http://schemas.openxmlformats.org/officeDocument/2006/relationships/notesSlide" Target="/ppt/notesSlides/notesSlide17.xml" Id="R2599ab7989b04c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2d85d0564e4fb2" /><Relationship Type="http://schemas.openxmlformats.org/officeDocument/2006/relationships/notesSlide" Target="/ppt/notesSlides/notesSlide18.xml" Id="R15bbadd194664e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f1db636a664918" /><Relationship Type="http://schemas.openxmlformats.org/officeDocument/2006/relationships/notesSlide" Target="/ppt/notesSlides/notesSlide19.xml" Id="R249ad949c7cc44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8ffe67350f42bd" /><Relationship Type="http://schemas.openxmlformats.org/officeDocument/2006/relationships/notesSlide" Target="/ppt/notesSlides/notesSlide20.xml" Id="R088c784586224d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dd52be5f7847fd" /><Relationship Type="http://schemas.openxmlformats.org/officeDocument/2006/relationships/notesSlide" Target="/ppt/notesSlides/notesSlide21.xml" Id="R6241f71670a149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0dd9cd79b249d4" /><Relationship Type="http://schemas.openxmlformats.org/officeDocument/2006/relationships/notesSlide" Target="/ppt/notesSlides/notesSlide22.xml" Id="R253a7d90ed5f45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3fd4b24c8c4f1f" /><Relationship Type="http://schemas.openxmlformats.org/officeDocument/2006/relationships/notesSlide" Target="/ppt/notesSlides/notesSlide23.xml" Id="R4b3f849d2b1747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d3a3ceb38c4572" /><Relationship Type="http://schemas.openxmlformats.org/officeDocument/2006/relationships/notesSlide" Target="/ppt/notesSlides/notesSlide24.xml" Id="R59661057bce34d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f70d046244535" /><Relationship Type="http://schemas.openxmlformats.org/officeDocument/2006/relationships/notesSlide" Target="/ppt/notesSlides/notesSlide25.xml" Id="R2da582f7e26f47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5a4586383247e1" /><Relationship Type="http://schemas.openxmlformats.org/officeDocument/2006/relationships/notesSlide" Target="/ppt/notesSlides/notesSlide26.xml" Id="Rb6594bef620644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c1a8b856e24451" /><Relationship Type="http://schemas.openxmlformats.org/officeDocument/2006/relationships/notesSlide" Target="/ppt/notesSlides/notesSlide27.xml" Id="R6913b220ede44e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a4479417e64c95" /><Relationship Type="http://schemas.openxmlformats.org/officeDocument/2006/relationships/notesSlide" Target="/ppt/notesSlides/notesSlide28.xml" Id="Rce30a21ae16146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c0128c3a3d4d12" /><Relationship Type="http://schemas.openxmlformats.org/officeDocument/2006/relationships/notesSlide" Target="/ppt/notesSlides/notesSlide29.xml" Id="R32177f283817472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9d9c195ff400f" /><Relationship Type="http://schemas.openxmlformats.org/officeDocument/2006/relationships/notesSlide" Target="/ppt/notesSlides/notesSlide30.xml" Id="Rf4b0fb7592ae404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8bfb48f5964dfe" /><Relationship Type="http://schemas.openxmlformats.org/officeDocument/2006/relationships/notesSlide" Target="/ppt/notesSlides/notesSlide31.xml" Id="Rc8a09ec709c64c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96d7b49810471a" /><Relationship Type="http://schemas.openxmlformats.org/officeDocument/2006/relationships/notesSlide" Target="/ppt/notesSlides/notesSlide32.xml" Id="Ra172b7ce597a4a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747a877924ca3" /><Relationship Type="http://schemas.openxmlformats.org/officeDocument/2006/relationships/notesSlide" Target="/ppt/notesSlides/notesSlide33.xml" Id="R653806d1a48e434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8c7fb5032f4f8d" /><Relationship Type="http://schemas.openxmlformats.org/officeDocument/2006/relationships/notesSlide" Target="/ppt/notesSlides/notesSlide34.xml" Id="R09c61102462e4d2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1c73aa0aa243b1" /><Relationship Type="http://schemas.openxmlformats.org/officeDocument/2006/relationships/notesSlide" Target="/ppt/notesSlides/notesSlide35.xml" Id="R4a3bc0b5aa5542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AA20A79-9DBB-4DEC-BC74-56540593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29209D0-382A-4D9E-BDD3-72DBCAA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819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AF2C8"/>
                </a:solidFill>
              </a:defRPr>
            </a:pPr>
            <a:r>
              <a:rPr sz="1800" b="1">
                <a:solidFill>
                  <a:srgbClr val="9AF2C8"/>
                </a:solidFill>
              </a:rPr>
              <a:t>SOFTWARE-ASSURED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4435D12-2835-4419-9723-8D66EFE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57912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7FAF8"/>
                </a:solidFill>
              </a:defRPr>
            </a:pPr>
            <a:r>
              <a:rPr sz="6000" b="1">
                <a:solidFill>
                  <a:srgbClr val="F7FAF8"/>
                </a:solidFill>
              </a:rPr>
              <a:t>Standardized Dark Factory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17871B3-BE13-472C-A1F8-B8124F1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7391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9B8AE"/>
                </a:solidFill>
              </a:defRPr>
            </a:pPr>
            <a:r>
              <a:rPr sz="2175">
                <a:solidFill>
                  <a:srgbClr val="A9B8AE"/>
                </a:solidFill>
              </a:rPr>
              <a:t>A governed agent swarm that delivers software like a high-trust outsourcing firm, with stronger evidence, standards mapping, and token-budget control.</a:t>
            </a:r>
          </a:p>
        </p:txBody>
      </p:sp>
      <p:sp>
        <p:nvSpPr>
          <p:cNvPr id="5" name="pill-standards-based">
            <a:extLst xmlns:a="http://schemas.openxmlformats.org/drawingml/2006/main">
              <a:ext uri="{FF2B5EF4-FFF2-40B4-BE49-F238E27FC236}">
                <a16:creationId xmlns:a16="http://schemas.microsoft.com/office/drawing/2014/main" id="{63EECF88-A3A6-494D-9197-815A33C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24638"/>
            <a:ext cx="1905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A19"/>
          </a:solidFill>
          <a:ln xmlns:a="http://schemas.openxmlformats.org/drawingml/2006/main" w="9525">
            <a:solidFill>
              <a:srgbClr val="46D17E"/>
            </a:solidFill>
            <a:prstDash val="solid"/>
          </a:ln>
        </p:spPr>
      </p:sp>
      <p:sp>
        <p:nvSpPr>
          <p:cNvPr id="6" name="pill-text-standards-based">
            <a:extLst xmlns:a="http://schemas.openxmlformats.org/drawingml/2006/main">
              <a:ext uri="{FF2B5EF4-FFF2-40B4-BE49-F238E27FC236}">
                <a16:creationId xmlns:a16="http://schemas.microsoft.com/office/drawing/2014/main" id="{62FD7441-85A8-4C4B-A61B-4CC85A3E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62750"/>
            <a:ext cx="1562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FAD1"/>
                </a:solidFill>
              </a:defRPr>
            </a:pPr>
            <a:r>
              <a:rPr sz="1200" b="1">
                <a:solidFill>
                  <a:srgbClr val="BFFAD1"/>
                </a:solidFill>
              </a:rPr>
              <a:t>standards based</a:t>
            </a:r>
          </a:p>
        </p:txBody>
      </p:sp>
      <p:sp>
        <p:nvSpPr>
          <p:cNvPr id="7" name="pill-evidence-gated">
            <a:extLst xmlns:a="http://schemas.openxmlformats.org/drawingml/2006/main">
              <a:ext uri="{FF2B5EF4-FFF2-40B4-BE49-F238E27FC236}">
                <a16:creationId xmlns:a16="http://schemas.microsoft.com/office/drawing/2014/main" id="{6A04FC7C-F9EC-47BC-9AB0-F9BB0849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624638"/>
            <a:ext cx="1809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pill-text-evidence-gated">
            <a:extLst xmlns:a="http://schemas.openxmlformats.org/drawingml/2006/main">
              <a:ext uri="{FF2B5EF4-FFF2-40B4-BE49-F238E27FC236}">
                <a16:creationId xmlns:a16="http://schemas.microsoft.com/office/drawing/2014/main" id="{F35F8CE1-CF15-497C-8B93-B323651A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762750"/>
            <a:ext cx="148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F2C8"/>
                </a:solidFill>
              </a:defRPr>
            </a:pPr>
            <a:r>
              <a:rPr sz="1200" b="1">
                <a:solidFill>
                  <a:srgbClr val="9AF2C8"/>
                </a:solidFill>
              </a:rPr>
              <a:t>evidence gated</a:t>
            </a:r>
          </a:p>
        </p:txBody>
      </p:sp>
      <p:sp>
        <p:nvSpPr>
          <p:cNvPr id="9" name="pill-token-governed">
            <a:extLst xmlns:a="http://schemas.openxmlformats.org/drawingml/2006/main">
              <a:ext uri="{FF2B5EF4-FFF2-40B4-BE49-F238E27FC236}">
                <a16:creationId xmlns:a16="http://schemas.microsoft.com/office/drawing/2014/main" id="{D9FA3374-287B-4919-B044-7F52DF27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624638"/>
            <a:ext cx="1809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2414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0" name="pill-text-token-governed">
            <a:extLst xmlns:a="http://schemas.openxmlformats.org/drawingml/2006/main">
              <a:ext uri="{FF2B5EF4-FFF2-40B4-BE49-F238E27FC236}">
                <a16:creationId xmlns:a16="http://schemas.microsoft.com/office/drawing/2014/main" id="{9049655E-294D-4FC0-A6ED-9425AFFE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762750"/>
            <a:ext cx="148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1A1"/>
                </a:solidFill>
              </a:defRPr>
            </a:pPr>
            <a:r>
              <a:rPr sz="1200" b="1">
                <a:solidFill>
                  <a:srgbClr val="FFE1A1"/>
                </a:solidFill>
              </a:rPr>
              <a:t>token governed</a:t>
            </a:r>
          </a:p>
        </p:txBody>
      </p:sp>
      <p:sp>
        <p:nvSpPr>
          <p:cNvPr id="11" name="cover-lattice-label">
            <a:extLst xmlns:a="http://schemas.openxmlformats.org/drawingml/2006/main">
              <a:ext uri="{FF2B5EF4-FFF2-40B4-BE49-F238E27FC236}">
                <a16:creationId xmlns:a16="http://schemas.microsoft.com/office/drawing/2014/main" id="{3B2E1306-D67F-4172-AD96-7CCE6A0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28850"/>
            <a:ext cx="7543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E7C74"/>
                </a:solidFill>
              </a:defRPr>
            </a:pPr>
            <a:r>
              <a:rPr sz="1350" b="1">
                <a:solidFill>
                  <a:srgbClr val="6E7C74"/>
                </a:solidFill>
              </a:rPr>
              <a:t>CONTROL GRAPH</a:t>
            </a:r>
          </a:p>
        </p:txBody>
      </p:sp>
      <p:sp>
        <p:nvSpPr>
          <p:cNvPr id="12" name="cover-gate-0-a">
            <a:extLst xmlns:a="http://schemas.openxmlformats.org/drawingml/2006/main">
              <a:ext uri="{FF2B5EF4-FFF2-40B4-BE49-F238E27FC236}">
                <a16:creationId xmlns:a16="http://schemas.microsoft.com/office/drawing/2014/main" id="{95F167BE-35CE-4B25-909E-F3290EC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28900"/>
            <a:ext cx="666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3" name="cover-gate-0-b">
            <a:extLst xmlns:a="http://schemas.openxmlformats.org/drawingml/2006/main">
              <a:ext uri="{FF2B5EF4-FFF2-40B4-BE49-F238E27FC236}">
                <a16:creationId xmlns:a16="http://schemas.microsoft.com/office/drawing/2014/main" id="{31A81DCF-AF33-4EA5-906D-B9C6F453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28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4" name="cover-gate-0-c">
            <a:extLst xmlns:a="http://schemas.openxmlformats.org/drawingml/2006/main">
              <a:ext uri="{FF2B5EF4-FFF2-40B4-BE49-F238E27FC236}">
                <a16:creationId xmlns:a16="http://schemas.microsoft.com/office/drawing/2014/main" id="{0F1ECB2C-32B9-4568-9575-66C2A264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5908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5" name="cover-gate-1-a">
            <a:extLst xmlns:a="http://schemas.openxmlformats.org/drawingml/2006/main">
              <a:ext uri="{FF2B5EF4-FFF2-40B4-BE49-F238E27FC236}">
                <a16:creationId xmlns:a16="http://schemas.microsoft.com/office/drawing/2014/main" id="{68362FE1-C91E-4B73-8A37-F41FA990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76600"/>
            <a:ext cx="933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6" name="cover-gate-1-b">
            <a:extLst xmlns:a="http://schemas.openxmlformats.org/drawingml/2006/main">
              <a:ext uri="{FF2B5EF4-FFF2-40B4-BE49-F238E27FC236}">
                <a16:creationId xmlns:a16="http://schemas.microsoft.com/office/drawing/2014/main" id="{E4B7BAB2-B6AC-4EBA-881F-40F9BAE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238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7" name="cover-gate-1-c">
            <a:extLst xmlns:a="http://schemas.openxmlformats.org/drawingml/2006/main">
              <a:ext uri="{FF2B5EF4-FFF2-40B4-BE49-F238E27FC236}">
                <a16:creationId xmlns:a16="http://schemas.microsoft.com/office/drawing/2014/main" id="{8D4CD877-C013-4CF4-A5FD-1BA25CF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76600"/>
            <a:ext cx="17335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8" name="cover-gate-2-a">
            <a:extLst xmlns:a="http://schemas.openxmlformats.org/drawingml/2006/main">
              <a:ext uri="{FF2B5EF4-FFF2-40B4-BE49-F238E27FC236}">
                <a16:creationId xmlns:a16="http://schemas.microsoft.com/office/drawing/2014/main" id="{B5D6A459-3D6B-40AB-BEA8-C64F028E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86200"/>
            <a:ext cx="1200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9" name="cover-gate-2-b">
            <a:extLst xmlns:a="http://schemas.openxmlformats.org/drawingml/2006/main">
              <a:ext uri="{FF2B5EF4-FFF2-40B4-BE49-F238E27FC236}">
                <a16:creationId xmlns:a16="http://schemas.microsoft.com/office/drawing/2014/main" id="{393BA79B-6044-40F5-B53F-F92DF851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86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0" name="cover-gate-2-c">
            <a:extLst xmlns:a="http://schemas.openxmlformats.org/drawingml/2006/main">
              <a:ext uri="{FF2B5EF4-FFF2-40B4-BE49-F238E27FC236}">
                <a16:creationId xmlns:a16="http://schemas.microsoft.com/office/drawing/2014/main" id="{047557E3-E972-4E32-9A22-CC00014C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886200"/>
            <a:ext cx="1943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1" name="cover-gate-3-a">
            <a:extLst xmlns:a="http://schemas.openxmlformats.org/drawingml/2006/main">
              <a:ext uri="{FF2B5EF4-FFF2-40B4-BE49-F238E27FC236}">
                <a16:creationId xmlns:a16="http://schemas.microsoft.com/office/drawing/2014/main" id="{DE8EC8C7-18A6-4740-A88B-008C166C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95800"/>
            <a:ext cx="666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2" name="cover-gate-3-b">
            <a:extLst xmlns:a="http://schemas.openxmlformats.org/drawingml/2006/main">
              <a:ext uri="{FF2B5EF4-FFF2-40B4-BE49-F238E27FC236}">
                <a16:creationId xmlns:a16="http://schemas.microsoft.com/office/drawing/2014/main" id="{A5762D92-9B21-44B0-A81D-D853A0D6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495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3" name="cover-gate-3-c">
            <a:extLst xmlns:a="http://schemas.openxmlformats.org/drawingml/2006/main">
              <a:ext uri="{FF2B5EF4-FFF2-40B4-BE49-F238E27FC236}">
                <a16:creationId xmlns:a16="http://schemas.microsoft.com/office/drawing/2014/main" id="{4CE7CFE5-E9D6-46D2-A12A-7F9E6382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95800"/>
            <a:ext cx="21526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4" name="cover-gate-4-a">
            <a:extLst xmlns:a="http://schemas.openxmlformats.org/drawingml/2006/main">
              <a:ext uri="{FF2B5EF4-FFF2-40B4-BE49-F238E27FC236}">
                <a16:creationId xmlns:a16="http://schemas.microsoft.com/office/drawing/2014/main" id="{956BCE03-7A21-421D-B77F-AF3388B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05400"/>
            <a:ext cx="933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5" name="cover-gate-4-b">
            <a:extLst xmlns:a="http://schemas.openxmlformats.org/drawingml/2006/main">
              <a:ext uri="{FF2B5EF4-FFF2-40B4-BE49-F238E27FC236}">
                <a16:creationId xmlns:a16="http://schemas.microsoft.com/office/drawing/2014/main" id="{3919A9B0-FDB3-4E25-A7C5-DC81CD1B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143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6" name="cover-gate-4-c">
            <a:extLst xmlns:a="http://schemas.openxmlformats.org/drawingml/2006/main">
              <a:ext uri="{FF2B5EF4-FFF2-40B4-BE49-F238E27FC236}">
                <a16:creationId xmlns:a16="http://schemas.microsoft.com/office/drawing/2014/main" id="{99E12333-3518-4C39-A73D-0CA9E98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105400"/>
            <a:ext cx="1524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7" name="cover-gate-5-a">
            <a:extLst xmlns:a="http://schemas.openxmlformats.org/drawingml/2006/main">
              <a:ext uri="{FF2B5EF4-FFF2-40B4-BE49-F238E27FC236}">
                <a16:creationId xmlns:a16="http://schemas.microsoft.com/office/drawing/2014/main" id="{86E7DA84-1E72-4B7C-B742-FC51FB88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791200"/>
            <a:ext cx="1200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8" name="cover-gate-5-b">
            <a:extLst xmlns:a="http://schemas.openxmlformats.org/drawingml/2006/main">
              <a:ext uri="{FF2B5EF4-FFF2-40B4-BE49-F238E27FC236}">
                <a16:creationId xmlns:a16="http://schemas.microsoft.com/office/drawing/2014/main" id="{0E9F29BF-9F63-4993-8A6C-72D797A4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531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9" name="cover-gate-5-c">
            <a:extLst xmlns:a="http://schemas.openxmlformats.org/drawingml/2006/main">
              <a:ext uri="{FF2B5EF4-FFF2-40B4-BE49-F238E27FC236}">
                <a16:creationId xmlns:a16="http://schemas.microsoft.com/office/drawing/2014/main" id="{362D7911-AA4C-4E79-8B9B-C759F8E2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91200"/>
            <a:ext cx="17335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30" name="cover-gate-6-a">
            <a:extLst xmlns:a="http://schemas.openxmlformats.org/drawingml/2006/main">
              <a:ext uri="{FF2B5EF4-FFF2-40B4-BE49-F238E27FC236}">
                <a16:creationId xmlns:a16="http://schemas.microsoft.com/office/drawing/2014/main" id="{9269EBFE-3536-43DD-8E0A-0B403BF7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400800"/>
            <a:ext cx="666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31" name="cover-gate-6-b">
            <a:extLst xmlns:a="http://schemas.openxmlformats.org/drawingml/2006/main">
              <a:ext uri="{FF2B5EF4-FFF2-40B4-BE49-F238E27FC236}">
                <a16:creationId xmlns:a16="http://schemas.microsoft.com/office/drawing/2014/main" id="{8A8D4DF0-0DBC-41B0-868E-25DE4933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00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32" name="cover-gate-6-c">
            <a:extLst xmlns:a="http://schemas.openxmlformats.org/drawingml/2006/main">
              <a:ext uri="{FF2B5EF4-FFF2-40B4-BE49-F238E27FC236}">
                <a16:creationId xmlns:a16="http://schemas.microsoft.com/office/drawing/2014/main" id="{002A89CA-7884-4FFA-B26D-2854BA66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1943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33" name="cover-gate-7-a">
            <a:extLst xmlns:a="http://schemas.openxmlformats.org/drawingml/2006/main">
              <a:ext uri="{FF2B5EF4-FFF2-40B4-BE49-F238E27FC236}">
                <a16:creationId xmlns:a16="http://schemas.microsoft.com/office/drawing/2014/main" id="{97573FD5-90DF-448A-816F-FAB39093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10400"/>
            <a:ext cx="9334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34" name="cover-gate-7-b">
            <a:extLst xmlns:a="http://schemas.openxmlformats.org/drawingml/2006/main">
              <a:ext uri="{FF2B5EF4-FFF2-40B4-BE49-F238E27FC236}">
                <a16:creationId xmlns:a16="http://schemas.microsoft.com/office/drawing/2014/main" id="{E3326069-CABC-412D-862B-2FEC858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0104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35" name="cover-gate-7-c">
            <a:extLst xmlns:a="http://schemas.openxmlformats.org/drawingml/2006/main">
              <a:ext uri="{FF2B5EF4-FFF2-40B4-BE49-F238E27FC236}">
                <a16:creationId xmlns:a16="http://schemas.microsoft.com/office/drawing/2014/main" id="{5BFD4947-C909-4A9F-BEB6-ED1F1C8B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010400"/>
            <a:ext cx="21526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36" name="pill-trace">
            <a:extLst xmlns:a="http://schemas.openxmlformats.org/drawingml/2006/main">
              <a:ext uri="{FF2B5EF4-FFF2-40B4-BE49-F238E27FC236}">
                <a16:creationId xmlns:a16="http://schemas.microsoft.com/office/drawing/2014/main" id="{99B95D81-AE82-4D56-A620-84784167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7639050"/>
            <a:ext cx="1104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9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7" name="pill-text-trace">
            <a:extLst xmlns:a="http://schemas.openxmlformats.org/drawingml/2006/main">
              <a:ext uri="{FF2B5EF4-FFF2-40B4-BE49-F238E27FC236}">
                <a16:creationId xmlns:a16="http://schemas.microsoft.com/office/drawing/2014/main" id="{43FB12A7-4840-4840-8609-8E93CFD4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791450"/>
            <a:ext cx="762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F2C8"/>
                </a:solidFill>
              </a:defRPr>
            </a:pPr>
            <a:r>
              <a:rPr sz="1200" b="1">
                <a:solidFill>
                  <a:srgbClr val="9AF2C8"/>
                </a:solidFill>
              </a:rPr>
              <a:t>trace</a:t>
            </a:r>
          </a:p>
        </p:txBody>
      </p:sp>
      <p:sp>
        <p:nvSpPr>
          <p:cNvPr id="38" name="pill-rubric">
            <a:extLst xmlns:a="http://schemas.openxmlformats.org/drawingml/2006/main">
              <a:ext uri="{FF2B5EF4-FFF2-40B4-BE49-F238E27FC236}">
                <a16:creationId xmlns:a16="http://schemas.microsoft.com/office/drawing/2014/main" id="{DF76D2AA-EFFA-4B3C-8757-EE1C9141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956" y="7639050"/>
            <a:ext cx="12192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2A19"/>
          </a:solidFill>
          <a:ln xmlns:a="http://schemas.openxmlformats.org/drawingml/2006/main" w="9525">
            <a:solidFill>
              <a:srgbClr val="46D17E"/>
            </a:solidFill>
            <a:prstDash val="solid"/>
          </a:ln>
        </p:spPr>
      </p:sp>
      <p:sp>
        <p:nvSpPr>
          <p:cNvPr id="39" name="pill-text-rubric">
            <a:extLst xmlns:a="http://schemas.openxmlformats.org/drawingml/2006/main">
              <a:ext uri="{FF2B5EF4-FFF2-40B4-BE49-F238E27FC236}">
                <a16:creationId xmlns:a16="http://schemas.microsoft.com/office/drawing/2014/main" id="{9A34C8A4-D6E6-45A0-9C17-3E32D9C9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7791450"/>
            <a:ext cx="876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FAD1"/>
                </a:solidFill>
              </a:defRPr>
            </a:pPr>
            <a:r>
              <a:rPr sz="1200" b="1">
                <a:solidFill>
                  <a:srgbClr val="BFFAD1"/>
                </a:solidFill>
              </a:rPr>
              <a:t>rubric</a:t>
            </a:r>
          </a:p>
        </p:txBody>
      </p:sp>
      <p:sp>
        <p:nvSpPr>
          <p:cNvPr id="40" name="pill-handoff">
            <a:extLst xmlns:a="http://schemas.openxmlformats.org/drawingml/2006/main">
              <a:ext uri="{FF2B5EF4-FFF2-40B4-BE49-F238E27FC236}">
                <a16:creationId xmlns:a16="http://schemas.microsoft.com/office/drawing/2014/main" id="{2B6DADD2-0C23-4291-B08B-C674CC08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556" y="7639050"/>
            <a:ext cx="13144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2414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1" name="pill-text-handoff">
            <a:extLst xmlns:a="http://schemas.openxmlformats.org/drawingml/2006/main">
              <a:ext uri="{FF2B5EF4-FFF2-40B4-BE49-F238E27FC236}">
                <a16:creationId xmlns:a16="http://schemas.microsoft.com/office/drawing/2014/main" id="{88B0959C-FD76-45A5-9F6B-A7393FF6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791450"/>
            <a:ext cx="990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1A1"/>
                </a:solidFill>
              </a:defRPr>
            </a:pPr>
            <a:r>
              <a:rPr sz="1200" b="1">
                <a:solidFill>
                  <a:srgbClr val="FFE1A1"/>
                </a:solidFill>
              </a:rPr>
              <a:t>handoff</a:t>
            </a:r>
          </a:p>
        </p:txBody>
      </p:sp>
      <p:sp>
        <p:nvSpPr>
          <p:cNvPr id="42" name="pill-sre">
            <a:extLst xmlns:a="http://schemas.openxmlformats.org/drawingml/2006/main">
              <a:ext uri="{FF2B5EF4-FFF2-40B4-BE49-F238E27FC236}">
                <a16:creationId xmlns:a16="http://schemas.microsoft.com/office/drawing/2014/main" id="{96FD1C2D-A103-4C72-BDE0-A3473AD2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406" y="7639050"/>
            <a:ext cx="9334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1717"/>
          </a:solidFill>
          <a:ln xmlns:a="http://schemas.openxmlformats.org/drawingml/2006/main" w="9525">
            <a:solidFill>
              <a:srgbClr val="F26464"/>
            </a:solidFill>
            <a:prstDash val="solid"/>
          </a:ln>
        </p:spPr>
      </p:sp>
      <p:sp>
        <p:nvSpPr>
          <p:cNvPr id="43" name="pill-text-sre">
            <a:extLst xmlns:a="http://schemas.openxmlformats.org/drawingml/2006/main">
              <a:ext uri="{FF2B5EF4-FFF2-40B4-BE49-F238E27FC236}">
                <a16:creationId xmlns:a16="http://schemas.microsoft.com/office/drawing/2014/main" id="{593F3990-F6EE-41A3-91DE-A5C7B7C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7791450"/>
            <a:ext cx="60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2C2"/>
                </a:solidFill>
              </a:defRPr>
            </a:pPr>
            <a:r>
              <a:rPr sz="1200" b="1">
                <a:solidFill>
                  <a:srgbClr val="FFC2C2"/>
                </a:solidFill>
              </a:rPr>
              <a:t>SRE</a:t>
            </a:r>
          </a:p>
        </p:txBody>
      </p:sp>
      <p:sp>
        <p:nvSpPr>
          <p:cNvPr id="44" name="cover-footer-left">
            <a:extLst xmlns:a="http://schemas.openxmlformats.org/drawingml/2006/main">
              <a:ext uri="{FF2B5EF4-FFF2-40B4-BE49-F238E27FC236}">
                <a16:creationId xmlns:a16="http://schemas.microsoft.com/office/drawing/2014/main" id="{90C110A8-0E6D-47BF-876C-82C40B2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0"/>
            <a:ext cx="17716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Pitch deck | DFMS product concept</a:t>
            </a:r>
          </a:p>
        </p:txBody>
      </p:sp>
      <p:sp>
        <p:nvSpPr>
          <p:cNvPr id="45" name="cover-footer-right">
            <a:extLst xmlns:a="http://schemas.openxmlformats.org/drawingml/2006/main">
              <a:ext uri="{FF2B5EF4-FFF2-40B4-BE49-F238E27FC236}">
                <a16:creationId xmlns:a16="http://schemas.microsoft.com/office/drawing/2014/main" id="{ADF22645-5620-45DD-AEED-7694BD10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95631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175945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CD06159-95E6-4C61-9AD9-F9CFB2C4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tension-eyebrow">
            <a:extLst xmlns:a="http://schemas.openxmlformats.org/drawingml/2006/main">
              <a:ext uri="{FF2B5EF4-FFF2-40B4-BE49-F238E27FC236}">
                <a16:creationId xmlns:a16="http://schemas.microsoft.com/office/drawing/2014/main" id="{2B2BE6E4-6EEE-4019-92CB-78A0424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THE PROBLEM</a:t>
            </a:r>
          </a:p>
        </p:txBody>
      </p:sp>
      <p:sp>
        <p:nvSpPr>
          <p:cNvPr id="3" name="tension-title">
            <a:extLst xmlns:a="http://schemas.openxmlformats.org/drawingml/2006/main">
              <a:ext uri="{FF2B5EF4-FFF2-40B4-BE49-F238E27FC236}">
                <a16:creationId xmlns:a16="http://schemas.microsoft.com/office/drawing/2014/main" id="{9EDC3990-0D9D-4C06-BAEE-A5FD1F28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3063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Enterprise buyers are being asked to trust speed without assurance.</a:t>
            </a:r>
          </a:p>
        </p:txBody>
      </p:sp>
      <p:sp>
        <p:nvSpPr>
          <p:cNvPr id="4" name="tension-subtitle">
            <a:extLst xmlns:a="http://schemas.openxmlformats.org/drawingml/2006/main">
              <a:ext uri="{FF2B5EF4-FFF2-40B4-BE49-F238E27FC236}">
                <a16:creationId xmlns:a16="http://schemas.microsoft.com/office/drawing/2014/main" id="{274F8835-C444-4F65-A6C7-5EC20403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207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Classic outsourcing is slow and opaque. AI coding is fast but thin on evidence. Regulated teams need the missing middle.</a:t>
            </a:r>
          </a:p>
        </p:txBody>
      </p:sp>
      <p:sp>
        <p:nvSpPr>
          <p:cNvPr id="5" name="metric-value-human-sdlc-checkpoints-arrive-late">
            <a:extLst xmlns:a="http://schemas.openxmlformats.org/drawingml/2006/main">
              <a:ext uri="{FF2B5EF4-FFF2-40B4-BE49-F238E27FC236}">
                <a16:creationId xmlns:a16="http://schemas.microsoft.com/office/drawing/2014/main" id="{1D52BDA9-D25F-411A-ACB7-1A8917BF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7181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2B84B"/>
                </a:solidFill>
              </a:defRPr>
            </a:pPr>
            <a:r>
              <a:rPr sz="5250" b="1">
                <a:solidFill>
                  <a:srgbClr val="F2B84B"/>
                </a:solidFill>
              </a:rPr>
              <a:t>slow</a:t>
            </a:r>
          </a:p>
        </p:txBody>
      </p:sp>
      <p:sp>
        <p:nvSpPr>
          <p:cNvPr id="6" name="metric-label-human-sdlc-checkpoints-arrive-late">
            <a:extLst xmlns:a="http://schemas.openxmlformats.org/drawingml/2006/main">
              <a:ext uri="{FF2B5EF4-FFF2-40B4-BE49-F238E27FC236}">
                <a16:creationId xmlns:a16="http://schemas.microsoft.com/office/drawing/2014/main" id="{1C71F054-9EE9-45E6-8E40-EB3F4105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human SDLC checkpoints arrive late</a:t>
            </a:r>
          </a:p>
        </p:txBody>
      </p:sp>
      <p:sp>
        <p:nvSpPr>
          <p:cNvPr id="7" name="metric-value-outsourcing-status-is-often-summarized-not-proven">
            <a:extLst xmlns:a="http://schemas.openxmlformats.org/drawingml/2006/main">
              <a:ext uri="{FF2B5EF4-FFF2-40B4-BE49-F238E27FC236}">
                <a16:creationId xmlns:a16="http://schemas.microsoft.com/office/drawing/2014/main" id="{D70F9CAC-76F2-490D-B05B-8E110048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7181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26464"/>
                </a:solidFill>
              </a:defRPr>
            </a:pPr>
            <a:r>
              <a:rPr sz="5250" b="1">
                <a:solidFill>
                  <a:srgbClr val="F26464"/>
                </a:solidFill>
              </a:rPr>
              <a:t>opaque</a:t>
            </a:r>
          </a:p>
        </p:txBody>
      </p:sp>
      <p:sp>
        <p:nvSpPr>
          <p:cNvPr id="8" name="metric-label-outsourcing-status-is-often-summarized-not-proven">
            <a:extLst xmlns:a="http://schemas.openxmlformats.org/drawingml/2006/main">
              <a:ext uri="{FF2B5EF4-FFF2-40B4-BE49-F238E27FC236}">
                <a16:creationId xmlns:a16="http://schemas.microsoft.com/office/drawing/2014/main" id="{526780B4-DBB7-42BA-9643-5A245A1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outsourcing status is often summarized, not proven</a:t>
            </a:r>
          </a:p>
        </p:txBody>
      </p:sp>
      <p:sp>
        <p:nvSpPr>
          <p:cNvPr id="9" name="metric-value-ai-output-often-lacks-traceable-acceptance-evidence">
            <a:extLst xmlns:a="http://schemas.openxmlformats.org/drawingml/2006/main">
              <a:ext uri="{FF2B5EF4-FFF2-40B4-BE49-F238E27FC236}">
                <a16:creationId xmlns:a16="http://schemas.microsoft.com/office/drawing/2014/main" id="{ADE0EE85-79D7-4536-912B-2F82D72E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7181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DD4BF"/>
                </a:solidFill>
              </a:defRPr>
            </a:pPr>
            <a:r>
              <a:rPr sz="5250" b="1">
                <a:solidFill>
                  <a:srgbClr val="2DD4BF"/>
                </a:solidFill>
              </a:rPr>
              <a:t>fragile</a:t>
            </a:r>
          </a:p>
        </p:txBody>
      </p:sp>
      <p:sp>
        <p:nvSpPr>
          <p:cNvPr id="10" name="metric-label-ai-output-often-lacks-traceable-acceptance-evidence">
            <a:extLst xmlns:a="http://schemas.openxmlformats.org/drawingml/2006/main">
              <a:ext uri="{FF2B5EF4-FFF2-40B4-BE49-F238E27FC236}">
                <a16:creationId xmlns:a16="http://schemas.microsoft.com/office/drawing/2014/main" id="{D92FC67F-B71A-4963-9C17-ACFCF272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9950"/>
            <a:ext cx="2476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AI output often lacks traceable acceptance evidence</a:t>
            </a:r>
          </a:p>
        </p:txBody>
      </p:sp>
      <p:sp>
        <p:nvSpPr>
          <p:cNvPr id="11" name="dot-the-buyer-s-real-question-is-not-can-it-code">
            <a:extLst xmlns:a="http://schemas.openxmlformats.org/drawingml/2006/main">
              <a:ext uri="{FF2B5EF4-FFF2-40B4-BE49-F238E27FC236}">
                <a16:creationId xmlns:a16="http://schemas.microsoft.com/office/drawing/2014/main" id="{8C0D13C6-6D60-4D99-A08E-584D974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2" name="statement-title-the-buyer-s-real-question-is-not-can-it-code">
            <a:extLst xmlns:a="http://schemas.openxmlformats.org/drawingml/2006/main">
              <a:ext uri="{FF2B5EF4-FFF2-40B4-BE49-F238E27FC236}">
                <a16:creationId xmlns:a16="http://schemas.microsoft.com/office/drawing/2014/main" id="{E189ED6E-FBFB-40BE-AB1F-93D13D0A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67250"/>
            <a:ext cx="843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The buyer's real question is not 'can it code?'</a:t>
            </a:r>
          </a:p>
        </p:txBody>
      </p:sp>
      <p:sp>
        <p:nvSpPr>
          <p:cNvPr id="13" name="statement-body-the-buyer-s-real-question-is-not-can-it-code">
            <a:extLst xmlns:a="http://schemas.openxmlformats.org/drawingml/2006/main">
              <a:ext uri="{FF2B5EF4-FFF2-40B4-BE49-F238E27FC236}">
                <a16:creationId xmlns:a16="http://schemas.microsoft.com/office/drawing/2014/main" id="{51ADCE39-0064-4382-85CE-5103E429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9110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It is whether the delivery system can explain, prove, hand off, and keep improving the software.</a:t>
            </a:r>
          </a:p>
        </p:txBody>
      </p:sp>
      <p:sp>
        <p:nvSpPr>
          <p:cNvPr id="14" name="dot-the-vendor-s-real-question-is-not-did-the-model-answer">
            <a:extLst xmlns:a="http://schemas.openxmlformats.org/drawingml/2006/main">
              <a:ext uri="{FF2B5EF4-FFF2-40B4-BE49-F238E27FC236}">
                <a16:creationId xmlns:a16="http://schemas.microsoft.com/office/drawing/2014/main" id="{4EB37C5A-E0CF-4DC0-A76B-209AE0DB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245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5" name="statement-title-the-vendor-s-real-question-is-not-did-the-model-answer">
            <a:extLst xmlns:a="http://schemas.openxmlformats.org/drawingml/2006/main">
              <a:ext uri="{FF2B5EF4-FFF2-40B4-BE49-F238E27FC236}">
                <a16:creationId xmlns:a16="http://schemas.microsoft.com/office/drawing/2014/main" id="{572BF23F-B302-4A39-8B23-C02B85A3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05450"/>
            <a:ext cx="843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The vendor's real question is not 'did the model answer?'</a:t>
            </a:r>
          </a:p>
        </p:txBody>
      </p:sp>
      <p:sp>
        <p:nvSpPr>
          <p:cNvPr id="16" name="statement-body-the-vendor-s-real-question-is-not-did-the-model-answer">
            <a:extLst xmlns:a="http://schemas.openxmlformats.org/drawingml/2006/main">
              <a:ext uri="{FF2B5EF4-FFF2-40B4-BE49-F238E27FC236}">
                <a16:creationId xmlns:a16="http://schemas.microsoft.com/office/drawing/2014/main" id="{A5CE942A-A125-4240-A77B-9F537C1D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2930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It is whether every requirement, decision, artifact, test, and residual risk survived scrutiny.</a:t>
            </a:r>
          </a:p>
        </p:txBody>
      </p:sp>
      <p:sp>
        <p:nvSpPr>
          <p:cNvPr id="17" name="dot-the-cost-center-changes-form">
            <a:extLst xmlns:a="http://schemas.openxmlformats.org/drawingml/2006/main">
              <a:ext uri="{FF2B5EF4-FFF2-40B4-BE49-F238E27FC236}">
                <a16:creationId xmlns:a16="http://schemas.microsoft.com/office/drawing/2014/main" id="{1EE5B945-2C50-4C67-80BD-04DFA985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627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8" name="statement-title-the-cost-center-changes-form">
            <a:extLst xmlns:a="http://schemas.openxmlformats.org/drawingml/2006/main">
              <a:ext uri="{FF2B5EF4-FFF2-40B4-BE49-F238E27FC236}">
                <a16:creationId xmlns:a16="http://schemas.microsoft.com/office/drawing/2014/main" id="{59CFBBDA-13AB-4E2C-BC43-538C8F16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343650"/>
            <a:ext cx="843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The cost center changes form.</a:t>
            </a:r>
          </a:p>
        </p:txBody>
      </p:sp>
      <p:sp>
        <p:nvSpPr>
          <p:cNvPr id="19" name="statement-body-the-cost-center-changes-form">
            <a:extLst xmlns:a="http://schemas.openxmlformats.org/drawingml/2006/main">
              <a:ext uri="{FF2B5EF4-FFF2-40B4-BE49-F238E27FC236}">
                <a16:creationId xmlns:a16="http://schemas.microsoft.com/office/drawing/2014/main" id="{68641F6E-2A9A-44C4-8B78-D2DD490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667500"/>
            <a:ext cx="8705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Dollars become tokens, but scope, approvals, change control, and confidence still have to be managed.</a:t>
            </a:r>
          </a:p>
        </p:txBody>
      </p:sp>
      <p:sp>
        <p:nvSpPr>
          <p:cNvPr id="20" name="tension-footer">
            <a:extLst xmlns:a="http://schemas.openxmlformats.org/drawingml/2006/main">
              <a:ext uri="{FF2B5EF4-FFF2-40B4-BE49-F238E27FC236}">
                <a16:creationId xmlns:a16="http://schemas.microsoft.com/office/drawing/2014/main" id="{850B405A-1519-454E-A6D2-3B7B420A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1" name="tension-page">
            <a:extLst xmlns:a="http://schemas.openxmlformats.org/drawingml/2006/main">
              <a:ext uri="{FF2B5EF4-FFF2-40B4-BE49-F238E27FC236}">
                <a16:creationId xmlns:a16="http://schemas.microsoft.com/office/drawing/2014/main" id="{18ABC8A7-E036-4AF7-B8E5-644CE655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646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04E48E-3F33-4271-8B59-326E0B28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buyer-confidence-eyebrow">
            <a:extLst xmlns:a="http://schemas.openxmlformats.org/drawingml/2006/main">
              <a:ext uri="{FF2B5EF4-FFF2-40B4-BE49-F238E27FC236}">
                <a16:creationId xmlns:a16="http://schemas.microsoft.com/office/drawing/2014/main" id="{875CE183-CF71-4A2F-B4E9-3E5CF41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THE BUYER STANDARD</a:t>
            </a:r>
          </a:p>
        </p:txBody>
      </p:sp>
      <p:sp>
        <p:nvSpPr>
          <p:cNvPr id="3" name="buyer-confidence-title">
            <a:extLst xmlns:a="http://schemas.openxmlformats.org/drawingml/2006/main">
              <a:ext uri="{FF2B5EF4-FFF2-40B4-BE49-F238E27FC236}">
                <a16:creationId xmlns:a16="http://schemas.microsoft.com/office/drawing/2014/main" id="{FE38BCAC-9610-4853-8EE6-E90BA24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620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Confidence requires a full delivery system, not a clever answer.</a:t>
            </a:r>
          </a:p>
        </p:txBody>
      </p:sp>
      <p:sp>
        <p:nvSpPr>
          <p:cNvPr id="4" name="buyer-confidence-subtitle">
            <a:extLst xmlns:a="http://schemas.openxmlformats.org/drawingml/2006/main">
              <a:ext uri="{FF2B5EF4-FFF2-40B4-BE49-F238E27FC236}">
                <a16:creationId xmlns:a16="http://schemas.microsoft.com/office/drawing/2014/main" id="{97F892B3-94D6-42F5-A1B2-FDDF73B8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219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A serious buyer needs the same control surfaces they expect from a top delivery partner, plus stronger machine-verifiable proof.</a:t>
            </a:r>
          </a:p>
        </p:txBody>
      </p:sp>
      <p:sp>
        <p:nvSpPr>
          <p:cNvPr id="5" name="step-01-scope-confidence">
            <a:extLst xmlns:a="http://schemas.openxmlformats.org/drawingml/2006/main">
              <a:ext uri="{FF2B5EF4-FFF2-40B4-BE49-F238E27FC236}">
                <a16:creationId xmlns:a16="http://schemas.microsoft.com/office/drawing/2014/main" id="{01A0B973-C9BA-4476-9115-78E63BC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5346700" cy="2976563"/>
          </a:xfrm>
          <a:prstGeom xmlns:a="http://schemas.openxmlformats.org/drawingml/2006/main" prst="roundRect">
            <a:avLst>
              <a:gd name="adj" fmla="val 192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01">
            <a:extLst xmlns:a="http://schemas.openxmlformats.org/drawingml/2006/main">
              <a:ext uri="{FF2B5EF4-FFF2-40B4-BE49-F238E27FC236}">
                <a16:creationId xmlns:a16="http://schemas.microsoft.com/office/drawing/2014/main" id="{6D6CBB34-0D57-4156-93A0-A4F2D485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01</a:t>
            </a:r>
          </a:p>
        </p:txBody>
      </p:sp>
      <p:sp>
        <p:nvSpPr>
          <p:cNvPr id="7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8060C7D8-B0CF-4034-A0DE-066402BD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Scope confidence</a:t>
            </a:r>
          </a:p>
        </p:txBody>
      </p:sp>
      <p:sp>
        <p:nvSpPr>
          <p:cNvPr id="8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33EC4F7C-18C6-478C-AC1E-53EE31C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99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What is in, what is out, what changed, and who approved it.</a:t>
            </a:r>
          </a:p>
        </p:txBody>
      </p:sp>
      <p:sp>
        <p:nvSpPr>
          <p:cNvPr id="9" name="step-02-spec-confidence">
            <a:extLst xmlns:a="http://schemas.openxmlformats.org/drawingml/2006/main">
              <a:ext uri="{FF2B5EF4-FFF2-40B4-BE49-F238E27FC236}">
                <a16:creationId xmlns:a16="http://schemas.microsoft.com/office/drawing/2014/main" id="{CDF2CFF3-C314-4AA0-A506-C4E50E43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924175"/>
            <a:ext cx="5346700" cy="2976563"/>
          </a:xfrm>
          <a:prstGeom xmlns:a="http://schemas.openxmlformats.org/drawingml/2006/main" prst="roundRect">
            <a:avLst>
              <a:gd name="adj" fmla="val 192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02">
            <a:extLst xmlns:a="http://schemas.openxmlformats.org/drawingml/2006/main">
              <a:ext uri="{FF2B5EF4-FFF2-40B4-BE49-F238E27FC236}">
                <a16:creationId xmlns:a16="http://schemas.microsoft.com/office/drawing/2014/main" id="{F958AB2C-D6EB-4133-AB44-A981A5A2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02</a:t>
            </a:r>
          </a:p>
        </p:txBody>
      </p:sp>
      <p:sp>
        <p:nvSpPr>
          <p:cNvPr id="11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2C4114A5-3B74-4F16-977B-E2B8AC0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Spec confidence</a:t>
            </a:r>
          </a:p>
        </p:txBody>
      </p:sp>
      <p:sp>
        <p:nvSpPr>
          <p:cNvPr id="12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F9739528-D834-47F1-A2CC-4DC5523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Customer answers trace to decomposed requirements and acceptance leaves.</a:t>
            </a:r>
          </a:p>
        </p:txBody>
      </p:sp>
      <p:sp>
        <p:nvSpPr>
          <p:cNvPr id="13" name="step-03-design-confidence">
            <a:extLst xmlns:a="http://schemas.openxmlformats.org/drawingml/2006/main">
              <a:ext uri="{FF2B5EF4-FFF2-40B4-BE49-F238E27FC236}">
                <a16:creationId xmlns:a16="http://schemas.microsoft.com/office/drawing/2014/main" id="{75C2C8C1-3D4D-46F5-B15B-493AECEC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924175"/>
            <a:ext cx="5346700" cy="2976563"/>
          </a:xfrm>
          <a:prstGeom xmlns:a="http://schemas.openxmlformats.org/drawingml/2006/main" prst="roundRect">
            <a:avLst>
              <a:gd name="adj" fmla="val 192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03">
            <a:extLst xmlns:a="http://schemas.openxmlformats.org/drawingml/2006/main">
              <a:ext uri="{FF2B5EF4-FFF2-40B4-BE49-F238E27FC236}">
                <a16:creationId xmlns:a16="http://schemas.microsoft.com/office/drawing/2014/main" id="{8F171CBD-FCB2-45DA-929C-7F31023E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15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1B0E4766-30BD-4D2E-94D4-5ED058DE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Design confidence</a:t>
            </a:r>
          </a:p>
        </p:txBody>
      </p:sp>
      <p:sp>
        <p:nvSpPr>
          <p:cNvPr id="16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A916D491-C4A5-4CF1-96CC-262A009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40995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Alternatives, decisions, standards, risks, and trade-offs are explicit.</a:t>
            </a:r>
          </a:p>
        </p:txBody>
      </p:sp>
      <p:sp>
        <p:nvSpPr>
          <p:cNvPr id="17" name="step-04-build-confidence">
            <a:extLst xmlns:a="http://schemas.openxmlformats.org/drawingml/2006/main">
              <a:ext uri="{FF2B5EF4-FFF2-40B4-BE49-F238E27FC236}">
                <a16:creationId xmlns:a16="http://schemas.microsoft.com/office/drawing/2014/main" id="{5B934547-3BEE-44FF-BE0E-58F720B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29338"/>
            <a:ext cx="5346700" cy="2976563"/>
          </a:xfrm>
          <a:prstGeom xmlns:a="http://schemas.openxmlformats.org/drawingml/2006/main" prst="roundRect">
            <a:avLst>
              <a:gd name="adj" fmla="val 192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04">
            <a:extLst xmlns:a="http://schemas.openxmlformats.org/drawingml/2006/main">
              <a:ext uri="{FF2B5EF4-FFF2-40B4-BE49-F238E27FC236}">
                <a16:creationId xmlns:a16="http://schemas.microsoft.com/office/drawing/2014/main" id="{AD7FBA63-27FB-4F4D-BA33-893C7FCB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04</a:t>
            </a:r>
          </a:p>
        </p:txBody>
      </p:sp>
      <p:sp>
        <p:nvSpPr>
          <p:cNvPr id="19" name="step-title-04">
            <a:extLst xmlns:a="http://schemas.openxmlformats.org/drawingml/2006/main">
              <a:ext uri="{FF2B5EF4-FFF2-40B4-BE49-F238E27FC236}">
                <a16:creationId xmlns:a16="http://schemas.microsoft.com/office/drawing/2014/main" id="{E26A40E2-7385-4DD6-B29F-214C417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246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Build confidence</a:t>
            </a:r>
          </a:p>
        </p:txBody>
      </p:sp>
      <p:sp>
        <p:nvSpPr>
          <p:cNvPr id="20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957C327E-0913-489E-A319-E3211D9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61035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Code, models, data, dependencies, and environments link back to intent.</a:t>
            </a:r>
          </a:p>
        </p:txBody>
      </p:sp>
      <p:sp>
        <p:nvSpPr>
          <p:cNvPr id="21" name="step-05-quality-confidence">
            <a:extLst xmlns:a="http://schemas.openxmlformats.org/drawingml/2006/main">
              <a:ext uri="{FF2B5EF4-FFF2-40B4-BE49-F238E27FC236}">
                <a16:creationId xmlns:a16="http://schemas.microsoft.com/office/drawing/2014/main" id="{512D631E-D1E1-4569-98A5-C734714E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6129338"/>
            <a:ext cx="5346700" cy="2976563"/>
          </a:xfrm>
          <a:prstGeom xmlns:a="http://schemas.openxmlformats.org/drawingml/2006/main" prst="roundRect">
            <a:avLst>
              <a:gd name="adj" fmla="val 192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05">
            <a:extLst xmlns:a="http://schemas.openxmlformats.org/drawingml/2006/main">
              <a:ext uri="{FF2B5EF4-FFF2-40B4-BE49-F238E27FC236}">
                <a16:creationId xmlns:a16="http://schemas.microsoft.com/office/drawing/2014/main" id="{D5355F7B-7606-4AB5-85F9-30FE45D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3246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05</a:t>
            </a:r>
          </a:p>
        </p:txBody>
      </p:sp>
      <p:sp>
        <p:nvSpPr>
          <p:cNvPr id="23" name="step-title-05">
            <a:extLst xmlns:a="http://schemas.openxmlformats.org/drawingml/2006/main">
              <a:ext uri="{FF2B5EF4-FFF2-40B4-BE49-F238E27FC236}">
                <a16:creationId xmlns:a16="http://schemas.microsoft.com/office/drawing/2014/main" id="{9059AA3A-DFCC-4E56-A346-52669E72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3246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Quality confidence</a:t>
            </a:r>
          </a:p>
        </p:txBody>
      </p:sp>
      <p:sp>
        <p:nvSpPr>
          <p:cNvPr id="24" name="step-body-05">
            <a:extLst xmlns:a="http://schemas.openxmlformats.org/drawingml/2006/main">
              <a:ext uri="{FF2B5EF4-FFF2-40B4-BE49-F238E27FC236}">
                <a16:creationId xmlns:a16="http://schemas.microsoft.com/office/drawing/2014/main" id="{88872E2B-CBC8-468B-B2AF-48A28E62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61035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Tests, expert rubrics, refinery gates, and certificates prove readiness.</a:t>
            </a:r>
          </a:p>
        </p:txBody>
      </p:sp>
      <p:sp>
        <p:nvSpPr>
          <p:cNvPr id="25" name="step-06-ownership-confidence">
            <a:extLst xmlns:a="http://schemas.openxmlformats.org/drawingml/2006/main">
              <a:ext uri="{FF2B5EF4-FFF2-40B4-BE49-F238E27FC236}">
                <a16:creationId xmlns:a16="http://schemas.microsoft.com/office/drawing/2014/main" id="{55061AF6-16A1-4FB5-9866-2F27CD9B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129338"/>
            <a:ext cx="5346700" cy="2976563"/>
          </a:xfrm>
          <a:prstGeom xmlns:a="http://schemas.openxmlformats.org/drawingml/2006/main" prst="roundRect">
            <a:avLst>
              <a:gd name="adj" fmla="val 192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06">
            <a:extLst xmlns:a="http://schemas.openxmlformats.org/drawingml/2006/main">
              <a:ext uri="{FF2B5EF4-FFF2-40B4-BE49-F238E27FC236}">
                <a16:creationId xmlns:a16="http://schemas.microsoft.com/office/drawing/2014/main" id="{95694BF9-A052-43FE-BAC5-E2D60A1A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3246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06</a:t>
            </a:r>
          </a:p>
        </p:txBody>
      </p:sp>
      <p:sp>
        <p:nvSpPr>
          <p:cNvPr id="27" name="step-title-06">
            <a:extLst xmlns:a="http://schemas.openxmlformats.org/drawingml/2006/main">
              <a:ext uri="{FF2B5EF4-FFF2-40B4-BE49-F238E27FC236}">
                <a16:creationId xmlns:a16="http://schemas.microsoft.com/office/drawing/2014/main" id="{57741A60-6768-4F52-85F7-DAB810F8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3246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Ownership confidence</a:t>
            </a:r>
          </a:p>
        </p:txBody>
      </p:sp>
      <p:sp>
        <p:nvSpPr>
          <p:cNvPr id="28" name="step-body-06">
            <a:extLst xmlns:a="http://schemas.openxmlformats.org/drawingml/2006/main">
              <a:ext uri="{FF2B5EF4-FFF2-40B4-BE49-F238E27FC236}">
                <a16:creationId xmlns:a16="http://schemas.microsoft.com/office/drawing/2014/main" id="{7E1D5D83-3711-4907-9194-20DCB76B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61035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Humans can take over with runbooks, replay drills, and residual-risk context.</a:t>
            </a:r>
          </a:p>
        </p:txBody>
      </p:sp>
      <p:sp>
        <p:nvSpPr>
          <p:cNvPr id="29" name="buyer-confidence-footer">
            <a:extLst xmlns:a="http://schemas.openxmlformats.org/drawingml/2006/main">
              <a:ext uri="{FF2B5EF4-FFF2-40B4-BE49-F238E27FC236}">
                <a16:creationId xmlns:a16="http://schemas.microsoft.com/office/drawing/2014/main" id="{D2C8AEB1-1CAB-4034-B647-55E8A080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buyer-confidence-page">
            <a:extLst xmlns:a="http://schemas.openxmlformats.org/drawingml/2006/main">
              <a:ext uri="{FF2B5EF4-FFF2-40B4-BE49-F238E27FC236}">
                <a16:creationId xmlns:a16="http://schemas.microsoft.com/office/drawing/2014/main" id="{CF235199-9102-4A25-810F-71ACD56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27112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67CFD1E-E66E-401D-B574-BAC1415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shift-eyebrow">
            <a:extLst xmlns:a="http://schemas.openxmlformats.org/drawingml/2006/main">
              <a:ext uri="{FF2B5EF4-FFF2-40B4-BE49-F238E27FC236}">
                <a16:creationId xmlns:a16="http://schemas.microsoft.com/office/drawing/2014/main" id="{A6455E46-15D3-4118-9622-AA9349EB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THE CATEGORY SHIFT</a:t>
            </a:r>
          </a:p>
        </p:txBody>
      </p:sp>
      <p:sp>
        <p:nvSpPr>
          <p:cNvPr id="3" name="shift-title">
            <a:extLst xmlns:a="http://schemas.openxmlformats.org/drawingml/2006/main">
              <a:ext uri="{FF2B5EF4-FFF2-40B4-BE49-F238E27FC236}">
                <a16:creationId xmlns:a16="http://schemas.microsoft.com/office/drawing/2014/main" id="{1339E326-49D9-4B38-A3C5-7A00D4E2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220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From AI assistance to software-assured dark-factory delivery.</a:t>
            </a:r>
          </a:p>
        </p:txBody>
      </p:sp>
      <p:sp>
        <p:nvSpPr>
          <p:cNvPr id="4" name="shift-subtitle">
            <a:extLst xmlns:a="http://schemas.openxmlformats.org/drawingml/2006/main">
              <a:ext uri="{FF2B5EF4-FFF2-40B4-BE49-F238E27FC236}">
                <a16:creationId xmlns:a16="http://schemas.microsoft.com/office/drawing/2014/main" id="{756053E6-8550-4AF2-B52A-AC12D853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148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product is not a chatbot. It is a standards-aware delivery machine with gates, evidence, and client governance.</a:t>
            </a:r>
          </a:p>
        </p:txBody>
      </p:sp>
      <p:sp>
        <p:nvSpPr>
          <p:cNvPr id="5" name="step-01-ai-coding-tool">
            <a:extLst xmlns:a="http://schemas.openxmlformats.org/drawingml/2006/main">
              <a:ext uri="{FF2B5EF4-FFF2-40B4-BE49-F238E27FC236}">
                <a16:creationId xmlns:a16="http://schemas.microsoft.com/office/drawing/2014/main" id="{8AAB34ED-4A62-4B93-9243-A39D7114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334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01">
            <a:extLst xmlns:a="http://schemas.openxmlformats.org/drawingml/2006/main">
              <a:ext uri="{FF2B5EF4-FFF2-40B4-BE49-F238E27FC236}">
                <a16:creationId xmlns:a16="http://schemas.microsoft.com/office/drawing/2014/main" id="{28385314-1650-4B07-A831-A76478D0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01</a:t>
            </a:r>
          </a:p>
        </p:txBody>
      </p:sp>
      <p:sp>
        <p:nvSpPr>
          <p:cNvPr id="7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C7FAFE7B-78E5-48DE-BAFE-0F8130C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AI coding tool</a:t>
            </a:r>
          </a:p>
        </p:txBody>
      </p:sp>
      <p:sp>
        <p:nvSpPr>
          <p:cNvPr id="8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886F7395-CC48-48BA-8EF1-952A56DE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0250"/>
            <a:ext cx="428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Produces code fragments or changes when asked.</a:t>
            </a:r>
          </a:p>
        </p:txBody>
      </p:sp>
      <p:sp>
        <p:nvSpPr>
          <p:cNvPr id="9" name="step-02-agent-workflow">
            <a:extLst xmlns:a="http://schemas.openxmlformats.org/drawingml/2006/main">
              <a:ext uri="{FF2B5EF4-FFF2-40B4-BE49-F238E27FC236}">
                <a16:creationId xmlns:a16="http://schemas.microsoft.com/office/drawing/2014/main" id="{13BBB344-D0F1-4390-8520-60D6745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5334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02">
            <a:extLst xmlns:a="http://schemas.openxmlformats.org/drawingml/2006/main">
              <a:ext uri="{FF2B5EF4-FFF2-40B4-BE49-F238E27FC236}">
                <a16:creationId xmlns:a16="http://schemas.microsoft.com/office/drawing/2014/main" id="{D1BCCFE2-54FA-46C5-9352-22B15216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245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11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E653242E-C630-40EE-A9A5-FDCBC596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2450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Agent workflow</a:t>
            </a:r>
          </a:p>
        </p:txBody>
      </p:sp>
      <p:sp>
        <p:nvSpPr>
          <p:cNvPr id="12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AB81DA85-9D4D-47E1-B40F-210990F7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810250"/>
            <a:ext cx="428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Coordinates multiple tasks and checks a local result.</a:t>
            </a:r>
          </a:p>
        </p:txBody>
      </p:sp>
      <p:sp>
        <p:nvSpPr>
          <p:cNvPr id="13" name="step-03-software-assured-factory">
            <a:extLst xmlns:a="http://schemas.openxmlformats.org/drawingml/2006/main">
              <a:ext uri="{FF2B5EF4-FFF2-40B4-BE49-F238E27FC236}">
                <a16:creationId xmlns:a16="http://schemas.microsoft.com/office/drawing/2014/main" id="{59B81155-E6FB-4A98-B317-513B5D46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238750"/>
            <a:ext cx="53340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03">
            <a:extLst xmlns:a="http://schemas.openxmlformats.org/drawingml/2006/main">
              <a:ext uri="{FF2B5EF4-FFF2-40B4-BE49-F238E27FC236}">
                <a16:creationId xmlns:a16="http://schemas.microsoft.com/office/drawing/2014/main" id="{90EC55C6-BD68-4415-B58A-882FDE05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429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03</a:t>
            </a:r>
          </a:p>
        </p:txBody>
      </p:sp>
      <p:sp>
        <p:nvSpPr>
          <p:cNvPr id="15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ADAB7D07-FC37-46E0-B355-1EBF634D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429250"/>
            <a:ext cx="4286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Software-assured factory</a:t>
            </a:r>
          </a:p>
        </p:txBody>
      </p:sp>
      <p:sp>
        <p:nvSpPr>
          <p:cNvPr id="16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7DDE6ABD-215A-4899-9586-74B8C31F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715000"/>
            <a:ext cx="428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Runs the full delivery relationship: scope, artifacts, evidence, reviews, change control, handoff.</a:t>
            </a:r>
          </a:p>
        </p:txBody>
      </p:sp>
      <p:sp>
        <p:nvSpPr>
          <p:cNvPr id="17" name="shift-footer">
            <a:extLst xmlns:a="http://schemas.openxmlformats.org/drawingml/2006/main">
              <a:ext uri="{FF2B5EF4-FFF2-40B4-BE49-F238E27FC236}">
                <a16:creationId xmlns:a16="http://schemas.microsoft.com/office/drawing/2014/main" id="{9EF80566-B181-440B-B530-77F0B5E0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18" name="shift-page">
            <a:extLst xmlns:a="http://schemas.openxmlformats.org/drawingml/2006/main">
              <a:ext uri="{FF2B5EF4-FFF2-40B4-BE49-F238E27FC236}">
                <a16:creationId xmlns:a16="http://schemas.microsoft.com/office/drawing/2014/main" id="{E0F051DF-CD73-4701-BAEC-EE68C67D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98552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B2EEC7-AC37-4B6B-8D52-74219E1F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product-eyebrow">
            <a:extLst xmlns:a="http://schemas.openxmlformats.org/drawingml/2006/main">
              <a:ext uri="{FF2B5EF4-FFF2-40B4-BE49-F238E27FC236}">
                <a16:creationId xmlns:a16="http://schemas.microsoft.com/office/drawing/2014/main" id="{8FC2C15A-23A2-41FE-A43A-6DAD0CF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PRODUCT</a:t>
            </a:r>
          </a:p>
        </p:txBody>
      </p:sp>
      <p:sp>
        <p:nvSpPr>
          <p:cNvPr id="3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BE325363-6E15-4036-840E-FC355ADC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534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DFMS is the control plane for standardized agent delivery.</a:t>
            </a:r>
          </a:p>
        </p:txBody>
      </p:sp>
      <p:sp>
        <p:nvSpPr>
          <p:cNvPr id="4" name="product-subtitle">
            <a:extLst xmlns:a="http://schemas.openxmlformats.org/drawingml/2006/main">
              <a:ext uri="{FF2B5EF4-FFF2-40B4-BE49-F238E27FC236}">
                <a16:creationId xmlns:a16="http://schemas.microsoft.com/office/drawing/2014/main" id="{F5AFEBE9-2CF7-4E31-8775-679DAC58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1220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It turns raw intent into governed project work: a meta-attractor, expert swarm, artifact factory, and trace ledger.</a:t>
            </a:r>
          </a:p>
        </p:txBody>
      </p:sp>
      <p:sp>
        <p:nvSpPr>
          <p:cNvPr id="5" name="step-A-meta-attractor">
            <a:extLst xmlns:a="http://schemas.openxmlformats.org/drawingml/2006/main">
              <a:ext uri="{FF2B5EF4-FFF2-40B4-BE49-F238E27FC236}">
                <a16:creationId xmlns:a16="http://schemas.microsoft.com/office/drawing/2014/main" id="{1B314F28-9FB3-4884-8041-C9C0650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9266873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A">
            <a:extLst xmlns:a="http://schemas.openxmlformats.org/drawingml/2006/main">
              <a:ext uri="{FF2B5EF4-FFF2-40B4-BE49-F238E27FC236}">
                <a16:creationId xmlns:a16="http://schemas.microsoft.com/office/drawing/2014/main" id="{53B06399-5A3B-4255-B1F9-58B668FB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A</a:t>
            </a:r>
          </a:p>
        </p:txBody>
      </p:sp>
      <p:sp>
        <p:nvSpPr>
          <p:cNvPr id="7" name="step-title-A">
            <a:extLst xmlns:a="http://schemas.openxmlformats.org/drawingml/2006/main">
              <a:ext uri="{FF2B5EF4-FFF2-40B4-BE49-F238E27FC236}">
                <a16:creationId xmlns:a16="http://schemas.microsoft.com/office/drawing/2014/main" id="{DF62DA72-A96E-46DE-ABA1-6728DE8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821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Meta-attractor</a:t>
            </a:r>
          </a:p>
        </p:txBody>
      </p:sp>
      <p:sp>
        <p:nvSpPr>
          <p:cNvPr id="8" name="step-body-A">
            <a:extLst xmlns:a="http://schemas.openxmlformats.org/drawingml/2006/main">
              <a:ext uri="{FF2B5EF4-FFF2-40B4-BE49-F238E27FC236}">
                <a16:creationId xmlns:a16="http://schemas.microsoft.com/office/drawing/2014/main" id="{9FC327FE-DE0E-4AA1-B1EB-77D9B510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86250"/>
            <a:ext cx="821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Stabilizes ambiguous, evolving, or contradictory project intent.</a:t>
            </a:r>
          </a:p>
        </p:txBody>
      </p:sp>
      <p:sp>
        <p:nvSpPr>
          <p:cNvPr id="9" name="step-B-governance-mayor">
            <a:extLst xmlns:a="http://schemas.openxmlformats.org/drawingml/2006/main">
              <a:ext uri="{FF2B5EF4-FFF2-40B4-BE49-F238E27FC236}">
                <a16:creationId xmlns:a16="http://schemas.microsoft.com/office/drawing/2014/main" id="{F6F358E6-6263-4D6E-B35C-AE2FA925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9266873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B">
            <a:extLst xmlns:a="http://schemas.openxmlformats.org/drawingml/2006/main">
              <a:ext uri="{FF2B5EF4-FFF2-40B4-BE49-F238E27FC236}">
                <a16:creationId xmlns:a16="http://schemas.microsoft.com/office/drawing/2014/main" id="{AA7FF32D-D352-4AD5-977A-B44A8E6B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B</a:t>
            </a:r>
          </a:p>
        </p:txBody>
      </p:sp>
      <p:sp>
        <p:nvSpPr>
          <p:cNvPr id="11" name="step-title-B">
            <a:extLst xmlns:a="http://schemas.openxmlformats.org/drawingml/2006/main">
              <a:ext uri="{FF2B5EF4-FFF2-40B4-BE49-F238E27FC236}">
                <a16:creationId xmlns:a16="http://schemas.microsoft.com/office/drawing/2014/main" id="{B146C30A-94D2-4CCD-88DB-A37083CE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0150"/>
            <a:ext cx="821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Governance mayor</a:t>
            </a:r>
          </a:p>
        </p:txBody>
      </p:sp>
      <p:sp>
        <p:nvSpPr>
          <p:cNvPr id="12" name="step-body-B">
            <a:extLst xmlns:a="http://schemas.openxmlformats.org/drawingml/2006/main">
              <a:ext uri="{FF2B5EF4-FFF2-40B4-BE49-F238E27FC236}">
                <a16:creationId xmlns:a16="http://schemas.microsoft.com/office/drawing/2014/main" id="{647BE9E9-85D1-4672-9BB7-57C7F7CC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95900"/>
            <a:ext cx="821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Creates standards tailoring, scope baseline, token SWAG, and gates.</a:t>
            </a:r>
          </a:p>
        </p:txBody>
      </p:sp>
      <p:sp>
        <p:nvSpPr>
          <p:cNvPr id="13" name="step-C-factory-nodes">
            <a:extLst xmlns:a="http://schemas.openxmlformats.org/drawingml/2006/main">
              <a:ext uri="{FF2B5EF4-FFF2-40B4-BE49-F238E27FC236}">
                <a16:creationId xmlns:a16="http://schemas.microsoft.com/office/drawing/2014/main" id="{7EA48FBA-CEA7-499A-867D-637D9A18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9266873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C">
            <a:extLst xmlns:a="http://schemas.openxmlformats.org/drawingml/2006/main">
              <a:ext uri="{FF2B5EF4-FFF2-40B4-BE49-F238E27FC236}">
                <a16:creationId xmlns:a16="http://schemas.microsoft.com/office/drawing/2014/main" id="{B0918234-935F-44B0-86CF-C14569A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9AF2C8"/>
                </a:solidFill>
              </a:defRPr>
            </a:pPr>
            <a:r>
              <a:rPr sz="1725" b="1">
                <a:solidFill>
                  <a:srgbClr val="9AF2C8"/>
                </a:solidFill>
              </a:rPr>
              <a:t>C</a:t>
            </a:r>
          </a:p>
        </p:txBody>
      </p:sp>
      <p:sp>
        <p:nvSpPr>
          <p:cNvPr id="15" name="step-title-C">
            <a:extLst xmlns:a="http://schemas.openxmlformats.org/drawingml/2006/main">
              <a:ext uri="{FF2B5EF4-FFF2-40B4-BE49-F238E27FC236}">
                <a16:creationId xmlns:a16="http://schemas.microsoft.com/office/drawing/2014/main" id="{2D5AC511-BA92-4577-8BB0-7B3B09A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19800"/>
            <a:ext cx="821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Factory nodes</a:t>
            </a:r>
          </a:p>
        </p:txBody>
      </p:sp>
      <p:sp>
        <p:nvSpPr>
          <p:cNvPr id="16" name="step-body-C">
            <a:extLst xmlns:a="http://schemas.openxmlformats.org/drawingml/2006/main">
              <a:ext uri="{FF2B5EF4-FFF2-40B4-BE49-F238E27FC236}">
                <a16:creationId xmlns:a16="http://schemas.microsoft.com/office/drawing/2014/main" id="{5B2FF932-234F-4D53-9F87-FCDA2B4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05550"/>
            <a:ext cx="821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Produce requirements, design, code, tests, runbooks, and handoff artifacts.</a:t>
            </a:r>
          </a:p>
        </p:txBody>
      </p:sp>
      <p:sp>
        <p:nvSpPr>
          <p:cNvPr id="17" name="step-D-quality-refinery">
            <a:extLst xmlns:a="http://schemas.openxmlformats.org/drawingml/2006/main">
              <a:ext uri="{FF2B5EF4-FFF2-40B4-BE49-F238E27FC236}">
                <a16:creationId xmlns:a16="http://schemas.microsoft.com/office/drawing/2014/main" id="{BB9239D3-0725-4C1D-99A4-F4D0CE71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38950"/>
            <a:ext cx="9266873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D">
            <a:extLst xmlns:a="http://schemas.openxmlformats.org/drawingml/2006/main">
              <a:ext uri="{FF2B5EF4-FFF2-40B4-BE49-F238E27FC236}">
                <a16:creationId xmlns:a16="http://schemas.microsoft.com/office/drawing/2014/main" id="{CB546E2C-DB99-41F0-86D7-B4F5AED0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294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D</a:t>
            </a:r>
          </a:p>
        </p:txBody>
      </p:sp>
      <p:sp>
        <p:nvSpPr>
          <p:cNvPr id="19" name="step-title-D">
            <a:extLst xmlns:a="http://schemas.openxmlformats.org/drawingml/2006/main">
              <a:ext uri="{FF2B5EF4-FFF2-40B4-BE49-F238E27FC236}">
                <a16:creationId xmlns:a16="http://schemas.microsoft.com/office/drawing/2014/main" id="{95A81C41-F517-46B5-A43A-E94F294F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029450"/>
            <a:ext cx="821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Quality refinery</a:t>
            </a:r>
          </a:p>
        </p:txBody>
      </p:sp>
      <p:sp>
        <p:nvSpPr>
          <p:cNvPr id="20" name="step-body-D">
            <a:extLst xmlns:a="http://schemas.openxmlformats.org/drawingml/2006/main">
              <a:ext uri="{FF2B5EF4-FFF2-40B4-BE49-F238E27FC236}">
                <a16:creationId xmlns:a16="http://schemas.microsoft.com/office/drawing/2014/main" id="{124B7DD8-AEB6-4DDA-A62D-0F58ED2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315200"/>
            <a:ext cx="821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Applies expert rubrics, verification, evidence, and certificates.</a:t>
            </a:r>
          </a:p>
        </p:txBody>
      </p:sp>
      <p:sp>
        <p:nvSpPr>
          <p:cNvPr id="21" name="product-claim-title">
            <a:extLst xmlns:a="http://schemas.openxmlformats.org/drawingml/2006/main">
              <a:ext uri="{FF2B5EF4-FFF2-40B4-BE49-F238E27FC236}">
                <a16:creationId xmlns:a16="http://schemas.microsoft.com/office/drawing/2014/main" id="{0FD1F868-0B0A-4B86-91F5-91A484EB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419600"/>
            <a:ext cx="489585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AF8"/>
                </a:solidFill>
              </a:defRPr>
            </a:pPr>
            <a:r>
              <a:rPr sz="3900" b="1">
                <a:solidFill>
                  <a:srgbClr val="F7FAF8"/>
                </a:solidFill>
              </a:rPr>
              <a:t>One governed run can produce a project book, not just a pull request.</a:t>
            </a:r>
          </a:p>
        </p:txBody>
      </p:sp>
      <p:sp>
        <p:nvSpPr>
          <p:cNvPr id="22" name="product-claim-body">
            <a:extLst xmlns:a="http://schemas.openxmlformats.org/drawingml/2006/main">
              <a:ext uri="{FF2B5EF4-FFF2-40B4-BE49-F238E27FC236}">
                <a16:creationId xmlns:a16="http://schemas.microsoft.com/office/drawing/2014/main" id="{E19AE626-C138-4119-BF7F-1ED6DF9E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648450"/>
            <a:ext cx="5695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Each node must state what, why, how, where, when, who, and how good. That contract is the product's atomic unit.</a:t>
            </a:r>
          </a:p>
        </p:txBody>
      </p:sp>
      <p:sp>
        <p:nvSpPr>
          <p:cNvPr id="23" name="product-footer">
            <a:extLst xmlns:a="http://schemas.openxmlformats.org/drawingml/2006/main">
              <a:ext uri="{FF2B5EF4-FFF2-40B4-BE49-F238E27FC236}">
                <a16:creationId xmlns:a16="http://schemas.microsoft.com/office/drawing/2014/main" id="{59729221-206E-4472-B951-3C9A556D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4" name="product-page">
            <a:extLst xmlns:a="http://schemas.openxmlformats.org/drawingml/2006/main">
              <a:ext uri="{FF2B5EF4-FFF2-40B4-BE49-F238E27FC236}">
                <a16:creationId xmlns:a16="http://schemas.microsoft.com/office/drawing/2014/main" id="{B75260F4-932E-416F-887F-22D8F576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82563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F3E605-5195-4195-816D-BE01F4E7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system-map-eyebrow">
            <a:extLst xmlns:a="http://schemas.openxmlformats.org/drawingml/2006/main">
              <a:ext uri="{FF2B5EF4-FFF2-40B4-BE49-F238E27FC236}">
                <a16:creationId xmlns:a16="http://schemas.microsoft.com/office/drawing/2014/main" id="{AF2A2CFA-E3D1-44E2-8185-2D1E1567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WHOLE SYSTEM</a:t>
            </a:r>
          </a:p>
        </p:txBody>
      </p:sp>
      <p:sp>
        <p:nvSpPr>
          <p:cNvPr id="3" name="system-map-title">
            <a:extLst xmlns:a="http://schemas.openxmlformats.org/drawingml/2006/main">
              <a:ext uri="{FF2B5EF4-FFF2-40B4-BE49-F238E27FC236}">
                <a16:creationId xmlns:a16="http://schemas.microsoft.com/office/drawing/2014/main" id="{F28E7C01-A52F-4B60-B59C-4537A56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5062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product has to cover the entire outsourcing-style relationship.</a:t>
            </a:r>
          </a:p>
        </p:txBody>
      </p:sp>
      <p:sp>
        <p:nvSpPr>
          <p:cNvPr id="4" name="system-map-subtitle">
            <a:extLst xmlns:a="http://schemas.openxmlformats.org/drawingml/2006/main">
              <a:ext uri="{FF2B5EF4-FFF2-40B4-BE49-F238E27FC236}">
                <a16:creationId xmlns:a16="http://schemas.microsoft.com/office/drawing/2014/main" id="{0E45F933-5511-4408-BD5A-3E4BF1B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2287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dark factory is a delivery institution: control plane, artifact plane, execution plane, evidence plane, memory plane, and human collaboration plane.</a:t>
            </a:r>
          </a:p>
        </p:txBody>
      </p:sp>
      <p:sp>
        <p:nvSpPr>
          <p:cNvPr id="5" name="step-C-control-plane">
            <a:extLst xmlns:a="http://schemas.openxmlformats.org/drawingml/2006/main">
              <a:ext uri="{FF2B5EF4-FFF2-40B4-BE49-F238E27FC236}">
                <a16:creationId xmlns:a16="http://schemas.microsoft.com/office/drawing/2014/main" id="{A2EECD76-2574-4D85-8FE0-5742E8D4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5359400" cy="2900363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C">
            <a:extLst xmlns:a="http://schemas.openxmlformats.org/drawingml/2006/main">
              <a:ext uri="{FF2B5EF4-FFF2-40B4-BE49-F238E27FC236}">
                <a16:creationId xmlns:a16="http://schemas.microsoft.com/office/drawing/2014/main" id="{16FE286B-4CFF-4F30-9B1C-10AAA150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C</a:t>
            </a:r>
          </a:p>
        </p:txBody>
      </p:sp>
      <p:sp>
        <p:nvSpPr>
          <p:cNvPr id="7" name="step-title-C">
            <a:extLst xmlns:a="http://schemas.openxmlformats.org/drawingml/2006/main">
              <a:ext uri="{FF2B5EF4-FFF2-40B4-BE49-F238E27FC236}">
                <a16:creationId xmlns:a16="http://schemas.microsoft.com/office/drawing/2014/main" id="{4D28BA47-9804-4B02-9FC9-E0E68971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Control plane</a:t>
            </a:r>
          </a:p>
        </p:txBody>
      </p:sp>
      <p:sp>
        <p:nvSpPr>
          <p:cNvPr id="8" name="step-body-C">
            <a:extLst xmlns:a="http://schemas.openxmlformats.org/drawingml/2006/main">
              <a:ext uri="{FF2B5EF4-FFF2-40B4-BE49-F238E27FC236}">
                <a16:creationId xmlns:a16="http://schemas.microsoft.com/office/drawing/2014/main" id="{4BFA3917-E684-4B7E-9F5B-BAAC6A4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99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Routing, gates, roles, waivers, escalation, phase exits.</a:t>
            </a:r>
          </a:p>
        </p:txBody>
      </p:sp>
      <p:sp>
        <p:nvSpPr>
          <p:cNvPr id="9" name="step-A-artifact-plane">
            <a:extLst xmlns:a="http://schemas.openxmlformats.org/drawingml/2006/main">
              <a:ext uri="{FF2B5EF4-FFF2-40B4-BE49-F238E27FC236}">
                <a16:creationId xmlns:a16="http://schemas.microsoft.com/office/drawing/2014/main" id="{6DA0230E-A614-4655-AAED-9D47D33F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924175"/>
            <a:ext cx="5359400" cy="2900363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A">
            <a:extLst xmlns:a="http://schemas.openxmlformats.org/drawingml/2006/main">
              <a:ext uri="{FF2B5EF4-FFF2-40B4-BE49-F238E27FC236}">
                <a16:creationId xmlns:a16="http://schemas.microsoft.com/office/drawing/2014/main" id="{AEF836EB-B936-4234-91EA-1F55EB4D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A</a:t>
            </a:r>
          </a:p>
        </p:txBody>
      </p:sp>
      <p:sp>
        <p:nvSpPr>
          <p:cNvPr id="11" name="step-title-A">
            <a:extLst xmlns:a="http://schemas.openxmlformats.org/drawingml/2006/main">
              <a:ext uri="{FF2B5EF4-FFF2-40B4-BE49-F238E27FC236}">
                <a16:creationId xmlns:a16="http://schemas.microsoft.com/office/drawing/2014/main" id="{F9923A30-1765-40E6-83E3-A4F22E9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Artifact plane</a:t>
            </a:r>
          </a:p>
        </p:txBody>
      </p:sp>
      <p:sp>
        <p:nvSpPr>
          <p:cNvPr id="12" name="step-body-A">
            <a:extLst xmlns:a="http://schemas.openxmlformats.org/drawingml/2006/main">
              <a:ext uri="{FF2B5EF4-FFF2-40B4-BE49-F238E27FC236}">
                <a16:creationId xmlns:a16="http://schemas.microsoft.com/office/drawing/2014/main" id="{C5A7F406-7154-4F7B-9F1C-5F1D0B3B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99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PRD, SRS, models, decisions, tests, runbooks, certificates.</a:t>
            </a:r>
          </a:p>
        </p:txBody>
      </p:sp>
      <p:sp>
        <p:nvSpPr>
          <p:cNvPr id="13" name="step-X-execution-plane">
            <a:extLst xmlns:a="http://schemas.openxmlformats.org/drawingml/2006/main">
              <a:ext uri="{FF2B5EF4-FFF2-40B4-BE49-F238E27FC236}">
                <a16:creationId xmlns:a16="http://schemas.microsoft.com/office/drawing/2014/main" id="{98DDA60C-BB38-422F-832E-9DE7CC8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924175"/>
            <a:ext cx="5359400" cy="2900363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X">
            <a:extLst xmlns:a="http://schemas.openxmlformats.org/drawingml/2006/main">
              <a:ext uri="{FF2B5EF4-FFF2-40B4-BE49-F238E27FC236}">
                <a16:creationId xmlns:a16="http://schemas.microsoft.com/office/drawing/2014/main" id="{F0948067-6CCF-42CD-9D9A-18858049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X</a:t>
            </a:r>
          </a:p>
        </p:txBody>
      </p:sp>
      <p:sp>
        <p:nvSpPr>
          <p:cNvPr id="15" name="step-title-X">
            <a:extLst xmlns:a="http://schemas.openxmlformats.org/drawingml/2006/main">
              <a:ext uri="{FF2B5EF4-FFF2-40B4-BE49-F238E27FC236}">
                <a16:creationId xmlns:a16="http://schemas.microsoft.com/office/drawing/2014/main" id="{F52D0E0C-9BDE-45EB-99DE-3DB1BFA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Execution plane</a:t>
            </a:r>
          </a:p>
        </p:txBody>
      </p:sp>
      <p:sp>
        <p:nvSpPr>
          <p:cNvPr id="16" name="step-body-X">
            <a:extLst xmlns:a="http://schemas.openxmlformats.org/drawingml/2006/main">
              <a:ext uri="{FF2B5EF4-FFF2-40B4-BE49-F238E27FC236}">
                <a16:creationId xmlns:a16="http://schemas.microsoft.com/office/drawing/2014/main" id="{CF5A42CA-ECD0-403C-9313-84FE0309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4099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Code, migrations, configs, environments, automation, checks.</a:t>
            </a:r>
          </a:p>
        </p:txBody>
      </p:sp>
      <p:sp>
        <p:nvSpPr>
          <p:cNvPr id="17" name="step-E-evidence-plane">
            <a:extLst xmlns:a="http://schemas.openxmlformats.org/drawingml/2006/main">
              <a:ext uri="{FF2B5EF4-FFF2-40B4-BE49-F238E27FC236}">
                <a16:creationId xmlns:a16="http://schemas.microsoft.com/office/drawing/2014/main" id="{F45657D7-C5AD-4352-AE4B-986C2C95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4088"/>
            <a:ext cx="5359400" cy="3071813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E">
            <a:extLst xmlns:a="http://schemas.openxmlformats.org/drawingml/2006/main">
              <a:ext uri="{FF2B5EF4-FFF2-40B4-BE49-F238E27FC236}">
                <a16:creationId xmlns:a16="http://schemas.microsoft.com/office/drawing/2014/main" id="{ACBE6583-B05F-411F-8669-18146B30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29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E</a:t>
            </a:r>
          </a:p>
        </p:txBody>
      </p:sp>
      <p:sp>
        <p:nvSpPr>
          <p:cNvPr id="19" name="step-title-E">
            <a:extLst xmlns:a="http://schemas.openxmlformats.org/drawingml/2006/main">
              <a:ext uri="{FF2B5EF4-FFF2-40B4-BE49-F238E27FC236}">
                <a16:creationId xmlns:a16="http://schemas.microsoft.com/office/drawing/2014/main" id="{9D3D8D0B-AA03-4472-BAD0-83DF16E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2293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Evidence plane</a:t>
            </a:r>
          </a:p>
        </p:txBody>
      </p:sp>
      <p:sp>
        <p:nvSpPr>
          <p:cNvPr id="20" name="step-body-E">
            <a:extLst xmlns:a="http://schemas.openxmlformats.org/drawingml/2006/main">
              <a:ext uri="{FF2B5EF4-FFF2-40B4-BE49-F238E27FC236}">
                <a16:creationId xmlns:a16="http://schemas.microsoft.com/office/drawing/2014/main" id="{ED8B6250-CDED-4E02-87BE-5AC7B70E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5151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Trace links, review records, logs, hashes, residual risks.</a:t>
            </a:r>
          </a:p>
        </p:txBody>
      </p:sp>
      <p:sp>
        <p:nvSpPr>
          <p:cNvPr id="21" name="step-M-memory-plane">
            <a:extLst xmlns:a="http://schemas.openxmlformats.org/drawingml/2006/main">
              <a:ext uri="{FF2B5EF4-FFF2-40B4-BE49-F238E27FC236}">
                <a16:creationId xmlns:a16="http://schemas.microsoft.com/office/drawing/2014/main" id="{B1C31615-97E9-47FB-8564-73304F0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6034088"/>
            <a:ext cx="5359400" cy="3071813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M">
            <a:extLst xmlns:a="http://schemas.openxmlformats.org/drawingml/2006/main">
              <a:ext uri="{FF2B5EF4-FFF2-40B4-BE49-F238E27FC236}">
                <a16:creationId xmlns:a16="http://schemas.microsoft.com/office/drawing/2014/main" id="{80854F09-5AAF-4930-90F3-734668B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M</a:t>
            </a:r>
          </a:p>
        </p:txBody>
      </p:sp>
      <p:sp>
        <p:nvSpPr>
          <p:cNvPr id="23" name="step-title-M">
            <a:extLst xmlns:a="http://schemas.openxmlformats.org/drawingml/2006/main">
              <a:ext uri="{FF2B5EF4-FFF2-40B4-BE49-F238E27FC236}">
                <a16:creationId xmlns:a16="http://schemas.microsoft.com/office/drawing/2014/main" id="{BB7E71A6-3A13-453C-A4D3-D3CC63B4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2293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Memory plane</a:t>
            </a:r>
          </a:p>
        </p:txBody>
      </p:sp>
      <p:sp>
        <p:nvSpPr>
          <p:cNvPr id="24" name="step-body-M">
            <a:extLst xmlns:a="http://schemas.openxmlformats.org/drawingml/2006/main">
              <a:ext uri="{FF2B5EF4-FFF2-40B4-BE49-F238E27FC236}">
                <a16:creationId xmlns:a16="http://schemas.microsoft.com/office/drawing/2014/main" id="{F543F51B-8C75-4AE0-A2D1-0B23FECB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51510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Project book, predecessor recovery, context packs, replay drills.</a:t>
            </a:r>
          </a:p>
        </p:txBody>
      </p:sp>
      <p:sp>
        <p:nvSpPr>
          <p:cNvPr id="25" name="step-H-human-plane">
            <a:extLst xmlns:a="http://schemas.openxmlformats.org/drawingml/2006/main">
              <a:ext uri="{FF2B5EF4-FFF2-40B4-BE49-F238E27FC236}">
                <a16:creationId xmlns:a16="http://schemas.microsoft.com/office/drawing/2014/main" id="{ECFD6651-00CE-41B6-9628-D25AA8E2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034088"/>
            <a:ext cx="5359400" cy="3071813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H">
            <a:extLst xmlns:a="http://schemas.openxmlformats.org/drawingml/2006/main">
              <a:ext uri="{FF2B5EF4-FFF2-40B4-BE49-F238E27FC236}">
                <a16:creationId xmlns:a16="http://schemas.microsoft.com/office/drawing/2014/main" id="{8D6E75CC-7E29-4D8D-9DD5-113B0AF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229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H</a:t>
            </a:r>
          </a:p>
        </p:txBody>
      </p:sp>
      <p:sp>
        <p:nvSpPr>
          <p:cNvPr id="27" name="step-title-H">
            <a:extLst xmlns:a="http://schemas.openxmlformats.org/drawingml/2006/main">
              <a:ext uri="{FF2B5EF4-FFF2-40B4-BE49-F238E27FC236}">
                <a16:creationId xmlns:a16="http://schemas.microsoft.com/office/drawing/2014/main" id="{396E06B5-0A27-4327-8CD3-D88069E1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2293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Human plane</a:t>
            </a:r>
          </a:p>
        </p:txBody>
      </p:sp>
      <p:sp>
        <p:nvSpPr>
          <p:cNvPr id="28" name="step-body-H">
            <a:extLst xmlns:a="http://schemas.openxmlformats.org/drawingml/2006/main">
              <a:ext uri="{FF2B5EF4-FFF2-40B4-BE49-F238E27FC236}">
                <a16:creationId xmlns:a16="http://schemas.microsoft.com/office/drawing/2014/main" id="{28EDD670-975E-4F4B-AECE-94C80582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5151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Checkpoints, async review, taste gates, takeover, handback.</a:t>
            </a:r>
          </a:p>
        </p:txBody>
      </p:sp>
      <p:sp>
        <p:nvSpPr>
          <p:cNvPr id="29" name="system-map-footer">
            <a:extLst xmlns:a="http://schemas.openxmlformats.org/drawingml/2006/main">
              <a:ext uri="{FF2B5EF4-FFF2-40B4-BE49-F238E27FC236}">
                <a16:creationId xmlns:a16="http://schemas.microsoft.com/office/drawing/2014/main" id="{AD61D3AA-7E97-4EEA-AE88-9248927E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system-map-page">
            <a:extLst xmlns:a="http://schemas.openxmlformats.org/drawingml/2006/main">
              <a:ext uri="{FF2B5EF4-FFF2-40B4-BE49-F238E27FC236}">
                <a16:creationId xmlns:a16="http://schemas.microsoft.com/office/drawing/2014/main" id="{11416F65-8063-4C26-A19E-2AAA4A20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70851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3A1DA9-61E1-42B4-B538-7533D69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operating-model-eyebrow">
            <a:extLst xmlns:a="http://schemas.openxmlformats.org/drawingml/2006/main">
              <a:ext uri="{FF2B5EF4-FFF2-40B4-BE49-F238E27FC236}">
                <a16:creationId xmlns:a16="http://schemas.microsoft.com/office/drawing/2014/main" id="{BD793415-745F-44D7-BB91-46E3FCD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OPERATING MODEL</a:t>
            </a:r>
          </a:p>
        </p:txBody>
      </p:sp>
      <p:sp>
        <p:nvSpPr>
          <p:cNvPr id="3" name="operating-model-title">
            <a:extLst xmlns:a="http://schemas.openxmlformats.org/drawingml/2006/main">
              <a:ext uri="{FF2B5EF4-FFF2-40B4-BE49-F238E27FC236}">
                <a16:creationId xmlns:a16="http://schemas.microsoft.com/office/drawing/2014/main" id="{DB0D1370-36D8-422D-AE38-AFF1D0F6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06108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Every project becomes a governed control graph.</a:t>
            </a:r>
          </a:p>
        </p:txBody>
      </p:sp>
      <p:sp>
        <p:nvSpPr>
          <p:cNvPr id="4" name="operating-model-subtitle">
            <a:extLst xmlns:a="http://schemas.openxmlformats.org/drawingml/2006/main">
              <a:ext uri="{FF2B5EF4-FFF2-40B4-BE49-F238E27FC236}">
                <a16:creationId xmlns:a16="http://schemas.microsoft.com/office/drawing/2014/main" id="{C4A79985-185B-4E6C-A894-B4E9DBF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163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graph keeps lifecycle work, expert debates, client approvals, work ledger items, and evidence tied together.</a:t>
            </a:r>
          </a:p>
        </p:txBody>
      </p:sp>
      <p:sp>
        <p:nvSpPr>
          <p:cNvPr id="5" name="step-1-interrogate">
            <a:extLst xmlns:a="http://schemas.openxmlformats.org/drawingml/2006/main">
              <a:ext uri="{FF2B5EF4-FFF2-40B4-BE49-F238E27FC236}">
                <a16:creationId xmlns:a16="http://schemas.microsoft.com/office/drawing/2014/main" id="{49112ED6-CC7D-4F7D-8FBD-4CE5BC48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298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FDFCC745-EF58-493C-B89B-276797DE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3E1E7A3-971A-4EF0-8951-988709F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482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Interrogate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A1B9EFF-A2EE-4941-A4C3-1BD62A1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Ask, capture, score completeness, resolve contradictions.</a:t>
            </a:r>
          </a:p>
        </p:txBody>
      </p:sp>
      <p:sp>
        <p:nvSpPr>
          <p:cNvPr id="9" name="step-2-decompose">
            <a:extLst xmlns:a="http://schemas.openxmlformats.org/drawingml/2006/main">
              <a:ext uri="{FF2B5EF4-FFF2-40B4-BE49-F238E27FC236}">
                <a16:creationId xmlns:a16="http://schemas.microsoft.com/office/drawing/2014/main" id="{B58B2CB3-56C1-40C6-8EB3-134453D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298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A9E738DC-51DF-4645-A414-D4B0FFFD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48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C66BA2D5-2409-4F80-ABB0-1011BAC5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482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Decompose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38C387F6-233C-4BEA-A55F-1C8DBE45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340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Break specs into branches and acceptance leaves.</a:t>
            </a:r>
          </a:p>
        </p:txBody>
      </p:sp>
      <p:sp>
        <p:nvSpPr>
          <p:cNvPr id="13" name="step-3-debate">
            <a:extLst xmlns:a="http://schemas.openxmlformats.org/drawingml/2006/main">
              <a:ext uri="{FF2B5EF4-FFF2-40B4-BE49-F238E27FC236}">
                <a16:creationId xmlns:a16="http://schemas.microsoft.com/office/drawing/2014/main" id="{1B332E61-2584-4E2C-BA63-0EF1A822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5298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3">
            <a:extLst xmlns:a="http://schemas.openxmlformats.org/drawingml/2006/main">
              <a:ext uri="{FF2B5EF4-FFF2-40B4-BE49-F238E27FC236}">
                <a16:creationId xmlns:a16="http://schemas.microsoft.com/office/drawing/2014/main" id="{154F72C9-1121-49ED-8606-F23B8B2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3BED00CD-7441-40D9-BF3D-AD9B39AB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482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Debate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AEB316F-ECA8-45E5-A299-57AD9AE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3340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Three experts propose, critique, synthesize, and vote.</a:t>
            </a:r>
          </a:p>
        </p:txBody>
      </p:sp>
      <p:sp>
        <p:nvSpPr>
          <p:cNvPr id="17" name="step-4-approve">
            <a:extLst xmlns:a="http://schemas.openxmlformats.org/drawingml/2006/main">
              <a:ext uri="{FF2B5EF4-FFF2-40B4-BE49-F238E27FC236}">
                <a16:creationId xmlns:a16="http://schemas.microsoft.com/office/drawing/2014/main" id="{5F8CE24D-6B8B-4487-8B47-25CBA855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85298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4">
            <a:extLst xmlns:a="http://schemas.openxmlformats.org/drawingml/2006/main">
              <a:ext uri="{FF2B5EF4-FFF2-40B4-BE49-F238E27FC236}">
                <a16:creationId xmlns:a16="http://schemas.microsoft.com/office/drawing/2014/main" id="{A8DC585C-8C2C-4FA1-876E-3D8A532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048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4</a:t>
            </a:r>
          </a:p>
        </p:txBody>
      </p:sp>
      <p:sp>
        <p:nvSpPr>
          <p:cNvPr id="19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7727B267-61DE-42A1-9D58-3B638DAF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0482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Approve</a:t>
            </a:r>
          </a:p>
        </p:txBody>
      </p:sp>
      <p:sp>
        <p:nvSpPr>
          <p:cNvPr id="20" name="step-body-4">
            <a:extLst xmlns:a="http://schemas.openxmlformats.org/drawingml/2006/main">
              <a:ext uri="{FF2B5EF4-FFF2-40B4-BE49-F238E27FC236}">
                <a16:creationId xmlns:a16="http://schemas.microsoft.com/office/drawing/2014/main" id="{44D31FDB-93D2-4D4A-A39B-CC88CC2B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3340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Client checkpoint and token budget gate before material work.</a:t>
            </a:r>
          </a:p>
        </p:txBody>
      </p:sp>
      <p:sp>
        <p:nvSpPr>
          <p:cNvPr id="21" name="step-5-build">
            <a:extLst xmlns:a="http://schemas.openxmlformats.org/drawingml/2006/main">
              <a:ext uri="{FF2B5EF4-FFF2-40B4-BE49-F238E27FC236}">
                <a16:creationId xmlns:a16="http://schemas.microsoft.com/office/drawing/2014/main" id="{5673EC0E-0251-48F5-AF6E-A7954503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6743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5">
            <a:extLst xmlns:a="http://schemas.openxmlformats.org/drawingml/2006/main">
              <a:ext uri="{FF2B5EF4-FFF2-40B4-BE49-F238E27FC236}">
                <a16:creationId xmlns:a16="http://schemas.microsoft.com/office/drawing/2014/main" id="{205AE776-F5F9-4263-8459-16C67FBA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5</a:t>
            </a:r>
          </a:p>
        </p:txBody>
      </p:sp>
      <p:sp>
        <p:nvSpPr>
          <p:cNvPr id="23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09913837-5B27-4F5F-A32F-49C43B7E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627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Build</a:t>
            </a:r>
          </a:p>
        </p:txBody>
      </p:sp>
      <p:sp>
        <p:nvSpPr>
          <p:cNvPr id="24" name="step-body-5">
            <a:extLst xmlns:a="http://schemas.openxmlformats.org/drawingml/2006/main">
              <a:ext uri="{FF2B5EF4-FFF2-40B4-BE49-F238E27FC236}">
                <a16:creationId xmlns:a16="http://schemas.microsoft.com/office/drawing/2014/main" id="{EE965C7D-217E-4CD6-968D-F082C6D2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64845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Produce code, models, artifacts, tests, and runbooks.</a:t>
            </a:r>
          </a:p>
        </p:txBody>
      </p:sp>
      <p:sp>
        <p:nvSpPr>
          <p:cNvPr id="25" name="step-6-verify">
            <a:extLst xmlns:a="http://schemas.openxmlformats.org/drawingml/2006/main">
              <a:ext uri="{FF2B5EF4-FFF2-40B4-BE49-F238E27FC236}">
                <a16:creationId xmlns:a16="http://schemas.microsoft.com/office/drawing/2014/main" id="{92254FBA-A9EC-4062-98D8-CEE882BB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6743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6">
            <a:extLst xmlns:a="http://schemas.openxmlformats.org/drawingml/2006/main">
              <a:ext uri="{FF2B5EF4-FFF2-40B4-BE49-F238E27FC236}">
                <a16:creationId xmlns:a16="http://schemas.microsoft.com/office/drawing/2014/main" id="{A231BEC2-F69B-409D-B915-68BA4A1F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3627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6</a:t>
            </a:r>
          </a:p>
        </p:txBody>
      </p:sp>
      <p:sp>
        <p:nvSpPr>
          <p:cNvPr id="27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8045D9E7-D95D-4CA4-8F05-BB6B2F6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3627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Verify</a:t>
            </a:r>
          </a:p>
        </p:txBody>
      </p:sp>
      <p:sp>
        <p:nvSpPr>
          <p:cNvPr id="28" name="step-body-6">
            <a:extLst xmlns:a="http://schemas.openxmlformats.org/drawingml/2006/main">
              <a:ext uri="{FF2B5EF4-FFF2-40B4-BE49-F238E27FC236}">
                <a16:creationId xmlns:a16="http://schemas.microsoft.com/office/drawing/2014/main" id="{ACFEBCED-7E02-44B4-99BE-69B6E2C3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64845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Run tests, trace checks, rubrics, and refinery gates.</a:t>
            </a:r>
          </a:p>
        </p:txBody>
      </p:sp>
      <p:sp>
        <p:nvSpPr>
          <p:cNvPr id="29" name="step-7-handoff">
            <a:extLst xmlns:a="http://schemas.openxmlformats.org/drawingml/2006/main">
              <a:ext uri="{FF2B5EF4-FFF2-40B4-BE49-F238E27FC236}">
                <a16:creationId xmlns:a16="http://schemas.microsoft.com/office/drawing/2014/main" id="{9EE008C9-93FF-4C3A-9918-227CA354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6743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30" name="step-num-7">
            <a:extLst xmlns:a="http://schemas.openxmlformats.org/drawingml/2006/main">
              <a:ext uri="{FF2B5EF4-FFF2-40B4-BE49-F238E27FC236}">
                <a16:creationId xmlns:a16="http://schemas.microsoft.com/office/drawing/2014/main" id="{E174064C-DBE7-4188-94B9-E14EC148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3627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7</a:t>
            </a:r>
          </a:p>
        </p:txBody>
      </p:sp>
      <p:sp>
        <p:nvSpPr>
          <p:cNvPr id="31" name="step-title-7">
            <a:extLst xmlns:a="http://schemas.openxmlformats.org/drawingml/2006/main">
              <a:ext uri="{FF2B5EF4-FFF2-40B4-BE49-F238E27FC236}">
                <a16:creationId xmlns:a16="http://schemas.microsoft.com/office/drawing/2014/main" id="{F4AA504A-F3D1-4A79-B450-76888D74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627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Handoff</a:t>
            </a:r>
          </a:p>
        </p:txBody>
      </p:sp>
      <p:sp>
        <p:nvSpPr>
          <p:cNvPr id="32" name="step-body-7">
            <a:extLst xmlns:a="http://schemas.openxmlformats.org/drawingml/2006/main">
              <a:ext uri="{FF2B5EF4-FFF2-40B4-BE49-F238E27FC236}">
                <a16:creationId xmlns:a16="http://schemas.microsoft.com/office/drawing/2014/main" id="{DF804EEE-34C2-45C3-8ACC-B854EFE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4845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Package state so humans or agents can take over safely.</a:t>
            </a:r>
          </a:p>
        </p:txBody>
      </p:sp>
      <p:sp>
        <p:nvSpPr>
          <p:cNvPr id="33" name="step-8-learn">
            <a:extLst xmlns:a="http://schemas.openxmlformats.org/drawingml/2006/main">
              <a:ext uri="{FF2B5EF4-FFF2-40B4-BE49-F238E27FC236}">
                <a16:creationId xmlns:a16="http://schemas.microsoft.com/office/drawing/2014/main" id="{0D276DBD-D39B-43FF-8BBB-025DD0A9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167438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34" name="step-num-8">
            <a:extLst xmlns:a="http://schemas.openxmlformats.org/drawingml/2006/main">
              <a:ext uri="{FF2B5EF4-FFF2-40B4-BE49-F238E27FC236}">
                <a16:creationId xmlns:a16="http://schemas.microsoft.com/office/drawing/2014/main" id="{5311CD12-0CC2-4DF9-99D9-E798FE01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3627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8</a:t>
            </a:r>
          </a:p>
        </p:txBody>
      </p:sp>
      <p:sp>
        <p:nvSpPr>
          <p:cNvPr id="35" name="step-title-8">
            <a:extLst xmlns:a="http://schemas.openxmlformats.org/drawingml/2006/main">
              <a:ext uri="{FF2B5EF4-FFF2-40B4-BE49-F238E27FC236}">
                <a16:creationId xmlns:a16="http://schemas.microsoft.com/office/drawing/2014/main" id="{2754C1BC-D13A-42CE-96CC-E5B02A25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3627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Learn</a:t>
            </a:r>
          </a:p>
        </p:txBody>
      </p:sp>
      <p:sp>
        <p:nvSpPr>
          <p:cNvPr id="36" name="step-body-8">
            <a:extLst xmlns:a="http://schemas.openxmlformats.org/drawingml/2006/main">
              <a:ext uri="{FF2B5EF4-FFF2-40B4-BE49-F238E27FC236}">
                <a16:creationId xmlns:a16="http://schemas.microsoft.com/office/drawing/2014/main" id="{6D28CD9B-F95B-444D-BBFC-702443DD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64845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Feed lessons back into templates, rubrics, and scenarios.</a:t>
            </a:r>
          </a:p>
        </p:txBody>
      </p:sp>
      <p:sp>
        <p:nvSpPr>
          <p:cNvPr id="37" name="operating-model-footer">
            <a:extLst xmlns:a="http://schemas.openxmlformats.org/drawingml/2006/main">
              <a:ext uri="{FF2B5EF4-FFF2-40B4-BE49-F238E27FC236}">
                <a16:creationId xmlns:a16="http://schemas.microsoft.com/office/drawing/2014/main" id="{E29D4CB7-032F-4C60-A09F-C911C7DE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8" name="operating-model-page">
            <a:extLst xmlns:a="http://schemas.openxmlformats.org/drawingml/2006/main">
              <a:ext uri="{FF2B5EF4-FFF2-40B4-BE49-F238E27FC236}">
                <a16:creationId xmlns:a16="http://schemas.microsoft.com/office/drawing/2014/main" id="{23DA4B17-0E84-4D65-8594-DE6F6D3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93024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218E3C-35C1-492A-BC4D-1708637A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lifecycle-stages-eyebrow">
            <a:extLst xmlns:a="http://schemas.openxmlformats.org/drawingml/2006/main">
              <a:ext uri="{FF2B5EF4-FFF2-40B4-BE49-F238E27FC236}">
                <a16:creationId xmlns:a16="http://schemas.microsoft.com/office/drawing/2014/main" id="{C19565B7-0083-4967-8B30-4B770B60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LIFECYCLE COVERAGE</a:t>
            </a:r>
          </a:p>
        </p:txBody>
      </p:sp>
      <p:sp>
        <p:nvSpPr>
          <p:cNvPr id="3" name="lifecycle-stages-title">
            <a:extLst xmlns:a="http://schemas.openxmlformats.org/drawingml/2006/main">
              <a:ext uri="{FF2B5EF4-FFF2-40B4-BE49-F238E27FC236}">
                <a16:creationId xmlns:a16="http://schemas.microsoft.com/office/drawing/2014/main" id="{C5800D38-4AE1-406F-84DF-18A42D4D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9824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factory spans before-intake to production learning.</a:t>
            </a:r>
          </a:p>
        </p:txBody>
      </p:sp>
      <p:sp>
        <p:nvSpPr>
          <p:cNvPr id="4" name="lifecycle-stages-subtitle">
            <a:extLst xmlns:a="http://schemas.openxmlformats.org/drawingml/2006/main">
              <a:ext uri="{FF2B5EF4-FFF2-40B4-BE49-F238E27FC236}">
                <a16:creationId xmlns:a16="http://schemas.microsoft.com/office/drawing/2014/main" id="{91C8A85C-08B7-4F17-ADA9-42F68C74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801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It does not stop at code generation; it models the whole SDLC and the client/delivery relationship around it.</a:t>
            </a:r>
          </a:p>
        </p:txBody>
      </p:sp>
      <p:sp>
        <p:nvSpPr>
          <p:cNvPr id="5" name="step--1-meta-attractor">
            <a:extLst xmlns:a="http://schemas.openxmlformats.org/drawingml/2006/main">
              <a:ext uri="{FF2B5EF4-FFF2-40B4-BE49-F238E27FC236}">
                <a16:creationId xmlns:a16="http://schemas.microsoft.com/office/drawing/2014/main" id="{F7889493-4B5E-49F6-B07F-545C60FA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5359400" cy="2995613"/>
          </a:xfrm>
          <a:prstGeom xmlns:a="http://schemas.openxmlformats.org/drawingml/2006/main" prst="roundRect">
            <a:avLst>
              <a:gd name="adj" fmla="val 190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-1">
            <a:extLst xmlns:a="http://schemas.openxmlformats.org/drawingml/2006/main">
              <a:ext uri="{FF2B5EF4-FFF2-40B4-BE49-F238E27FC236}">
                <a16:creationId xmlns:a16="http://schemas.microsoft.com/office/drawing/2014/main" id="{ACCE8395-B2B8-486B-8E96-9F2BE78A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-1</a:t>
            </a:r>
          </a:p>
        </p:txBody>
      </p:sp>
      <p:sp>
        <p:nvSpPr>
          <p:cNvPr id="7" name="step-title--1">
            <a:extLst xmlns:a="http://schemas.openxmlformats.org/drawingml/2006/main">
              <a:ext uri="{FF2B5EF4-FFF2-40B4-BE49-F238E27FC236}">
                <a16:creationId xmlns:a16="http://schemas.microsoft.com/office/drawing/2014/main" id="{45222CCD-8BCF-403C-8293-CEDE5B5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Meta-attractor</a:t>
            </a:r>
          </a:p>
        </p:txBody>
      </p:sp>
      <p:sp>
        <p:nvSpPr>
          <p:cNvPr id="8" name="step-body--1">
            <a:extLst xmlns:a="http://schemas.openxmlformats.org/drawingml/2006/main">
              <a:ext uri="{FF2B5EF4-FFF2-40B4-BE49-F238E27FC236}">
                <a16:creationId xmlns:a16="http://schemas.microsoft.com/office/drawing/2014/main" id="{44BD65D7-AB43-48EE-9B48-C5D474A2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99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Stabilize the request, route the run, preserve durable intent.</a:t>
            </a:r>
          </a:p>
        </p:txBody>
      </p:sp>
      <p:sp>
        <p:nvSpPr>
          <p:cNvPr id="9" name="step--0.5-engagement-governance">
            <a:extLst xmlns:a="http://schemas.openxmlformats.org/drawingml/2006/main">
              <a:ext uri="{FF2B5EF4-FFF2-40B4-BE49-F238E27FC236}">
                <a16:creationId xmlns:a16="http://schemas.microsoft.com/office/drawing/2014/main" id="{AB2E6ACC-D92F-4332-B2C6-F636E672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924175"/>
            <a:ext cx="5359400" cy="2995613"/>
          </a:xfrm>
          <a:prstGeom xmlns:a="http://schemas.openxmlformats.org/drawingml/2006/main" prst="roundRect">
            <a:avLst>
              <a:gd name="adj" fmla="val 190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-0.5">
            <a:extLst xmlns:a="http://schemas.openxmlformats.org/drawingml/2006/main">
              <a:ext uri="{FF2B5EF4-FFF2-40B4-BE49-F238E27FC236}">
                <a16:creationId xmlns:a16="http://schemas.microsoft.com/office/drawing/2014/main" id="{B142730E-C310-42AC-AFAA-CAA1D1B1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-0.5</a:t>
            </a:r>
          </a:p>
        </p:txBody>
      </p:sp>
      <p:sp>
        <p:nvSpPr>
          <p:cNvPr id="11" name="step-title--0.5">
            <a:extLst xmlns:a="http://schemas.openxmlformats.org/drawingml/2006/main">
              <a:ext uri="{FF2B5EF4-FFF2-40B4-BE49-F238E27FC236}">
                <a16:creationId xmlns:a16="http://schemas.microsoft.com/office/drawing/2014/main" id="{52FD6A06-33DA-40A7-9800-F9309B34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Engagement governance</a:t>
            </a:r>
          </a:p>
        </p:txBody>
      </p:sp>
      <p:sp>
        <p:nvSpPr>
          <p:cNvPr id="12" name="step-body--0.5">
            <a:extLst xmlns:a="http://schemas.openxmlformats.org/drawingml/2006/main">
              <a:ext uri="{FF2B5EF4-FFF2-40B4-BE49-F238E27FC236}">
                <a16:creationId xmlns:a16="http://schemas.microsoft.com/office/drawing/2014/main" id="{0D3C701C-2C24-4DFB-8913-CF2E9E2A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995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Owners, scope baseline, token SWAG, checkpoints, change control.</a:t>
            </a:r>
          </a:p>
        </p:txBody>
      </p:sp>
      <p:sp>
        <p:nvSpPr>
          <p:cNvPr id="13" name="step-0-intake-and-spec-lab">
            <a:extLst xmlns:a="http://schemas.openxmlformats.org/drawingml/2006/main">
              <a:ext uri="{FF2B5EF4-FFF2-40B4-BE49-F238E27FC236}">
                <a16:creationId xmlns:a16="http://schemas.microsoft.com/office/drawing/2014/main" id="{00A147E3-1331-46B3-83FA-AD34B2C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924175"/>
            <a:ext cx="5359400" cy="2995613"/>
          </a:xfrm>
          <a:prstGeom xmlns:a="http://schemas.openxmlformats.org/drawingml/2006/main" prst="roundRect">
            <a:avLst>
              <a:gd name="adj" fmla="val 190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0">
            <a:extLst xmlns:a="http://schemas.openxmlformats.org/drawingml/2006/main">
              <a:ext uri="{FF2B5EF4-FFF2-40B4-BE49-F238E27FC236}">
                <a16:creationId xmlns:a16="http://schemas.microsoft.com/office/drawing/2014/main" id="{79580157-33A2-41D0-B988-DE944ED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0</a:t>
            </a:r>
          </a:p>
        </p:txBody>
      </p:sp>
      <p:sp>
        <p:nvSpPr>
          <p:cNvPr id="1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5BF203F-D543-4180-81EC-822B2B3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1242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Intake and spec lab</a:t>
            </a:r>
          </a:p>
        </p:txBody>
      </p:sp>
      <p:sp>
        <p:nvSpPr>
          <p:cNvPr id="16" name="step-body-0">
            <a:extLst xmlns:a="http://schemas.openxmlformats.org/drawingml/2006/main">
              <a:ext uri="{FF2B5EF4-FFF2-40B4-BE49-F238E27FC236}">
                <a16:creationId xmlns:a16="http://schemas.microsoft.com/office/drawing/2014/main" id="{561A2F35-8444-48CB-985A-ACB7A59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40995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Interrogate, decompose, score, validate, and approve requirements.</a:t>
            </a:r>
          </a:p>
        </p:txBody>
      </p:sp>
      <p:sp>
        <p:nvSpPr>
          <p:cNvPr id="17" name="step-1-4-feasibility-to-planning">
            <a:extLst xmlns:a="http://schemas.openxmlformats.org/drawingml/2006/main">
              <a:ext uri="{FF2B5EF4-FFF2-40B4-BE49-F238E27FC236}">
                <a16:creationId xmlns:a16="http://schemas.microsoft.com/office/drawing/2014/main" id="{266A2CC3-F9F4-4D81-B365-8F1806B3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0288"/>
            <a:ext cx="5359400" cy="2995613"/>
          </a:xfrm>
          <a:prstGeom xmlns:a="http://schemas.openxmlformats.org/drawingml/2006/main" prst="roundRect">
            <a:avLst>
              <a:gd name="adj" fmla="val 190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1-4">
            <a:extLst xmlns:a="http://schemas.openxmlformats.org/drawingml/2006/main">
              <a:ext uri="{FF2B5EF4-FFF2-40B4-BE49-F238E27FC236}">
                <a16:creationId xmlns:a16="http://schemas.microsoft.com/office/drawing/2014/main" id="{DBC1C11E-45AF-465B-9640-87E0414D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05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1-4</a:t>
            </a:r>
          </a:p>
        </p:txBody>
      </p:sp>
      <p:sp>
        <p:nvSpPr>
          <p:cNvPr id="19" name="step-title-1-4">
            <a:extLst xmlns:a="http://schemas.openxmlformats.org/drawingml/2006/main">
              <a:ext uri="{FF2B5EF4-FFF2-40B4-BE49-F238E27FC236}">
                <a16:creationId xmlns:a16="http://schemas.microsoft.com/office/drawing/2014/main" id="{4B813FF8-9106-4DDC-81CC-C236A83C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055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Feasibility to planning</a:t>
            </a:r>
          </a:p>
        </p:txBody>
      </p:sp>
      <p:sp>
        <p:nvSpPr>
          <p:cNvPr id="20" name="step-body-1-4">
            <a:extLst xmlns:a="http://schemas.openxmlformats.org/drawingml/2006/main">
              <a:ext uri="{FF2B5EF4-FFF2-40B4-BE49-F238E27FC236}">
                <a16:creationId xmlns:a16="http://schemas.microsoft.com/office/drawing/2014/main" id="{7A2E6B6D-7B72-497B-8B6B-41CA12B4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59130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Risk register, architecture options, delivery plan, acceptance plan.</a:t>
            </a:r>
          </a:p>
        </p:txBody>
      </p:sp>
      <p:sp>
        <p:nvSpPr>
          <p:cNvPr id="21" name="step-5-7-build-to-transition">
            <a:extLst xmlns:a="http://schemas.openxmlformats.org/drawingml/2006/main">
              <a:ext uri="{FF2B5EF4-FFF2-40B4-BE49-F238E27FC236}">
                <a16:creationId xmlns:a16="http://schemas.microsoft.com/office/drawing/2014/main" id="{67EDD002-C70E-478C-883C-38EB452D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6110288"/>
            <a:ext cx="5359400" cy="2995613"/>
          </a:xfrm>
          <a:prstGeom xmlns:a="http://schemas.openxmlformats.org/drawingml/2006/main" prst="roundRect">
            <a:avLst>
              <a:gd name="adj" fmla="val 190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5-7">
            <a:extLst xmlns:a="http://schemas.openxmlformats.org/drawingml/2006/main">
              <a:ext uri="{FF2B5EF4-FFF2-40B4-BE49-F238E27FC236}">
                <a16:creationId xmlns:a16="http://schemas.microsoft.com/office/drawing/2014/main" id="{6706DB43-2FEC-4010-9D3A-EA3030C9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305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5-7</a:t>
            </a:r>
          </a:p>
        </p:txBody>
      </p:sp>
      <p:sp>
        <p:nvSpPr>
          <p:cNvPr id="23" name="step-title-5-7">
            <a:extLst xmlns:a="http://schemas.openxmlformats.org/drawingml/2006/main">
              <a:ext uri="{FF2B5EF4-FFF2-40B4-BE49-F238E27FC236}">
                <a16:creationId xmlns:a16="http://schemas.microsoft.com/office/drawing/2014/main" id="{D5C0C4B2-AA18-45C3-BDD0-415638F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3055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Build to transition</a:t>
            </a:r>
          </a:p>
        </p:txBody>
      </p:sp>
      <p:sp>
        <p:nvSpPr>
          <p:cNvPr id="24" name="step-body-5-7">
            <a:extLst xmlns:a="http://schemas.openxmlformats.org/drawingml/2006/main">
              <a:ext uri="{FF2B5EF4-FFF2-40B4-BE49-F238E27FC236}">
                <a16:creationId xmlns:a16="http://schemas.microsoft.com/office/drawing/2014/main" id="{A44297BE-D748-40AF-9AC9-C968A278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59130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Implementation, verification, release, runbooks, training, handoff.</a:t>
            </a:r>
          </a:p>
        </p:txBody>
      </p:sp>
      <p:sp>
        <p:nvSpPr>
          <p:cNvPr id="25" name="step-8-10-operate-to-learn">
            <a:extLst xmlns:a="http://schemas.openxmlformats.org/drawingml/2006/main">
              <a:ext uri="{FF2B5EF4-FFF2-40B4-BE49-F238E27FC236}">
                <a16:creationId xmlns:a16="http://schemas.microsoft.com/office/drawing/2014/main" id="{63FB1FA0-D762-4414-BC44-DA776485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6110288"/>
            <a:ext cx="5359400" cy="2995613"/>
          </a:xfrm>
          <a:prstGeom xmlns:a="http://schemas.openxmlformats.org/drawingml/2006/main" prst="roundRect">
            <a:avLst>
              <a:gd name="adj" fmla="val 190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8-10">
            <a:extLst xmlns:a="http://schemas.openxmlformats.org/drawingml/2006/main">
              <a:ext uri="{FF2B5EF4-FFF2-40B4-BE49-F238E27FC236}">
                <a16:creationId xmlns:a16="http://schemas.microsoft.com/office/drawing/2014/main" id="{B00CFB91-2CB7-44CD-886D-A4E69C1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305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8-10</a:t>
            </a:r>
          </a:p>
        </p:txBody>
      </p:sp>
      <p:sp>
        <p:nvSpPr>
          <p:cNvPr id="27" name="step-title-8-10">
            <a:extLst xmlns:a="http://schemas.openxmlformats.org/drawingml/2006/main">
              <a:ext uri="{FF2B5EF4-FFF2-40B4-BE49-F238E27FC236}">
                <a16:creationId xmlns:a16="http://schemas.microsoft.com/office/drawing/2014/main" id="{076CC7BE-977E-4123-9110-A216AF7D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3055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Operate to learn</a:t>
            </a:r>
          </a:p>
        </p:txBody>
      </p:sp>
      <p:sp>
        <p:nvSpPr>
          <p:cNvPr id="28" name="step-body-8-10">
            <a:extLst xmlns:a="http://schemas.openxmlformats.org/drawingml/2006/main">
              <a:ext uri="{FF2B5EF4-FFF2-40B4-BE49-F238E27FC236}">
                <a16:creationId xmlns:a16="http://schemas.microsoft.com/office/drawing/2014/main" id="{83EA614F-8ED5-4EB8-887A-EA37695D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591300"/>
            <a:ext cx="430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SRE mode, brownfield loop, retrospectives, template/rubric updates.</a:t>
            </a:r>
          </a:p>
        </p:txBody>
      </p:sp>
      <p:sp>
        <p:nvSpPr>
          <p:cNvPr id="29" name="lifecycle-stages-footer">
            <a:extLst xmlns:a="http://schemas.openxmlformats.org/drawingml/2006/main">
              <a:ext uri="{FF2B5EF4-FFF2-40B4-BE49-F238E27FC236}">
                <a16:creationId xmlns:a16="http://schemas.microsoft.com/office/drawing/2014/main" id="{7E839488-5F9F-4280-A35B-AE4FA33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lifecycle-stages-page">
            <a:extLst xmlns:a="http://schemas.openxmlformats.org/drawingml/2006/main">
              <a:ext uri="{FF2B5EF4-FFF2-40B4-BE49-F238E27FC236}">
                <a16:creationId xmlns:a16="http://schemas.microsoft.com/office/drawing/2014/main" id="{C262E9E0-0DE0-43EE-9E5F-D5C4C35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29589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CDD43BF-C7E1-478C-9E59-55448CD5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meta-hierarchy-eyebrow">
            <a:extLst xmlns:a="http://schemas.openxmlformats.org/drawingml/2006/main">
              <a:ext uri="{FF2B5EF4-FFF2-40B4-BE49-F238E27FC236}">
                <a16:creationId xmlns:a16="http://schemas.microsoft.com/office/drawing/2014/main" id="{1567C840-13FE-48FD-9B79-93A87BBD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META + META-META</a:t>
            </a:r>
          </a:p>
        </p:txBody>
      </p:sp>
      <p:sp>
        <p:nvSpPr>
          <p:cNvPr id="3" name="meta-hierarchy-title">
            <a:extLst xmlns:a="http://schemas.openxmlformats.org/drawingml/2006/main">
              <a:ext uri="{FF2B5EF4-FFF2-40B4-BE49-F238E27FC236}">
                <a16:creationId xmlns:a16="http://schemas.microsoft.com/office/drawing/2014/main" id="{001310C0-7645-4CEE-8544-E27C3FC7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239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meta-meta layer protects the whole factory from narrow thinking.</a:t>
            </a:r>
          </a:p>
        </p:txBody>
      </p:sp>
      <p:sp>
        <p:nvSpPr>
          <p:cNvPr id="4" name="meta-hierarchy-subtitle">
            <a:extLst xmlns:a="http://schemas.openxmlformats.org/drawingml/2006/main">
              <a:ext uri="{FF2B5EF4-FFF2-40B4-BE49-F238E27FC236}">
                <a16:creationId xmlns:a16="http://schemas.microsoft.com/office/drawing/2014/main" id="{5CB1C30A-3FF3-49D2-8898-4AFFC137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468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It forms the field before any specialized skill acts, so a run cannot overfit to one artifact, one app, or one local task.</a:t>
            </a:r>
          </a:p>
        </p:txBody>
      </p:sp>
      <p:sp>
        <p:nvSpPr>
          <p:cNvPr id="5" name="metric-value-attractor-for-intent-governance-and-routing">
            <a:extLst xmlns:a="http://schemas.openxmlformats.org/drawingml/2006/main">
              <a:ext uri="{FF2B5EF4-FFF2-40B4-BE49-F238E27FC236}">
                <a16:creationId xmlns:a16="http://schemas.microsoft.com/office/drawing/2014/main" id="{614A1449-92B6-4A2B-A927-E7B75ED5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DD4BF"/>
                </a:solidFill>
              </a:defRPr>
            </a:pPr>
            <a:r>
              <a:rPr sz="5250" b="1">
                <a:solidFill>
                  <a:srgbClr val="2DD4BF"/>
                </a:solidFill>
              </a:rPr>
              <a:t>meta-meta</a:t>
            </a:r>
          </a:p>
        </p:txBody>
      </p:sp>
      <p:sp>
        <p:nvSpPr>
          <p:cNvPr id="6" name="metric-label-attractor-for-intent-governance-and-routing">
            <a:extLst xmlns:a="http://schemas.openxmlformats.org/drawingml/2006/main">
              <a:ext uri="{FF2B5EF4-FFF2-40B4-BE49-F238E27FC236}">
                <a16:creationId xmlns:a16="http://schemas.microsoft.com/office/drawing/2014/main" id="{BCE508A7-5A89-450D-A1CC-AFFCCEE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attractor for intent, governance, and routing</a:t>
            </a:r>
          </a:p>
        </p:txBody>
      </p:sp>
      <p:sp>
        <p:nvSpPr>
          <p:cNvPr id="7" name="metric-value-orchestrated-skills-for-project-delivery">
            <a:extLst xmlns:a="http://schemas.openxmlformats.org/drawingml/2006/main">
              <a:ext uri="{FF2B5EF4-FFF2-40B4-BE49-F238E27FC236}">
                <a16:creationId xmlns:a16="http://schemas.microsoft.com/office/drawing/2014/main" id="{ED9A6C13-B258-475D-A725-14A1CD24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6D17E"/>
                </a:solidFill>
              </a:defRPr>
            </a:pPr>
            <a:r>
              <a:rPr sz="5250" b="1">
                <a:solidFill>
                  <a:srgbClr val="46D17E"/>
                </a:solidFill>
              </a:rPr>
              <a:t>meta</a:t>
            </a:r>
          </a:p>
        </p:txBody>
      </p:sp>
      <p:sp>
        <p:nvSpPr>
          <p:cNvPr id="8" name="metric-label-orchestrated-skills-for-project-delivery">
            <a:extLst xmlns:a="http://schemas.openxmlformats.org/drawingml/2006/main">
              <a:ext uri="{FF2B5EF4-FFF2-40B4-BE49-F238E27FC236}">
                <a16:creationId xmlns:a16="http://schemas.microsoft.com/office/drawing/2014/main" id="{AC03D285-5C27-4AD6-9926-96917364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2362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orchestrated skills for project delivery</a:t>
            </a:r>
          </a:p>
        </p:txBody>
      </p:sp>
      <p:sp>
        <p:nvSpPr>
          <p:cNvPr id="9" name="metric-value-bounded-work-with-rubrics-and-evidence">
            <a:extLst xmlns:a="http://schemas.openxmlformats.org/drawingml/2006/main">
              <a:ext uri="{FF2B5EF4-FFF2-40B4-BE49-F238E27FC236}">
                <a16:creationId xmlns:a16="http://schemas.microsoft.com/office/drawing/2014/main" id="{2AE74007-9D49-4C69-B35F-43DFB02D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05600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2B84B"/>
                </a:solidFill>
              </a:defRPr>
            </a:pPr>
            <a:r>
              <a:rPr sz="5250" b="1">
                <a:solidFill>
                  <a:srgbClr val="F2B84B"/>
                </a:solidFill>
              </a:rPr>
              <a:t>node</a:t>
            </a:r>
          </a:p>
        </p:txBody>
      </p:sp>
      <p:sp>
        <p:nvSpPr>
          <p:cNvPr id="10" name="metric-label-bounded-work-with-rubrics-and-evidence">
            <a:extLst xmlns:a="http://schemas.openxmlformats.org/drawingml/2006/main">
              <a:ext uri="{FF2B5EF4-FFF2-40B4-BE49-F238E27FC236}">
                <a16:creationId xmlns:a16="http://schemas.microsoft.com/office/drawing/2014/main" id="{EEF2B981-0915-41FE-BD73-53AFE7ED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0"/>
            <a:ext cx="2552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bounded work with rubrics and evidence</a:t>
            </a:r>
          </a:p>
        </p:txBody>
      </p:sp>
      <p:sp>
        <p:nvSpPr>
          <p:cNvPr id="11" name="dot-meta-attractor">
            <a:extLst xmlns:a="http://schemas.openxmlformats.org/drawingml/2006/main">
              <a:ext uri="{FF2B5EF4-FFF2-40B4-BE49-F238E27FC236}">
                <a16:creationId xmlns:a16="http://schemas.microsoft.com/office/drawing/2014/main" id="{D8145E64-8193-45BD-97AC-92C930A1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339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2" name="statement-title-meta-attractor">
            <a:extLst xmlns:a="http://schemas.openxmlformats.org/drawingml/2006/main">
              <a:ext uri="{FF2B5EF4-FFF2-40B4-BE49-F238E27FC236}">
                <a16:creationId xmlns:a16="http://schemas.microsoft.com/office/drawing/2014/main" id="{1BE0CDE0-DA6C-40D8-8E52-CE90E09E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339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Meta-attractor</a:t>
            </a:r>
          </a:p>
        </p:txBody>
      </p:sp>
      <p:sp>
        <p:nvSpPr>
          <p:cNvPr id="13" name="statement-body-meta-attractor">
            <a:extLst xmlns:a="http://schemas.openxmlformats.org/drawingml/2006/main">
              <a:ext uri="{FF2B5EF4-FFF2-40B4-BE49-F238E27FC236}">
                <a16:creationId xmlns:a16="http://schemas.microsoft.com/office/drawing/2014/main" id="{2ED10C16-E1FD-49C0-80A1-AE5A3F38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5775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Separates durable intent from examples, contradictions, and transient context.</a:t>
            </a:r>
          </a:p>
        </p:txBody>
      </p:sp>
      <p:sp>
        <p:nvSpPr>
          <p:cNvPr id="14" name="dot-dark-factory-orchestrator">
            <a:extLst xmlns:a="http://schemas.openxmlformats.org/drawingml/2006/main">
              <a:ext uri="{FF2B5EF4-FFF2-40B4-BE49-F238E27FC236}">
                <a16:creationId xmlns:a16="http://schemas.microsoft.com/office/drawing/2014/main" id="{FEF3EB1E-6EB3-482A-9F8F-12F94E29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959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5" name="statement-title-dark-factory-orchestrator">
            <a:extLst xmlns:a="http://schemas.openxmlformats.org/drawingml/2006/main">
              <a:ext uri="{FF2B5EF4-FFF2-40B4-BE49-F238E27FC236}">
                <a16:creationId xmlns:a16="http://schemas.microsoft.com/office/drawing/2014/main" id="{AE112AA1-1E27-4BEA-81CC-771E94C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7685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Dark-factory orchestrator</a:t>
            </a:r>
          </a:p>
        </p:txBody>
      </p:sp>
      <p:sp>
        <p:nvSpPr>
          <p:cNvPr id="16" name="statement-body-dark-factory-orchestrator">
            <a:extLst xmlns:a="http://schemas.openxmlformats.org/drawingml/2006/main">
              <a:ext uri="{FF2B5EF4-FFF2-40B4-BE49-F238E27FC236}">
                <a16:creationId xmlns:a16="http://schemas.microsoft.com/office/drawing/2014/main" id="{75A36A98-7004-42E7-A837-E6FEA766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00700"/>
            <a:ext cx="906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Routes greenfield, brownfield, artifact-only, review-only, handoff, recovery, and governance-update modes.</a:t>
            </a:r>
          </a:p>
        </p:txBody>
      </p:sp>
      <p:sp>
        <p:nvSpPr>
          <p:cNvPr id="17" name="dot-specialized-skills">
            <a:extLst xmlns:a="http://schemas.openxmlformats.org/drawingml/2006/main">
              <a:ext uri="{FF2B5EF4-FFF2-40B4-BE49-F238E27FC236}">
                <a16:creationId xmlns:a16="http://schemas.microsoft.com/office/drawing/2014/main" id="{1713E9EB-FB4D-42D3-8800-82C11DEE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019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8" name="statement-title-specialized-skills">
            <a:extLst xmlns:a="http://schemas.openxmlformats.org/drawingml/2006/main">
              <a:ext uri="{FF2B5EF4-FFF2-40B4-BE49-F238E27FC236}">
                <a16:creationId xmlns:a16="http://schemas.microsoft.com/office/drawing/2014/main" id="{471A4897-C935-4699-9BE0-FD354CCD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198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Specialized skills</a:t>
            </a:r>
          </a:p>
        </p:txBody>
      </p:sp>
      <p:sp>
        <p:nvSpPr>
          <p:cNvPr id="19" name="statement-body-specialized-skills">
            <a:extLst xmlns:a="http://schemas.openxmlformats.org/drawingml/2006/main">
              <a:ext uri="{FF2B5EF4-FFF2-40B4-BE49-F238E27FC236}">
                <a16:creationId xmlns:a16="http://schemas.microsoft.com/office/drawing/2014/main" id="{228D645C-862B-4671-AB6D-E5F3F8AB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43650"/>
            <a:ext cx="8343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Intake, methodology, artifact generation, review, traceability, SRE, memory, and feedback learning.</a:t>
            </a:r>
          </a:p>
        </p:txBody>
      </p:sp>
      <p:sp>
        <p:nvSpPr>
          <p:cNvPr id="20" name="dot-control-objects">
            <a:extLst xmlns:a="http://schemas.openxmlformats.org/drawingml/2006/main">
              <a:ext uri="{FF2B5EF4-FFF2-40B4-BE49-F238E27FC236}">
                <a16:creationId xmlns:a16="http://schemas.microsoft.com/office/drawing/2014/main" id="{0A2A6273-BE74-4C0E-BDC9-60399E45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781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F26464"/>
            </a:solidFill>
            <a:prstDash val="solid"/>
          </a:ln>
        </p:spPr>
      </p:sp>
      <p:sp>
        <p:nvSpPr>
          <p:cNvPr id="21" name="statement-title-control-objects">
            <a:extLst xmlns:a="http://schemas.openxmlformats.org/drawingml/2006/main">
              <a:ext uri="{FF2B5EF4-FFF2-40B4-BE49-F238E27FC236}">
                <a16:creationId xmlns:a16="http://schemas.microsoft.com/office/drawing/2014/main" id="{FC31CD3E-43FC-418A-908E-E9059F91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76275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Control objects</a:t>
            </a:r>
          </a:p>
        </p:txBody>
      </p:sp>
      <p:sp>
        <p:nvSpPr>
          <p:cNvPr id="22" name="statement-body-control-objects">
            <a:extLst xmlns:a="http://schemas.openxmlformats.org/drawingml/2006/main">
              <a:ext uri="{FF2B5EF4-FFF2-40B4-BE49-F238E27FC236}">
                <a16:creationId xmlns:a16="http://schemas.microsoft.com/office/drawing/2014/main" id="{90E9701B-5AC8-413E-B977-CE3F20BB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086600"/>
            <a:ext cx="7562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Attractor record, control graph, work ledger, refinery gate, token budget, change request.</a:t>
            </a:r>
          </a:p>
        </p:txBody>
      </p:sp>
      <p:sp>
        <p:nvSpPr>
          <p:cNvPr id="23" name="meta-hierarchy-footer">
            <a:extLst xmlns:a="http://schemas.openxmlformats.org/drawingml/2006/main">
              <a:ext uri="{FF2B5EF4-FFF2-40B4-BE49-F238E27FC236}">
                <a16:creationId xmlns:a16="http://schemas.microsoft.com/office/drawing/2014/main" id="{A9C10BBA-EABD-4D4E-8054-F4F5F5D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4" name="meta-hierarchy-page">
            <a:extLst xmlns:a="http://schemas.openxmlformats.org/drawingml/2006/main">
              <a:ext uri="{FF2B5EF4-FFF2-40B4-BE49-F238E27FC236}">
                <a16:creationId xmlns:a16="http://schemas.microsoft.com/office/drawing/2014/main" id="{E25542A9-1773-4FBB-8842-F9635FA0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56988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87CA034-3E2B-4716-8CB8-E914D7C4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greenfield-tree-eyebrow">
            <a:extLst xmlns:a="http://schemas.openxmlformats.org/drawingml/2006/main">
              <a:ext uri="{FF2B5EF4-FFF2-40B4-BE49-F238E27FC236}">
                <a16:creationId xmlns:a16="http://schemas.microsoft.com/office/drawing/2014/main" id="{EED7959F-9B93-445C-B37C-57FF909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GREENFIELD TASK TREE</a:t>
            </a:r>
          </a:p>
        </p:txBody>
      </p:sp>
      <p:sp>
        <p:nvSpPr>
          <p:cNvPr id="3" name="greenfield-tree-title">
            <a:extLst xmlns:a="http://schemas.openxmlformats.org/drawingml/2006/main">
              <a:ext uri="{FF2B5EF4-FFF2-40B4-BE49-F238E27FC236}">
                <a16:creationId xmlns:a16="http://schemas.microsoft.com/office/drawing/2014/main" id="{9D70608A-4AF5-4F65-9442-337D0699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182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A new project starts with interrogation, not implementation.</a:t>
            </a:r>
          </a:p>
        </p:txBody>
      </p:sp>
      <p:sp>
        <p:nvSpPr>
          <p:cNvPr id="4" name="greenfield-tree-subtitle">
            <a:extLst xmlns:a="http://schemas.openxmlformats.org/drawingml/2006/main">
              <a:ext uri="{FF2B5EF4-FFF2-40B4-BE49-F238E27FC236}">
                <a16:creationId xmlns:a16="http://schemas.microsoft.com/office/drawing/2014/main" id="{AAA8B876-AEFE-4108-BF62-2222B4F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2249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example todo/habits app is only a simulation target; the repeatable product is the project factory around any domain.</a:t>
            </a:r>
          </a:p>
        </p:txBody>
      </p:sp>
      <p:sp>
        <p:nvSpPr>
          <p:cNvPr id="5" name="step-1-field-formation">
            <a:extLst xmlns:a="http://schemas.openxmlformats.org/drawingml/2006/main">
              <a:ext uri="{FF2B5EF4-FFF2-40B4-BE49-F238E27FC236}">
                <a16:creationId xmlns:a16="http://schemas.microsoft.com/office/drawing/2014/main" id="{BFDCA6C8-65F6-4851-9BB1-281B42C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5372100" cy="3033713"/>
          </a:xfrm>
          <a:prstGeom xmlns:a="http://schemas.openxmlformats.org/drawingml/2006/main" prst="roundRect">
            <a:avLst>
              <a:gd name="adj" fmla="val 188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1A472CE5-A30D-43E8-A94C-9E0DA9A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F7BC9B1-E84E-4CA3-8385-1F942FEE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Field formation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73DD631-BD39-47AC-B081-31E6887F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6230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Attractor record, routing decision, open decisions, waiver list.</a:t>
            </a:r>
          </a:p>
        </p:txBody>
      </p:sp>
      <p:sp>
        <p:nvSpPr>
          <p:cNvPr id="9" name="step-2-engagement-setup">
            <a:extLst xmlns:a="http://schemas.openxmlformats.org/drawingml/2006/main">
              <a:ext uri="{FF2B5EF4-FFF2-40B4-BE49-F238E27FC236}">
                <a16:creationId xmlns:a16="http://schemas.microsoft.com/office/drawing/2014/main" id="{F580628C-0577-4C22-BA51-B234F21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76525"/>
            <a:ext cx="5372100" cy="3033713"/>
          </a:xfrm>
          <a:prstGeom xmlns:a="http://schemas.openxmlformats.org/drawingml/2006/main" prst="roundRect">
            <a:avLst>
              <a:gd name="adj" fmla="val 188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68B95E6D-D411-4A43-B9FF-B3830E75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DC37DE7-C18B-4461-839F-31A40233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Engagement setup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28CA66D-64BD-49B7-B821-6E4AF5AA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6230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Client owner, delivery owner, scope baseline, token budget.</a:t>
            </a:r>
          </a:p>
        </p:txBody>
      </p:sp>
      <p:sp>
        <p:nvSpPr>
          <p:cNvPr id="13" name="step-3-customer-interrogation">
            <a:extLst xmlns:a="http://schemas.openxmlformats.org/drawingml/2006/main">
              <a:ext uri="{FF2B5EF4-FFF2-40B4-BE49-F238E27FC236}">
                <a16:creationId xmlns:a16="http://schemas.microsoft.com/office/drawing/2014/main" id="{874126A5-ABAF-4DA7-9112-554B3974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76525"/>
            <a:ext cx="5372100" cy="3033713"/>
          </a:xfrm>
          <a:prstGeom xmlns:a="http://schemas.openxmlformats.org/drawingml/2006/main" prst="roundRect">
            <a:avLst>
              <a:gd name="adj" fmla="val 188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3">
            <a:extLst xmlns:a="http://schemas.openxmlformats.org/drawingml/2006/main">
              <a:ext uri="{FF2B5EF4-FFF2-40B4-BE49-F238E27FC236}">
                <a16:creationId xmlns:a16="http://schemas.microsoft.com/office/drawing/2014/main" id="{47E72097-CE1B-46E9-AD29-DF52B4A0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A65AB0F-0B6A-414A-BCB0-75A04043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Customer interrogation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5BD11E8-62D6-469B-9D53-6309AA5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16230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Rounds, answer IDs, contradictions, completeness, approval.</a:t>
            </a:r>
          </a:p>
        </p:txBody>
      </p:sp>
      <p:sp>
        <p:nvSpPr>
          <p:cNvPr id="17" name="step-4-spec-decomposition">
            <a:extLst xmlns:a="http://schemas.openxmlformats.org/drawingml/2006/main">
              <a:ext uri="{FF2B5EF4-FFF2-40B4-BE49-F238E27FC236}">
                <a16:creationId xmlns:a16="http://schemas.microsoft.com/office/drawing/2014/main" id="{6F4F00F8-F149-4A2C-8279-4E42B9E0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0738"/>
            <a:ext cx="5372100" cy="3205163"/>
          </a:xfrm>
          <a:prstGeom xmlns:a="http://schemas.openxmlformats.org/drawingml/2006/main" prst="roundRect">
            <a:avLst>
              <a:gd name="adj" fmla="val 178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4">
            <a:extLst xmlns:a="http://schemas.openxmlformats.org/drawingml/2006/main">
              <a:ext uri="{FF2B5EF4-FFF2-40B4-BE49-F238E27FC236}">
                <a16:creationId xmlns:a16="http://schemas.microsoft.com/office/drawing/2014/main" id="{FB2297FC-D282-4D88-A190-E536CB5B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4</a:t>
            </a:r>
          </a:p>
        </p:txBody>
      </p:sp>
      <p:sp>
        <p:nvSpPr>
          <p:cNvPr id="19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D974EC30-2C11-4E40-9F7C-2251665B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960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Spec decomposition</a:t>
            </a:r>
          </a:p>
        </p:txBody>
      </p:sp>
      <p:sp>
        <p:nvSpPr>
          <p:cNvPr id="20" name="step-body-4">
            <a:extLst xmlns:a="http://schemas.openxmlformats.org/drawingml/2006/main">
              <a:ext uri="{FF2B5EF4-FFF2-40B4-BE49-F238E27FC236}">
                <a16:creationId xmlns:a16="http://schemas.microsoft.com/office/drawing/2014/main" id="{4555069D-DFFA-4700-B720-AA242EDA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817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Vision to branches to atomic acceptance leaves with trace links.</a:t>
            </a:r>
          </a:p>
        </p:txBody>
      </p:sp>
      <p:sp>
        <p:nvSpPr>
          <p:cNvPr id="21" name="step-5-architecture-and-plan">
            <a:extLst xmlns:a="http://schemas.openxmlformats.org/drawingml/2006/main">
              <a:ext uri="{FF2B5EF4-FFF2-40B4-BE49-F238E27FC236}">
                <a16:creationId xmlns:a16="http://schemas.microsoft.com/office/drawing/2014/main" id="{2B862A7A-1A86-4820-A7AA-9FBD4B1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00738"/>
            <a:ext cx="5372100" cy="3205163"/>
          </a:xfrm>
          <a:prstGeom xmlns:a="http://schemas.openxmlformats.org/drawingml/2006/main" prst="roundRect">
            <a:avLst>
              <a:gd name="adj" fmla="val 178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5">
            <a:extLst xmlns:a="http://schemas.openxmlformats.org/drawingml/2006/main">
              <a:ext uri="{FF2B5EF4-FFF2-40B4-BE49-F238E27FC236}">
                <a16:creationId xmlns:a16="http://schemas.microsoft.com/office/drawing/2014/main" id="{94CC361F-BD2C-4524-9573-AEDF37BA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960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5</a:t>
            </a:r>
          </a:p>
        </p:txBody>
      </p:sp>
      <p:sp>
        <p:nvSpPr>
          <p:cNvPr id="23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010D3589-695B-45C7-906D-598A4AE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0960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Architecture and plan</a:t>
            </a:r>
          </a:p>
        </p:txBody>
      </p:sp>
      <p:sp>
        <p:nvSpPr>
          <p:cNvPr id="24" name="step-body-5">
            <a:extLst xmlns:a="http://schemas.openxmlformats.org/drawingml/2006/main">
              <a:ext uri="{FF2B5EF4-FFF2-40B4-BE49-F238E27FC236}">
                <a16:creationId xmlns:a16="http://schemas.microsoft.com/office/drawing/2014/main" id="{DD9F8B31-ADA5-4033-8902-5EEDF6CF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3817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Alternatives, MDA/DDD choices, ADRs, test strategy, work ledger.</a:t>
            </a:r>
          </a:p>
        </p:txBody>
      </p:sp>
      <p:sp>
        <p:nvSpPr>
          <p:cNvPr id="25" name="step-6-build-and-certify">
            <a:extLst xmlns:a="http://schemas.openxmlformats.org/drawingml/2006/main">
              <a:ext uri="{FF2B5EF4-FFF2-40B4-BE49-F238E27FC236}">
                <a16:creationId xmlns:a16="http://schemas.microsoft.com/office/drawing/2014/main" id="{49169AEA-69F6-4C54-B02B-10916F0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00738"/>
            <a:ext cx="5372100" cy="3205163"/>
          </a:xfrm>
          <a:prstGeom xmlns:a="http://schemas.openxmlformats.org/drawingml/2006/main" prst="roundRect">
            <a:avLst>
              <a:gd name="adj" fmla="val 178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6">
            <a:extLst xmlns:a="http://schemas.openxmlformats.org/drawingml/2006/main">
              <a:ext uri="{FF2B5EF4-FFF2-40B4-BE49-F238E27FC236}">
                <a16:creationId xmlns:a16="http://schemas.microsoft.com/office/drawing/2014/main" id="{17560A04-174D-449C-86F6-7C83E56E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0960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6</a:t>
            </a:r>
          </a:p>
        </p:txBody>
      </p:sp>
      <p:sp>
        <p:nvSpPr>
          <p:cNvPr id="27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CC70D1FA-9B46-4865-A5E2-3E820F7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0960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Build and certify</a:t>
            </a:r>
          </a:p>
        </p:txBody>
      </p:sp>
      <p:sp>
        <p:nvSpPr>
          <p:cNvPr id="28" name="step-body-6">
            <a:extLst xmlns:a="http://schemas.openxmlformats.org/drawingml/2006/main">
              <a:ext uri="{FF2B5EF4-FFF2-40B4-BE49-F238E27FC236}">
                <a16:creationId xmlns:a16="http://schemas.microsoft.com/office/drawing/2014/main" id="{6BAF26E3-0CFE-4C6D-A3D0-595D5FC4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3817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Implementation packages, checks, refinery record, handoff package.</a:t>
            </a:r>
          </a:p>
        </p:txBody>
      </p:sp>
      <p:sp>
        <p:nvSpPr>
          <p:cNvPr id="29" name="greenfield-tree-footer">
            <a:extLst xmlns:a="http://schemas.openxmlformats.org/drawingml/2006/main">
              <a:ext uri="{FF2B5EF4-FFF2-40B4-BE49-F238E27FC236}">
                <a16:creationId xmlns:a16="http://schemas.microsoft.com/office/drawing/2014/main" id="{0130CC04-925B-4F13-B000-B4E580C2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greenfield-tree-page">
            <a:extLst xmlns:a="http://schemas.openxmlformats.org/drawingml/2006/main">
              <a:ext uri="{FF2B5EF4-FFF2-40B4-BE49-F238E27FC236}">
                <a16:creationId xmlns:a16="http://schemas.microsoft.com/office/drawing/2014/main" id="{D28201C6-9977-43BC-957D-37BEA7AA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28740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FC96EC-C351-4FF5-AF8D-CD6588E7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brownfield-tree-eyebrow">
            <a:extLst xmlns:a="http://schemas.openxmlformats.org/drawingml/2006/main">
              <a:ext uri="{FF2B5EF4-FFF2-40B4-BE49-F238E27FC236}">
                <a16:creationId xmlns:a16="http://schemas.microsoft.com/office/drawing/2014/main" id="{76064F07-EEC7-468F-99A2-D58B55E2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BROWNFIELD TASK TREE</a:t>
            </a:r>
          </a:p>
        </p:txBody>
      </p:sp>
      <p:sp>
        <p:nvSpPr>
          <p:cNvPr id="3" name="brownfield-tree-title">
            <a:extLst xmlns:a="http://schemas.openxmlformats.org/drawingml/2006/main">
              <a:ext uri="{FF2B5EF4-FFF2-40B4-BE49-F238E27FC236}">
                <a16:creationId xmlns:a16="http://schemas.microsoft.com/office/drawing/2014/main" id="{88FEA618-258B-4690-A88F-86367CAF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7063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AF8"/>
                </a:solidFill>
              </a:defRPr>
            </a:pPr>
            <a:r>
              <a:rPr sz="3300" b="1">
                <a:solidFill>
                  <a:srgbClr val="F7FAF8"/>
                </a:solidFill>
              </a:rPr>
              <a:t>Existing systems need recon, drift repair, and change control before edits.</a:t>
            </a:r>
          </a:p>
        </p:txBody>
      </p:sp>
      <p:sp>
        <p:nvSpPr>
          <p:cNvPr id="4" name="brownfield-tree-subtitle">
            <a:extLst xmlns:a="http://schemas.openxmlformats.org/drawingml/2006/main">
              <a:ext uri="{FF2B5EF4-FFF2-40B4-BE49-F238E27FC236}">
                <a16:creationId xmlns:a16="http://schemas.microsoft.com/office/drawing/2014/main" id="{878CE384-D9DC-4A68-8C97-045BA889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1125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Brownfield delivery is where evidence and context memory become more valuable than raw generation speed.</a:t>
            </a:r>
          </a:p>
        </p:txBody>
      </p:sp>
      <p:sp>
        <p:nvSpPr>
          <p:cNvPr id="5" name="step-1-freeze-intent">
            <a:extLst xmlns:a="http://schemas.openxmlformats.org/drawingml/2006/main">
              <a:ext uri="{FF2B5EF4-FFF2-40B4-BE49-F238E27FC236}">
                <a16:creationId xmlns:a16="http://schemas.microsoft.com/office/drawing/2014/main" id="{7E4896FE-12AC-4621-BA55-7AB01E0D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5372100" cy="3100388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4B04C298-F838-439A-B252-331FDBDD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322DB75-5638-42EC-B758-546C1E9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146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Freeze intent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8CF9594-AFF9-4BBA-B772-995618B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004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Capture target behavior, assumptions, contradictions, and approval state.</a:t>
            </a:r>
          </a:p>
        </p:txBody>
      </p:sp>
      <p:sp>
        <p:nvSpPr>
          <p:cNvPr id="9" name="step-2-discover-reality">
            <a:extLst xmlns:a="http://schemas.openxmlformats.org/drawingml/2006/main">
              <a:ext uri="{FF2B5EF4-FFF2-40B4-BE49-F238E27FC236}">
                <a16:creationId xmlns:a16="http://schemas.microsoft.com/office/drawing/2014/main" id="{3CB06FCA-0454-4DD1-8455-1007E902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5372100" cy="3100388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D42D15EC-1CF9-43F0-9A4C-A91E67A1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90C6042-801C-4C7F-B4E7-E641F6C4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146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Discover reality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2BAA82B-F2AD-4DFE-8E31-D292851B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004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Repo map, architecture, tests, dependencies, commands, operations, risks.</a:t>
            </a:r>
          </a:p>
        </p:txBody>
      </p:sp>
      <p:sp>
        <p:nvSpPr>
          <p:cNvPr id="13" name="step-3-analyze-impact">
            <a:extLst xmlns:a="http://schemas.openxmlformats.org/drawingml/2006/main">
              <a:ext uri="{FF2B5EF4-FFF2-40B4-BE49-F238E27FC236}">
                <a16:creationId xmlns:a16="http://schemas.microsoft.com/office/drawing/2014/main" id="{7825075C-61A0-4D15-9868-B8B0A552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714625"/>
            <a:ext cx="5372100" cy="3100388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3">
            <a:extLst xmlns:a="http://schemas.openxmlformats.org/drawingml/2006/main">
              <a:ext uri="{FF2B5EF4-FFF2-40B4-BE49-F238E27FC236}">
                <a16:creationId xmlns:a16="http://schemas.microsoft.com/office/drawing/2014/main" id="{FD0322E3-D70E-437A-886F-64584FDD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146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91C8504-249D-4E25-8C65-69EB7536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9146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Analyze impact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4237FBA-2130-4056-BD84-118D4739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2004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Affected requirements, artifacts, code, tests, runbooks, and token forecast.</a:t>
            </a:r>
          </a:p>
        </p:txBody>
      </p:sp>
      <p:sp>
        <p:nvSpPr>
          <p:cNvPr id="17" name="step-4-choose-strategy">
            <a:extLst xmlns:a="http://schemas.openxmlformats.org/drawingml/2006/main">
              <a:ext uri="{FF2B5EF4-FFF2-40B4-BE49-F238E27FC236}">
                <a16:creationId xmlns:a16="http://schemas.microsoft.com/office/drawing/2014/main" id="{61D13016-EC42-44F7-8E8B-913315B8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5513"/>
            <a:ext cx="5372100" cy="3100388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4">
            <a:extLst xmlns:a="http://schemas.openxmlformats.org/drawingml/2006/main">
              <a:ext uri="{FF2B5EF4-FFF2-40B4-BE49-F238E27FC236}">
                <a16:creationId xmlns:a16="http://schemas.microsoft.com/office/drawing/2014/main" id="{F9FB722B-ABD3-4F71-8780-C6143C91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4</a:t>
            </a:r>
          </a:p>
        </p:txBody>
      </p:sp>
      <p:sp>
        <p:nvSpPr>
          <p:cNvPr id="19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FDAAB95B-CEBE-4FD1-839F-950527E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191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Choose strategy</a:t>
            </a:r>
          </a:p>
        </p:txBody>
      </p:sp>
      <p:sp>
        <p:nvSpPr>
          <p:cNvPr id="20" name="step-body-4">
            <a:extLst xmlns:a="http://schemas.openxmlformats.org/drawingml/2006/main">
              <a:ext uri="{FF2B5EF4-FFF2-40B4-BE49-F238E27FC236}">
                <a16:creationId xmlns:a16="http://schemas.microsoft.com/office/drawing/2014/main" id="{55168301-F350-404E-B19B-6EEC5508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77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Alternatives, debate, human decision, refinery pre-check, rollback plan.</a:t>
            </a:r>
          </a:p>
        </p:txBody>
      </p:sp>
      <p:sp>
        <p:nvSpPr>
          <p:cNvPr id="21" name="step-5-approve-change">
            <a:extLst xmlns:a="http://schemas.openxmlformats.org/drawingml/2006/main">
              <a:ext uri="{FF2B5EF4-FFF2-40B4-BE49-F238E27FC236}">
                <a16:creationId xmlns:a16="http://schemas.microsoft.com/office/drawing/2014/main" id="{2D8AC148-C02B-4738-A6DA-8FBF2761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05513"/>
            <a:ext cx="5372100" cy="3100388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5">
            <a:extLst xmlns:a="http://schemas.openxmlformats.org/drawingml/2006/main">
              <a:ext uri="{FF2B5EF4-FFF2-40B4-BE49-F238E27FC236}">
                <a16:creationId xmlns:a16="http://schemas.microsoft.com/office/drawing/2014/main" id="{85DCF8D4-FF0B-4EAD-8A0F-3A4617B0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5</a:t>
            </a:r>
          </a:p>
        </p:txBody>
      </p:sp>
      <p:sp>
        <p:nvSpPr>
          <p:cNvPr id="23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621B1E01-14F4-42F4-B2C9-9443090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191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Approve change</a:t>
            </a:r>
          </a:p>
        </p:txBody>
      </p:sp>
      <p:sp>
        <p:nvSpPr>
          <p:cNvPr id="24" name="step-body-5">
            <a:extLst xmlns:a="http://schemas.openxmlformats.org/drawingml/2006/main">
              <a:ext uri="{FF2B5EF4-FFF2-40B4-BE49-F238E27FC236}">
                <a16:creationId xmlns:a16="http://schemas.microsoft.com/office/drawing/2014/main" id="{A9BC3217-1BFC-4521-833C-D073190E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77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Scope, token, schedule, quality, and risk impact before rebaseline.</a:t>
            </a:r>
          </a:p>
        </p:txBody>
      </p:sp>
      <p:sp>
        <p:nvSpPr>
          <p:cNvPr id="25" name="step-6-implement-and-replay">
            <a:extLst xmlns:a="http://schemas.openxmlformats.org/drawingml/2006/main">
              <a:ext uri="{FF2B5EF4-FFF2-40B4-BE49-F238E27FC236}">
                <a16:creationId xmlns:a16="http://schemas.microsoft.com/office/drawing/2014/main" id="{D78A0A75-3E3D-4627-82A2-94DC803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005513"/>
            <a:ext cx="5372100" cy="3100388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6">
            <a:extLst xmlns:a="http://schemas.openxmlformats.org/drawingml/2006/main">
              <a:ext uri="{FF2B5EF4-FFF2-40B4-BE49-F238E27FC236}">
                <a16:creationId xmlns:a16="http://schemas.microsoft.com/office/drawing/2014/main" id="{4F650522-BDAE-476B-ADBE-06DCF42A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6</a:t>
            </a:r>
          </a:p>
        </p:txBody>
      </p:sp>
      <p:sp>
        <p:nvSpPr>
          <p:cNvPr id="27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7E1438E7-1C1E-41C9-B6E1-573E78EB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191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Implement and replay</a:t>
            </a:r>
          </a:p>
        </p:txBody>
      </p:sp>
      <p:sp>
        <p:nvSpPr>
          <p:cNvPr id="28" name="step-body-6">
            <a:extLst xmlns:a="http://schemas.openxmlformats.org/drawingml/2006/main">
              <a:ext uri="{FF2B5EF4-FFF2-40B4-BE49-F238E27FC236}">
                <a16:creationId xmlns:a16="http://schemas.microsoft.com/office/drawing/2014/main" id="{BE9EEE6C-FB72-4606-AFF8-FEBF2BA4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477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Small change, regression evidence, artifact updates, handoff replay.</a:t>
            </a:r>
          </a:p>
        </p:txBody>
      </p:sp>
      <p:sp>
        <p:nvSpPr>
          <p:cNvPr id="29" name="brownfield-tree-footer">
            <a:extLst xmlns:a="http://schemas.openxmlformats.org/drawingml/2006/main">
              <a:ext uri="{FF2B5EF4-FFF2-40B4-BE49-F238E27FC236}">
                <a16:creationId xmlns:a16="http://schemas.microsoft.com/office/drawing/2014/main" id="{05575544-FD2D-4CD0-A485-DB398D0D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brownfield-tree-page">
            <a:extLst xmlns:a="http://schemas.openxmlformats.org/drawingml/2006/main">
              <a:ext uri="{FF2B5EF4-FFF2-40B4-BE49-F238E27FC236}">
                <a16:creationId xmlns:a16="http://schemas.microsoft.com/office/drawing/2014/main" id="{4545927B-8A04-44CC-B51F-1F07BCC8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208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21FC158-A259-4F13-B8CC-DD69C8C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interrogation-eyebrow">
            <a:extLst xmlns:a="http://schemas.openxmlformats.org/drawingml/2006/main">
              <a:ext uri="{FF2B5EF4-FFF2-40B4-BE49-F238E27FC236}">
                <a16:creationId xmlns:a16="http://schemas.microsoft.com/office/drawing/2014/main" id="{40C1DBF8-3B7F-4C59-9540-41101C70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SPEC DEVELOPMENT</a:t>
            </a:r>
          </a:p>
        </p:txBody>
      </p:sp>
      <p:sp>
        <p:nvSpPr>
          <p:cNvPr id="3" name="interrogation-title">
            <a:extLst xmlns:a="http://schemas.openxmlformats.org/drawingml/2006/main">
              <a:ext uri="{FF2B5EF4-FFF2-40B4-BE49-F238E27FC236}">
                <a16:creationId xmlns:a16="http://schemas.microsoft.com/office/drawing/2014/main" id="{215B6498-3D30-4D7B-86F2-4B681C8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115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AF8"/>
                </a:solidFill>
              </a:defRPr>
            </a:pPr>
            <a:r>
              <a:rPr sz="3300" b="1">
                <a:solidFill>
                  <a:srgbClr val="F7FAF8"/>
                </a:solidFill>
              </a:rPr>
              <a:t>The first product move is a governed customer interrogation protocol.</a:t>
            </a:r>
          </a:p>
        </p:txBody>
      </p:sp>
      <p:sp>
        <p:nvSpPr>
          <p:cNvPr id="4" name="interrogation-subtitle">
            <a:extLst xmlns:a="http://schemas.openxmlformats.org/drawingml/2006/main">
              <a:ext uri="{FF2B5EF4-FFF2-40B4-BE49-F238E27FC236}">
                <a16:creationId xmlns:a16="http://schemas.microsoft.com/office/drawing/2014/main" id="{267DB630-AD3D-4870-9C01-5CD264A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2077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Questions are not a checklist; they are rounds with answer capture, contradiction scoring, re-interrogation, and approval mechanics.</a:t>
            </a:r>
          </a:p>
        </p:txBody>
      </p:sp>
      <p:sp>
        <p:nvSpPr>
          <p:cNvPr id="5" name="step-R1-intent-and-outcomes">
            <a:extLst xmlns:a="http://schemas.openxmlformats.org/drawingml/2006/main">
              <a:ext uri="{FF2B5EF4-FFF2-40B4-BE49-F238E27FC236}">
                <a16:creationId xmlns:a16="http://schemas.microsoft.com/office/drawing/2014/main" id="{4D0B9EA2-FD3D-476F-9E3C-0032A563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5363"/>
            <a:ext cx="53721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R1">
            <a:extLst xmlns:a="http://schemas.openxmlformats.org/drawingml/2006/main">
              <a:ext uri="{FF2B5EF4-FFF2-40B4-BE49-F238E27FC236}">
                <a16:creationId xmlns:a16="http://schemas.microsoft.com/office/drawing/2014/main" id="{D9401BAC-58C5-44F4-90AF-25A43417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R1</a:t>
            </a:r>
          </a:p>
        </p:txBody>
      </p:sp>
      <p:sp>
        <p:nvSpPr>
          <p:cNvPr id="7" name="step-title-R1">
            <a:extLst xmlns:a="http://schemas.openxmlformats.org/drawingml/2006/main">
              <a:ext uri="{FF2B5EF4-FFF2-40B4-BE49-F238E27FC236}">
                <a16:creationId xmlns:a16="http://schemas.microsoft.com/office/drawing/2014/main" id="{5B0A8A61-C15E-4C48-9D2F-E913373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Intent and outcomes</a:t>
            </a:r>
          </a:p>
        </p:txBody>
      </p:sp>
      <p:sp>
        <p:nvSpPr>
          <p:cNvPr id="8" name="step-body-R1">
            <a:extLst xmlns:a="http://schemas.openxmlformats.org/drawingml/2006/main">
              <a:ext uri="{FF2B5EF4-FFF2-40B4-BE49-F238E27FC236}">
                <a16:creationId xmlns:a16="http://schemas.microsoft.com/office/drawing/2014/main" id="{2EDBFA0F-E0F5-46ED-AD3A-33EDBB5B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7685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Why now, stakeholders, success measures, exclusions.</a:t>
            </a:r>
          </a:p>
        </p:txBody>
      </p:sp>
      <p:sp>
        <p:nvSpPr>
          <p:cNvPr id="9" name="step-R2-users-and-workflows">
            <a:extLst xmlns:a="http://schemas.openxmlformats.org/drawingml/2006/main">
              <a:ext uri="{FF2B5EF4-FFF2-40B4-BE49-F238E27FC236}">
                <a16:creationId xmlns:a16="http://schemas.microsoft.com/office/drawing/2014/main" id="{20136E63-3226-4ACC-91C4-A1B8B5CE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05363"/>
            <a:ext cx="53721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R2">
            <a:extLst xmlns:a="http://schemas.openxmlformats.org/drawingml/2006/main">
              <a:ext uri="{FF2B5EF4-FFF2-40B4-BE49-F238E27FC236}">
                <a16:creationId xmlns:a16="http://schemas.microsoft.com/office/drawing/2014/main" id="{DD1E6A05-69D2-453B-B36F-C13519D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911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R2</a:t>
            </a:r>
          </a:p>
        </p:txBody>
      </p:sp>
      <p:sp>
        <p:nvSpPr>
          <p:cNvPr id="11" name="step-title-R2">
            <a:extLst xmlns:a="http://schemas.openxmlformats.org/drawingml/2006/main">
              <a:ext uri="{FF2B5EF4-FFF2-40B4-BE49-F238E27FC236}">
                <a16:creationId xmlns:a16="http://schemas.microsoft.com/office/drawing/2014/main" id="{26814F5B-ADD7-4F47-9CD0-7D83335A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911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Users and workflows</a:t>
            </a:r>
          </a:p>
        </p:txBody>
      </p:sp>
      <p:sp>
        <p:nvSpPr>
          <p:cNvPr id="12" name="step-body-R2">
            <a:extLst xmlns:a="http://schemas.openxmlformats.org/drawingml/2006/main">
              <a:ext uri="{FF2B5EF4-FFF2-40B4-BE49-F238E27FC236}">
                <a16:creationId xmlns:a16="http://schemas.microsoft.com/office/drawing/2014/main" id="{A9773414-48C0-4539-9775-3C30E49F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7685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Actors, journeys, edge cases, permissions, service levels.</a:t>
            </a:r>
          </a:p>
        </p:txBody>
      </p:sp>
      <p:sp>
        <p:nvSpPr>
          <p:cNvPr id="13" name="step-R3-constraints-and-risks">
            <a:extLst xmlns:a="http://schemas.openxmlformats.org/drawingml/2006/main">
              <a:ext uri="{FF2B5EF4-FFF2-40B4-BE49-F238E27FC236}">
                <a16:creationId xmlns:a16="http://schemas.microsoft.com/office/drawing/2014/main" id="{800F6523-C736-46AD-AEDF-7EB087BB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805363"/>
            <a:ext cx="53721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R3">
            <a:extLst xmlns:a="http://schemas.openxmlformats.org/drawingml/2006/main">
              <a:ext uri="{FF2B5EF4-FFF2-40B4-BE49-F238E27FC236}">
                <a16:creationId xmlns:a16="http://schemas.microsoft.com/office/drawing/2014/main" id="{70C0629F-CF5F-468F-BF84-4907E7F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9911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R3</a:t>
            </a:r>
          </a:p>
        </p:txBody>
      </p:sp>
      <p:sp>
        <p:nvSpPr>
          <p:cNvPr id="15" name="step-title-R3">
            <a:extLst xmlns:a="http://schemas.openxmlformats.org/drawingml/2006/main">
              <a:ext uri="{FF2B5EF4-FFF2-40B4-BE49-F238E27FC236}">
                <a16:creationId xmlns:a16="http://schemas.microsoft.com/office/drawing/2014/main" id="{BA7007E5-B251-4CF6-9154-224A6756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49911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Constraints and risks</a:t>
            </a:r>
          </a:p>
        </p:txBody>
      </p:sp>
      <p:sp>
        <p:nvSpPr>
          <p:cNvPr id="16" name="step-body-R3">
            <a:extLst xmlns:a="http://schemas.openxmlformats.org/drawingml/2006/main">
              <a:ext uri="{FF2B5EF4-FFF2-40B4-BE49-F238E27FC236}">
                <a16:creationId xmlns:a16="http://schemas.microsoft.com/office/drawing/2014/main" id="{533C1A62-E16F-4FEA-8269-8FD3F56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52768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Stack, compliance, security, data, schedule, budget assumptions.</a:t>
            </a:r>
          </a:p>
        </p:txBody>
      </p:sp>
      <p:sp>
        <p:nvSpPr>
          <p:cNvPr id="17" name="step-R4-contradiction-pass">
            <a:extLst xmlns:a="http://schemas.openxmlformats.org/drawingml/2006/main">
              <a:ext uri="{FF2B5EF4-FFF2-40B4-BE49-F238E27FC236}">
                <a16:creationId xmlns:a16="http://schemas.microsoft.com/office/drawing/2014/main" id="{CB18CE36-BB12-44A4-B2DA-95B1AACB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5513"/>
            <a:ext cx="53721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R4">
            <a:extLst xmlns:a="http://schemas.openxmlformats.org/drawingml/2006/main">
              <a:ext uri="{FF2B5EF4-FFF2-40B4-BE49-F238E27FC236}">
                <a16:creationId xmlns:a16="http://schemas.microsoft.com/office/drawing/2014/main" id="{CFA61EBA-4170-4198-8D71-C917BD0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R4</a:t>
            </a:r>
          </a:p>
        </p:txBody>
      </p:sp>
      <p:sp>
        <p:nvSpPr>
          <p:cNvPr id="19" name="step-title-R4">
            <a:extLst xmlns:a="http://schemas.openxmlformats.org/drawingml/2006/main">
              <a:ext uri="{FF2B5EF4-FFF2-40B4-BE49-F238E27FC236}">
                <a16:creationId xmlns:a16="http://schemas.microsoft.com/office/drawing/2014/main" id="{68BC47C6-B5BD-48DF-A474-E00DA6F4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191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Contradiction pass</a:t>
            </a:r>
          </a:p>
        </p:txBody>
      </p:sp>
      <p:sp>
        <p:nvSpPr>
          <p:cNvPr id="20" name="step-body-R4">
            <a:extLst xmlns:a="http://schemas.openxmlformats.org/drawingml/2006/main">
              <a:ext uri="{FF2B5EF4-FFF2-40B4-BE49-F238E27FC236}">
                <a16:creationId xmlns:a16="http://schemas.microsoft.com/office/drawing/2014/main" id="{498CE869-A23D-4DA3-AE49-109D1AF8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77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Conflicts, missing owners, ambiguous words, impossible constraints.</a:t>
            </a:r>
          </a:p>
        </p:txBody>
      </p:sp>
      <p:sp>
        <p:nvSpPr>
          <p:cNvPr id="21" name="step-R5-completeness-score">
            <a:extLst xmlns:a="http://schemas.openxmlformats.org/drawingml/2006/main">
              <a:ext uri="{FF2B5EF4-FFF2-40B4-BE49-F238E27FC236}">
                <a16:creationId xmlns:a16="http://schemas.microsoft.com/office/drawing/2014/main" id="{D1CBF1E5-FE46-4C24-81C6-908B76D2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05513"/>
            <a:ext cx="53721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R5">
            <a:extLst xmlns:a="http://schemas.openxmlformats.org/drawingml/2006/main">
              <a:ext uri="{FF2B5EF4-FFF2-40B4-BE49-F238E27FC236}">
                <a16:creationId xmlns:a16="http://schemas.microsoft.com/office/drawing/2014/main" id="{B0DB3913-5A2A-4AA8-AC23-0413A5F8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R5</a:t>
            </a:r>
          </a:p>
        </p:txBody>
      </p:sp>
      <p:sp>
        <p:nvSpPr>
          <p:cNvPr id="23" name="step-title-R5">
            <a:extLst xmlns:a="http://schemas.openxmlformats.org/drawingml/2006/main">
              <a:ext uri="{FF2B5EF4-FFF2-40B4-BE49-F238E27FC236}">
                <a16:creationId xmlns:a16="http://schemas.microsoft.com/office/drawing/2014/main" id="{E86F4DAC-1CF2-4719-8C59-6E7BE8D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191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Completeness score</a:t>
            </a:r>
          </a:p>
        </p:txBody>
      </p:sp>
      <p:sp>
        <p:nvSpPr>
          <p:cNvPr id="24" name="step-body-R5">
            <a:extLst xmlns:a="http://schemas.openxmlformats.org/drawingml/2006/main">
              <a:ext uri="{FF2B5EF4-FFF2-40B4-BE49-F238E27FC236}">
                <a16:creationId xmlns:a16="http://schemas.microsoft.com/office/drawing/2014/main" id="{D1A43F22-4A6D-4060-8630-CDE31E1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77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Branch coverage, unanswered areas, acceptance gaps, holdouts.</a:t>
            </a:r>
          </a:p>
        </p:txBody>
      </p:sp>
      <p:sp>
        <p:nvSpPr>
          <p:cNvPr id="25" name="step-R6-approval-gate">
            <a:extLst xmlns:a="http://schemas.openxmlformats.org/drawingml/2006/main">
              <a:ext uri="{FF2B5EF4-FFF2-40B4-BE49-F238E27FC236}">
                <a16:creationId xmlns:a16="http://schemas.microsoft.com/office/drawing/2014/main" id="{9AAE8556-978E-4139-B3BA-D79E925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005513"/>
            <a:ext cx="537210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R6">
            <a:extLst xmlns:a="http://schemas.openxmlformats.org/drawingml/2006/main">
              <a:ext uri="{FF2B5EF4-FFF2-40B4-BE49-F238E27FC236}">
                <a16:creationId xmlns:a16="http://schemas.microsoft.com/office/drawing/2014/main" id="{AB04AF0D-16B7-43A8-B431-C8D4AB3A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191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R6</a:t>
            </a:r>
          </a:p>
        </p:txBody>
      </p:sp>
      <p:sp>
        <p:nvSpPr>
          <p:cNvPr id="27" name="step-title-R6">
            <a:extLst xmlns:a="http://schemas.openxmlformats.org/drawingml/2006/main">
              <a:ext uri="{FF2B5EF4-FFF2-40B4-BE49-F238E27FC236}">
                <a16:creationId xmlns:a16="http://schemas.microsoft.com/office/drawing/2014/main" id="{271A7D1E-791C-4435-988B-1530AE0D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191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Approval gate</a:t>
            </a:r>
          </a:p>
        </p:txBody>
      </p:sp>
      <p:sp>
        <p:nvSpPr>
          <p:cNvPr id="28" name="step-body-R6">
            <a:extLst xmlns:a="http://schemas.openxmlformats.org/drawingml/2006/main">
              <a:ext uri="{FF2B5EF4-FFF2-40B4-BE49-F238E27FC236}">
                <a16:creationId xmlns:a16="http://schemas.microsoft.com/office/drawing/2014/main" id="{4F5F0D43-93F8-4610-84D3-558726E8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477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Accepted assumptions, deferred questions, signed baseline, next budget.</a:t>
            </a:r>
          </a:p>
        </p:txBody>
      </p:sp>
      <p:sp>
        <p:nvSpPr>
          <p:cNvPr id="29" name="interrogation-footer">
            <a:extLst xmlns:a="http://schemas.openxmlformats.org/drawingml/2006/main">
              <a:ext uri="{FF2B5EF4-FFF2-40B4-BE49-F238E27FC236}">
                <a16:creationId xmlns:a16="http://schemas.microsoft.com/office/drawing/2014/main" id="{D49B14F3-1183-4AA0-9672-9BF0C8FE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interrogation-page">
            <a:extLst xmlns:a="http://schemas.openxmlformats.org/drawingml/2006/main">
              <a:ext uri="{FF2B5EF4-FFF2-40B4-BE49-F238E27FC236}">
                <a16:creationId xmlns:a16="http://schemas.microsoft.com/office/drawing/2014/main" id="{265D44BE-30DA-45CD-9391-4298BF98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040707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CD8C0ED-8401-441B-92E6-6F9CCDCA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decomposition-eyebrow">
            <a:extLst xmlns:a="http://schemas.openxmlformats.org/drawingml/2006/main">
              <a:ext uri="{FF2B5EF4-FFF2-40B4-BE49-F238E27FC236}">
                <a16:creationId xmlns:a16="http://schemas.microsoft.com/office/drawing/2014/main" id="{B95822DB-6CB9-4593-9AC3-77936E52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RECURSIVE VALIDATION</a:t>
            </a:r>
          </a:p>
        </p:txBody>
      </p:sp>
      <p:sp>
        <p:nvSpPr>
          <p:cNvPr id="3" name="decomposition-title">
            <a:extLst xmlns:a="http://schemas.openxmlformats.org/drawingml/2006/main">
              <a:ext uri="{FF2B5EF4-FFF2-40B4-BE49-F238E27FC236}">
                <a16:creationId xmlns:a16="http://schemas.microsoft.com/office/drawing/2014/main" id="{4F079C58-8FBE-4303-8628-B6A90F60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7444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Specs decompose until each leaf can be tested, traced, and owned.</a:t>
            </a:r>
          </a:p>
        </p:txBody>
      </p:sp>
      <p:sp>
        <p:nvSpPr>
          <p:cNvPr id="4" name="decomposition-subtitle">
            <a:extLst xmlns:a="http://schemas.openxmlformats.org/drawingml/2006/main">
              <a:ext uri="{FF2B5EF4-FFF2-40B4-BE49-F238E27FC236}">
                <a16:creationId xmlns:a16="http://schemas.microsoft.com/office/drawing/2014/main" id="{BEFAABCD-DEB5-4F9D-A8D2-C00FB1B2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058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Completeness is validated branch by branch, with re-interview triggers when the tree exposes a gap.</a:t>
            </a:r>
          </a:p>
        </p:txBody>
      </p:sp>
      <p:sp>
        <p:nvSpPr>
          <p:cNvPr id="5" name="step-V-vision">
            <a:extLst xmlns:a="http://schemas.openxmlformats.org/drawingml/2006/main">
              <a:ext uri="{FF2B5EF4-FFF2-40B4-BE49-F238E27FC236}">
                <a16:creationId xmlns:a16="http://schemas.microsoft.com/office/drawing/2014/main" id="{67B12E7C-67B3-4F53-8D3B-34E2D5AD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763714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V">
            <a:extLst xmlns:a="http://schemas.openxmlformats.org/drawingml/2006/main">
              <a:ext uri="{FF2B5EF4-FFF2-40B4-BE49-F238E27FC236}">
                <a16:creationId xmlns:a16="http://schemas.microsoft.com/office/drawing/2014/main" id="{4E524763-84AF-419E-83ED-4CAE74F6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V</a:t>
            </a:r>
          </a:p>
        </p:txBody>
      </p:sp>
      <p:sp>
        <p:nvSpPr>
          <p:cNvPr id="7" name="step-title-V">
            <a:extLst xmlns:a="http://schemas.openxmlformats.org/drawingml/2006/main">
              <a:ext uri="{FF2B5EF4-FFF2-40B4-BE49-F238E27FC236}">
                <a16:creationId xmlns:a16="http://schemas.microsoft.com/office/drawing/2014/main" id="{7DB92B6A-03D7-4226-93F6-8FD952BD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3385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Vision</a:t>
            </a:r>
          </a:p>
        </p:txBody>
      </p:sp>
      <p:sp>
        <p:nvSpPr>
          <p:cNvPr id="8" name="step-body-V">
            <a:extLst xmlns:a="http://schemas.openxmlformats.org/drawingml/2006/main">
              <a:ext uri="{FF2B5EF4-FFF2-40B4-BE49-F238E27FC236}">
                <a16:creationId xmlns:a16="http://schemas.microsoft.com/office/drawing/2014/main" id="{F5D6B49D-5D74-4C10-A99B-3394862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9600"/>
            <a:ext cx="659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Business goal, buyer outcome, success definition.</a:t>
            </a:r>
          </a:p>
        </p:txBody>
      </p:sp>
      <p:sp>
        <p:nvSpPr>
          <p:cNvPr id="9" name="step-C-capabilities">
            <a:extLst xmlns:a="http://schemas.openxmlformats.org/drawingml/2006/main">
              <a:ext uri="{FF2B5EF4-FFF2-40B4-BE49-F238E27FC236}">
                <a16:creationId xmlns:a16="http://schemas.microsoft.com/office/drawing/2014/main" id="{64C1B84A-5D8E-4EAE-8544-CFEE6B50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763714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C">
            <a:extLst xmlns:a="http://schemas.openxmlformats.org/drawingml/2006/main">
              <a:ext uri="{FF2B5EF4-FFF2-40B4-BE49-F238E27FC236}">
                <a16:creationId xmlns:a16="http://schemas.microsoft.com/office/drawing/2014/main" id="{E3CB661C-4367-472D-A49E-45942672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C</a:t>
            </a:r>
          </a:p>
        </p:txBody>
      </p:sp>
      <p:sp>
        <p:nvSpPr>
          <p:cNvPr id="11" name="step-title-C">
            <a:extLst xmlns:a="http://schemas.openxmlformats.org/drawingml/2006/main">
              <a:ext uri="{FF2B5EF4-FFF2-40B4-BE49-F238E27FC236}">
                <a16:creationId xmlns:a16="http://schemas.microsoft.com/office/drawing/2014/main" id="{77F8D877-C873-48BF-BE9E-CC41BB3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4350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Capabilities</a:t>
            </a:r>
          </a:p>
        </p:txBody>
      </p:sp>
      <p:sp>
        <p:nvSpPr>
          <p:cNvPr id="12" name="step-body-C">
            <a:extLst xmlns:a="http://schemas.openxmlformats.org/drawingml/2006/main">
              <a:ext uri="{FF2B5EF4-FFF2-40B4-BE49-F238E27FC236}">
                <a16:creationId xmlns:a16="http://schemas.microsoft.com/office/drawing/2014/main" id="{45262694-220F-4BA0-BF5F-CD84727F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659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Major product abilities and user-visible value.</a:t>
            </a:r>
          </a:p>
        </p:txBody>
      </p:sp>
      <p:sp>
        <p:nvSpPr>
          <p:cNvPr id="13" name="step-B-branches">
            <a:extLst xmlns:a="http://schemas.openxmlformats.org/drawingml/2006/main">
              <a:ext uri="{FF2B5EF4-FFF2-40B4-BE49-F238E27FC236}">
                <a16:creationId xmlns:a16="http://schemas.microsoft.com/office/drawing/2014/main" id="{38B5BBA1-89AE-4E6F-B41B-2F6AE12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763714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B">
            <a:extLst xmlns:a="http://schemas.openxmlformats.org/drawingml/2006/main">
              <a:ext uri="{FF2B5EF4-FFF2-40B4-BE49-F238E27FC236}">
                <a16:creationId xmlns:a16="http://schemas.microsoft.com/office/drawing/2014/main" id="{558BAA18-7197-49EA-8886-400EC5C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53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B</a:t>
            </a:r>
          </a:p>
        </p:txBody>
      </p:sp>
      <p:sp>
        <p:nvSpPr>
          <p:cNvPr id="15" name="step-title-B">
            <a:extLst xmlns:a="http://schemas.openxmlformats.org/drawingml/2006/main">
              <a:ext uri="{FF2B5EF4-FFF2-40B4-BE49-F238E27FC236}">
                <a16:creationId xmlns:a16="http://schemas.microsoft.com/office/drawing/2014/main" id="{F3FF19A9-9D31-4B66-9BA7-181E817D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15315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Branches</a:t>
            </a:r>
          </a:p>
        </p:txBody>
      </p:sp>
      <p:sp>
        <p:nvSpPr>
          <p:cNvPr id="16" name="step-body-B">
            <a:extLst xmlns:a="http://schemas.openxmlformats.org/drawingml/2006/main">
              <a:ext uri="{FF2B5EF4-FFF2-40B4-BE49-F238E27FC236}">
                <a16:creationId xmlns:a16="http://schemas.microsoft.com/office/drawing/2014/main" id="{E120F369-8873-40FF-A887-8184535B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38900"/>
            <a:ext cx="659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Use cases, NFRs, security, data, operations, integrations.</a:t>
            </a:r>
          </a:p>
        </p:txBody>
      </p:sp>
      <p:sp>
        <p:nvSpPr>
          <p:cNvPr id="17" name="step-L-leaves">
            <a:extLst xmlns:a="http://schemas.openxmlformats.org/drawingml/2006/main">
              <a:ext uri="{FF2B5EF4-FFF2-40B4-BE49-F238E27FC236}">
                <a16:creationId xmlns:a16="http://schemas.microsoft.com/office/drawing/2014/main" id="{256EEAD5-D846-4A2B-A412-9CED1EE8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72300"/>
            <a:ext cx="7637145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L">
            <a:extLst xmlns:a="http://schemas.openxmlformats.org/drawingml/2006/main">
              <a:ext uri="{FF2B5EF4-FFF2-40B4-BE49-F238E27FC236}">
                <a16:creationId xmlns:a16="http://schemas.microsoft.com/office/drawing/2014/main" id="{F9FB5032-8072-4AEA-92F3-5BE3BE4C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62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L</a:t>
            </a:r>
          </a:p>
        </p:txBody>
      </p:sp>
      <p:sp>
        <p:nvSpPr>
          <p:cNvPr id="19" name="step-title-L">
            <a:extLst xmlns:a="http://schemas.openxmlformats.org/drawingml/2006/main">
              <a:ext uri="{FF2B5EF4-FFF2-40B4-BE49-F238E27FC236}">
                <a16:creationId xmlns:a16="http://schemas.microsoft.com/office/drawing/2014/main" id="{CB241A12-7077-4A21-8537-D7CC4D47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162800"/>
            <a:ext cx="659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Leaves</a:t>
            </a:r>
          </a:p>
        </p:txBody>
      </p:sp>
      <p:sp>
        <p:nvSpPr>
          <p:cNvPr id="20" name="step-body-L">
            <a:extLst xmlns:a="http://schemas.openxmlformats.org/drawingml/2006/main">
              <a:ext uri="{FF2B5EF4-FFF2-40B4-BE49-F238E27FC236}">
                <a16:creationId xmlns:a16="http://schemas.microsoft.com/office/drawing/2014/main" id="{17EBE6DE-DD62-4EDF-8103-D291EE38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448550"/>
            <a:ext cx="659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Atomic acceptance criteria with owner, proof method, and trace ID.</a:t>
            </a:r>
          </a:p>
        </p:txBody>
      </p:sp>
      <p:sp>
        <p:nvSpPr>
          <p:cNvPr id="21" name="dot-completeness-scoring">
            <a:extLst xmlns:a="http://schemas.openxmlformats.org/drawingml/2006/main">
              <a:ext uri="{FF2B5EF4-FFF2-40B4-BE49-F238E27FC236}">
                <a16:creationId xmlns:a16="http://schemas.microsoft.com/office/drawing/2014/main" id="{8949733C-E2E6-4B49-8B2E-B3F96F6C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291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2" name="statement-title-completeness-scoring">
            <a:extLst xmlns:a="http://schemas.openxmlformats.org/drawingml/2006/main">
              <a:ext uri="{FF2B5EF4-FFF2-40B4-BE49-F238E27FC236}">
                <a16:creationId xmlns:a16="http://schemas.microsoft.com/office/drawing/2014/main" id="{477A1D1C-1194-4FC0-8251-FC3AD0D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Completeness scoring</a:t>
            </a:r>
          </a:p>
        </p:txBody>
      </p:sp>
      <p:sp>
        <p:nvSpPr>
          <p:cNvPr id="23" name="statement-body-completeness-scoring">
            <a:extLst xmlns:a="http://schemas.openxmlformats.org/drawingml/2006/main">
              <a:ext uri="{FF2B5EF4-FFF2-40B4-BE49-F238E27FC236}">
                <a16:creationId xmlns:a16="http://schemas.microsoft.com/office/drawing/2014/main" id="{088569FE-FD67-4A86-BAB2-276CA82D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7124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Each branch has coverage score, open-question count, risk level, and approval state.</a:t>
            </a:r>
          </a:p>
        </p:txBody>
      </p:sp>
      <p:sp>
        <p:nvSpPr>
          <p:cNvPr id="24" name="dot-contradiction-scoring">
            <a:extLst xmlns:a="http://schemas.openxmlformats.org/drawingml/2006/main">
              <a:ext uri="{FF2B5EF4-FFF2-40B4-BE49-F238E27FC236}">
                <a16:creationId xmlns:a16="http://schemas.microsoft.com/office/drawing/2014/main" id="{71629A49-3FDB-4DE8-84AC-5B20D6D9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F26464"/>
            </a:solidFill>
            <a:prstDash val="solid"/>
          </a:ln>
        </p:spPr>
      </p:sp>
      <p:sp>
        <p:nvSpPr>
          <p:cNvPr id="25" name="statement-title-contradiction-scoring">
            <a:extLst xmlns:a="http://schemas.openxmlformats.org/drawingml/2006/main">
              <a:ext uri="{FF2B5EF4-FFF2-40B4-BE49-F238E27FC236}">
                <a16:creationId xmlns:a16="http://schemas.microsoft.com/office/drawing/2014/main" id="{9BCE0EFD-D271-48D3-BF68-CF2C801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1970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Contradiction scoring</a:t>
            </a:r>
          </a:p>
        </p:txBody>
      </p:sp>
      <p:sp>
        <p:nvSpPr>
          <p:cNvPr id="26" name="statement-body-contradiction-scoring">
            <a:extLst xmlns:a="http://schemas.openxmlformats.org/drawingml/2006/main">
              <a:ext uri="{FF2B5EF4-FFF2-40B4-BE49-F238E27FC236}">
                <a16:creationId xmlns:a16="http://schemas.microsoft.com/office/drawing/2014/main" id="{1ECB7252-8DFE-4CAC-B25B-F4ADED9B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435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Conflicting answers become explicit defects in the spec, not hidden interpretation.</a:t>
            </a:r>
          </a:p>
        </p:txBody>
      </p:sp>
      <p:sp>
        <p:nvSpPr>
          <p:cNvPr id="27" name="dot-holdout-scenarios">
            <a:extLst xmlns:a="http://schemas.openxmlformats.org/drawingml/2006/main">
              <a:ext uri="{FF2B5EF4-FFF2-40B4-BE49-F238E27FC236}">
                <a16:creationId xmlns:a16="http://schemas.microsoft.com/office/drawing/2014/main" id="{76AD267C-CEDC-4673-8316-6797036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019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28" name="statement-title-holdout-scenarios">
            <a:extLst xmlns:a="http://schemas.openxmlformats.org/drawingml/2006/main">
              <a:ext uri="{FF2B5EF4-FFF2-40B4-BE49-F238E27FC236}">
                <a16:creationId xmlns:a16="http://schemas.microsoft.com/office/drawing/2014/main" id="{D43E10C3-30EB-47C4-B85E-1990AC4F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007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Holdout scenarios</a:t>
            </a:r>
          </a:p>
        </p:txBody>
      </p:sp>
      <p:sp>
        <p:nvSpPr>
          <p:cNvPr id="29" name="statement-body-holdout-scenarios">
            <a:extLst xmlns:a="http://schemas.openxmlformats.org/drawingml/2006/main">
              <a:ext uri="{FF2B5EF4-FFF2-40B4-BE49-F238E27FC236}">
                <a16:creationId xmlns:a16="http://schemas.microsoft.com/office/drawing/2014/main" id="{E8AC7143-F0EE-49F8-B2E5-14CF6E68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24600"/>
            <a:ext cx="695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Examples reserved for transfer tests prevent overfitting to a single simulation app.</a:t>
            </a:r>
          </a:p>
        </p:txBody>
      </p:sp>
      <p:sp>
        <p:nvSpPr>
          <p:cNvPr id="30" name="dot-trace-closure">
            <a:extLst xmlns:a="http://schemas.openxmlformats.org/drawingml/2006/main">
              <a:ext uri="{FF2B5EF4-FFF2-40B4-BE49-F238E27FC236}">
                <a16:creationId xmlns:a16="http://schemas.microsoft.com/office/drawing/2014/main" id="{3F3DBFBF-D4D8-4C45-A1E6-14C5D5D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70104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1" name="statement-title-trace-closure">
            <a:extLst xmlns:a="http://schemas.openxmlformats.org/drawingml/2006/main">
              <a:ext uri="{FF2B5EF4-FFF2-40B4-BE49-F238E27FC236}">
                <a16:creationId xmlns:a16="http://schemas.microsoft.com/office/drawing/2014/main" id="{99D72D22-2C74-4891-BA07-A297CF6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9913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Trace closure</a:t>
            </a:r>
          </a:p>
        </p:txBody>
      </p:sp>
      <p:sp>
        <p:nvSpPr>
          <p:cNvPr id="32" name="statement-body-trace-closure">
            <a:extLst xmlns:a="http://schemas.openxmlformats.org/drawingml/2006/main">
              <a:ext uri="{FF2B5EF4-FFF2-40B4-BE49-F238E27FC236}">
                <a16:creationId xmlns:a16="http://schemas.microsoft.com/office/drawing/2014/main" id="{48717E03-690A-4397-A2F2-01D51AB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315200"/>
            <a:ext cx="6648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Every accepted leaf links back to answer IDs and forward to tests and artifacts.</a:t>
            </a:r>
          </a:p>
        </p:txBody>
      </p:sp>
      <p:sp>
        <p:nvSpPr>
          <p:cNvPr id="33" name="decomposition-footer">
            <a:extLst xmlns:a="http://schemas.openxmlformats.org/drawingml/2006/main">
              <a:ext uri="{FF2B5EF4-FFF2-40B4-BE49-F238E27FC236}">
                <a16:creationId xmlns:a16="http://schemas.microsoft.com/office/drawing/2014/main" id="{8739E036-59D9-41D2-8C34-91EF548A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4" name="decomposition-page">
            <a:extLst xmlns:a="http://schemas.openxmlformats.org/drawingml/2006/main">
              <a:ext uri="{FF2B5EF4-FFF2-40B4-BE49-F238E27FC236}">
                <a16:creationId xmlns:a16="http://schemas.microsoft.com/office/drawing/2014/main" id="{7FFAEFA4-3C8E-4ABC-87ED-A0E505E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72591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3985C85-42A9-4D70-A082-B2F99D05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assurance-eyebrow">
            <a:extLst xmlns:a="http://schemas.openxmlformats.org/drawingml/2006/main">
              <a:ext uri="{FF2B5EF4-FFF2-40B4-BE49-F238E27FC236}">
                <a16:creationId xmlns:a16="http://schemas.microsoft.com/office/drawing/2014/main" id="{68966D38-9BB6-4C52-9FF1-CE47713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SOFTWARE ASSURANCE</a:t>
            </a:r>
          </a:p>
        </p:txBody>
      </p:sp>
      <p:sp>
        <p:nvSpPr>
          <p:cNvPr id="3" name="assurance-title">
            <a:extLst xmlns:a="http://schemas.openxmlformats.org/drawingml/2006/main">
              <a:ext uri="{FF2B5EF4-FFF2-40B4-BE49-F238E27FC236}">
                <a16:creationId xmlns:a16="http://schemas.microsoft.com/office/drawing/2014/main" id="{F363246C-35E5-4DEE-8D7B-4FB62DD9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91821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assurance layer is evidence, not vibes.</a:t>
            </a:r>
          </a:p>
        </p:txBody>
      </p:sp>
      <p:sp>
        <p:nvSpPr>
          <p:cNvPr id="4" name="assurance-subtitle">
            <a:extLst xmlns:a="http://schemas.openxmlformats.org/drawingml/2006/main">
              <a:ext uri="{FF2B5EF4-FFF2-40B4-BE49-F238E27FC236}">
                <a16:creationId xmlns:a16="http://schemas.microsoft.com/office/drawing/2014/main" id="{3B3D88E5-0D8B-4189-AC3D-CBB271D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1449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Every meaningful artifact is accepted only after traceability, verification, expert review, and residual-risk recording.</a:t>
            </a:r>
          </a:p>
        </p:txBody>
      </p:sp>
      <p:sp>
        <p:nvSpPr>
          <p:cNvPr id="5" name="metric-value-expert-roles-per-material-node">
            <a:extLst xmlns:a="http://schemas.openxmlformats.org/drawingml/2006/main">
              <a:ext uri="{FF2B5EF4-FFF2-40B4-BE49-F238E27FC236}">
                <a16:creationId xmlns:a16="http://schemas.microsoft.com/office/drawing/2014/main" id="{6ECA3DCA-64F2-4CEB-B79D-88338A2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735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DD4BF"/>
                </a:solidFill>
              </a:defRPr>
            </a:pPr>
            <a:r>
              <a:rPr sz="5250" b="1">
                <a:solidFill>
                  <a:srgbClr val="2DD4BF"/>
                </a:solidFill>
              </a:rPr>
              <a:t>3</a:t>
            </a:r>
          </a:p>
        </p:txBody>
      </p:sp>
      <p:sp>
        <p:nvSpPr>
          <p:cNvPr id="6" name="metric-label-expert-roles-per-material-node">
            <a:extLst xmlns:a="http://schemas.openxmlformats.org/drawingml/2006/main">
              <a:ext uri="{FF2B5EF4-FFF2-40B4-BE49-F238E27FC236}">
                <a16:creationId xmlns:a16="http://schemas.microsoft.com/office/drawing/2014/main" id="{6BBF105D-0AA7-4E7C-921C-0BADD78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457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expert roles per material node</a:t>
            </a:r>
          </a:p>
        </p:txBody>
      </p:sp>
      <p:sp>
        <p:nvSpPr>
          <p:cNvPr id="7" name="metric-value-rubric-checks-per-reviewer">
            <a:extLst xmlns:a="http://schemas.openxmlformats.org/drawingml/2006/main">
              <a:ext uri="{FF2B5EF4-FFF2-40B4-BE49-F238E27FC236}">
                <a16:creationId xmlns:a16="http://schemas.microsoft.com/office/drawing/2014/main" id="{2DEF8B9F-B315-41EA-90F6-55B47C10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735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6D17E"/>
                </a:solidFill>
              </a:defRPr>
            </a:pPr>
            <a:r>
              <a:rPr sz="5250" b="1">
                <a:solidFill>
                  <a:srgbClr val="46D17E"/>
                </a:solidFill>
              </a:rPr>
              <a:t>15</a:t>
            </a:r>
          </a:p>
        </p:txBody>
      </p:sp>
      <p:sp>
        <p:nvSpPr>
          <p:cNvPr id="8" name="metric-label-rubric-checks-per-reviewer">
            <a:extLst xmlns:a="http://schemas.openxmlformats.org/drawingml/2006/main">
              <a:ext uri="{FF2B5EF4-FFF2-40B4-BE49-F238E27FC236}">
                <a16:creationId xmlns:a16="http://schemas.microsoft.com/office/drawing/2014/main" id="{80B981EA-B107-4794-9BD9-09381D11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rubric checks per reviewer</a:t>
            </a:r>
          </a:p>
        </p:txBody>
      </p:sp>
      <p:sp>
        <p:nvSpPr>
          <p:cNvPr id="9" name="metric-value-mandatory-trace-closure-target">
            <a:extLst xmlns:a="http://schemas.openxmlformats.org/drawingml/2006/main">
              <a:ext uri="{FF2B5EF4-FFF2-40B4-BE49-F238E27FC236}">
                <a16:creationId xmlns:a16="http://schemas.microsoft.com/office/drawing/2014/main" id="{D4167545-2535-49A9-B4B0-BFFC9BA9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48450"/>
            <a:ext cx="735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2B84B"/>
                </a:solidFill>
              </a:defRPr>
            </a:pPr>
            <a:r>
              <a:rPr sz="5250" b="1">
                <a:solidFill>
                  <a:srgbClr val="F2B84B"/>
                </a:solidFill>
              </a:rPr>
              <a:t>100%</a:t>
            </a:r>
          </a:p>
        </p:txBody>
      </p:sp>
      <p:sp>
        <p:nvSpPr>
          <p:cNvPr id="10" name="metric-label-mandatory-trace-closure-target">
            <a:extLst xmlns:a="http://schemas.openxmlformats.org/drawingml/2006/main">
              <a:ext uri="{FF2B5EF4-FFF2-40B4-BE49-F238E27FC236}">
                <a16:creationId xmlns:a16="http://schemas.microsoft.com/office/drawing/2014/main" id="{70340670-A73D-4B7E-B906-2C523390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7235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mandatory trace closure target</a:t>
            </a:r>
          </a:p>
        </p:txBody>
      </p:sp>
      <p:sp>
        <p:nvSpPr>
          <p:cNvPr id="11" name="dot-reviews-are-governed-objects">
            <a:extLst xmlns:a="http://schemas.openxmlformats.org/drawingml/2006/main">
              <a:ext uri="{FF2B5EF4-FFF2-40B4-BE49-F238E27FC236}">
                <a16:creationId xmlns:a16="http://schemas.microsoft.com/office/drawing/2014/main" id="{50864263-0BE6-4092-93CD-4994CAC0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863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2" name="statement-title-reviews-are-governed-objects">
            <a:extLst xmlns:a="http://schemas.openxmlformats.org/drawingml/2006/main">
              <a:ext uri="{FF2B5EF4-FFF2-40B4-BE49-F238E27FC236}">
                <a16:creationId xmlns:a16="http://schemas.microsoft.com/office/drawing/2014/main" id="{6D24E720-115D-4158-A606-66F332AB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67250"/>
            <a:ext cx="830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Reviews are governed objects.</a:t>
            </a:r>
          </a:p>
        </p:txBody>
      </p:sp>
      <p:sp>
        <p:nvSpPr>
          <p:cNvPr id="13" name="statement-body-reviews-are-governed-objects">
            <a:extLst xmlns:a="http://schemas.openxmlformats.org/drawingml/2006/main">
              <a:ext uri="{FF2B5EF4-FFF2-40B4-BE49-F238E27FC236}">
                <a16:creationId xmlns:a16="http://schemas.microsoft.com/office/drawing/2014/main" id="{D8FD197F-DD2D-4A3A-86A5-C20F021A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91100"/>
            <a:ext cx="7029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Independent scores, cross-critique, failed-point fixes, and certificates are recorded.</a:t>
            </a:r>
          </a:p>
        </p:txBody>
      </p:sp>
      <p:sp>
        <p:nvSpPr>
          <p:cNvPr id="14" name="dot-traceability-is-bidirectional">
            <a:extLst xmlns:a="http://schemas.openxmlformats.org/drawingml/2006/main">
              <a:ext uri="{FF2B5EF4-FFF2-40B4-BE49-F238E27FC236}">
                <a16:creationId xmlns:a16="http://schemas.microsoft.com/office/drawing/2014/main" id="{5AB91506-1F77-4B4C-BAA7-C4558E1F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864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5" name="statement-title-traceability-is-bidirectional">
            <a:extLst xmlns:a="http://schemas.openxmlformats.org/drawingml/2006/main">
              <a:ext uri="{FF2B5EF4-FFF2-40B4-BE49-F238E27FC236}">
                <a16:creationId xmlns:a16="http://schemas.microsoft.com/office/drawing/2014/main" id="{66325C09-5883-46CD-840E-9AB68700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86400"/>
            <a:ext cx="830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Traceability is bidirectional.</a:t>
            </a:r>
          </a:p>
        </p:txBody>
      </p:sp>
      <p:sp>
        <p:nvSpPr>
          <p:cNvPr id="16" name="statement-body-traceability-is-bidirectional">
            <a:extLst xmlns:a="http://schemas.openxmlformats.org/drawingml/2006/main">
              <a:ext uri="{FF2B5EF4-FFF2-40B4-BE49-F238E27FC236}">
                <a16:creationId xmlns:a16="http://schemas.microsoft.com/office/drawing/2014/main" id="{ED70AF67-C42F-4E86-8AC4-7B8CFE36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10250"/>
            <a:ext cx="849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Customer answers link forward to requirements, artifacts, decisions, code, tests, risks, and handoffs.</a:t>
            </a:r>
          </a:p>
        </p:txBody>
      </p:sp>
      <p:sp>
        <p:nvSpPr>
          <p:cNvPr id="17" name="dot-templates-are-never-proof">
            <a:extLst xmlns:a="http://schemas.openxmlformats.org/drawingml/2006/main">
              <a:ext uri="{FF2B5EF4-FFF2-40B4-BE49-F238E27FC236}">
                <a16:creationId xmlns:a16="http://schemas.microsoft.com/office/drawing/2014/main" id="{9BD29000-7937-4BB3-BDAA-D6294810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2865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8" name="statement-title-templates-are-never-proof">
            <a:extLst xmlns:a="http://schemas.openxmlformats.org/drawingml/2006/main">
              <a:ext uri="{FF2B5EF4-FFF2-40B4-BE49-F238E27FC236}">
                <a16:creationId xmlns:a16="http://schemas.microsoft.com/office/drawing/2014/main" id="{57D16FD6-39F4-419A-A288-38F13A8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286500"/>
            <a:ext cx="830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Templates are never proof.</a:t>
            </a:r>
          </a:p>
        </p:txBody>
      </p:sp>
      <p:sp>
        <p:nvSpPr>
          <p:cNvPr id="19" name="statement-body-templates-are-never-proof">
            <a:extLst xmlns:a="http://schemas.openxmlformats.org/drawingml/2006/main">
              <a:ext uri="{FF2B5EF4-FFF2-40B4-BE49-F238E27FC236}">
                <a16:creationId xmlns:a16="http://schemas.microsoft.com/office/drawing/2014/main" id="{B68B7517-6E07-423F-9C5A-5F196CE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10350"/>
            <a:ext cx="765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Validators distinguish blank templates from instantiated evidence and signed gate records.</a:t>
            </a:r>
          </a:p>
        </p:txBody>
      </p:sp>
      <p:sp>
        <p:nvSpPr>
          <p:cNvPr id="20" name="assurance-footer">
            <a:extLst xmlns:a="http://schemas.openxmlformats.org/drawingml/2006/main">
              <a:ext uri="{FF2B5EF4-FFF2-40B4-BE49-F238E27FC236}">
                <a16:creationId xmlns:a16="http://schemas.microsoft.com/office/drawing/2014/main" id="{7EF8B2A2-86F3-4816-8FB3-1A985385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1" name="assurance-page">
            <a:extLst xmlns:a="http://schemas.openxmlformats.org/drawingml/2006/main">
              <a:ext uri="{FF2B5EF4-FFF2-40B4-BE49-F238E27FC236}">
                <a16:creationId xmlns:a16="http://schemas.microsoft.com/office/drawing/2014/main" id="{4A0FB47B-26AE-4FA4-8121-22842216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85866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0FE29B-D31B-4ADA-8FE1-01CE3F9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review-depth-eyebrow">
            <a:extLst xmlns:a="http://schemas.openxmlformats.org/drawingml/2006/main">
              <a:ext uri="{FF2B5EF4-FFF2-40B4-BE49-F238E27FC236}">
                <a16:creationId xmlns:a16="http://schemas.microsoft.com/office/drawing/2014/main" id="{29B88260-1C6C-47B5-AB23-7A1F3879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QUALITY REFINERY</a:t>
            </a:r>
          </a:p>
        </p:txBody>
      </p:sp>
      <p:sp>
        <p:nvSpPr>
          <p:cNvPr id="3" name="review-depth-title">
            <a:extLst xmlns:a="http://schemas.openxmlformats.org/drawingml/2006/main">
              <a:ext uri="{FF2B5EF4-FFF2-40B4-BE49-F238E27FC236}">
                <a16:creationId xmlns:a16="http://schemas.microsoft.com/office/drawing/2014/main" id="{C2401DE2-4A45-4967-94ED-3970EF44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611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Expert review is a governed work product, not a comment thread.</a:t>
            </a:r>
          </a:p>
        </p:txBody>
      </p:sp>
      <p:sp>
        <p:nvSpPr>
          <p:cNvPr id="4" name="review-depth-subtitle">
            <a:extLst xmlns:a="http://schemas.openxmlformats.org/drawingml/2006/main">
              <a:ext uri="{FF2B5EF4-FFF2-40B4-BE49-F238E27FC236}">
                <a16:creationId xmlns:a16="http://schemas.microsoft.com/office/drawing/2014/main" id="{CA87487B-26B5-47BF-A07E-19E153C7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325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review loop creates records that can be inspected, replayed, and used to improve the factory itself.</a:t>
            </a:r>
          </a:p>
        </p:txBody>
      </p:sp>
      <p:sp>
        <p:nvSpPr>
          <p:cNvPr id="5" name="dot-independent-proposals">
            <a:extLst xmlns:a="http://schemas.openxmlformats.org/drawingml/2006/main">
              <a:ext uri="{FF2B5EF4-FFF2-40B4-BE49-F238E27FC236}">
                <a16:creationId xmlns:a16="http://schemas.microsoft.com/office/drawing/2014/main" id="{82CC164C-D97E-491E-AF42-0CA5C424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6" name="statement-title-independent-proposals">
            <a:extLst xmlns:a="http://schemas.openxmlformats.org/drawingml/2006/main">
              <a:ext uri="{FF2B5EF4-FFF2-40B4-BE49-F238E27FC236}">
                <a16:creationId xmlns:a16="http://schemas.microsoft.com/office/drawing/2014/main" id="{5A7EF9F4-04FC-45E9-8142-633143BD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Independent proposals</a:t>
            </a:r>
          </a:p>
        </p:txBody>
      </p:sp>
      <p:sp>
        <p:nvSpPr>
          <p:cNvPr id="7" name="statement-body-independent-proposals">
            <a:extLst xmlns:a="http://schemas.openxmlformats.org/drawingml/2006/main">
              <a:ext uri="{FF2B5EF4-FFF2-40B4-BE49-F238E27FC236}">
                <a16:creationId xmlns:a16="http://schemas.microsoft.com/office/drawing/2014/main" id="{A1BC26FB-FB17-41DC-83C4-43F67D4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6496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Each expert first thinks alone: solution, assumptions, risks, evidence needed.</a:t>
            </a:r>
          </a:p>
        </p:txBody>
      </p:sp>
      <p:sp>
        <p:nvSpPr>
          <p:cNvPr id="8" name="dot-cross-critique">
            <a:extLst xmlns:a="http://schemas.openxmlformats.org/drawingml/2006/main">
              <a:ext uri="{FF2B5EF4-FFF2-40B4-BE49-F238E27FC236}">
                <a16:creationId xmlns:a16="http://schemas.microsoft.com/office/drawing/2014/main" id="{6B11A03C-9AC5-4F7A-8CE2-869F92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9" name="statement-title-cross-critique">
            <a:extLst xmlns:a="http://schemas.openxmlformats.org/drawingml/2006/main">
              <a:ext uri="{FF2B5EF4-FFF2-40B4-BE49-F238E27FC236}">
                <a16:creationId xmlns:a16="http://schemas.microsoft.com/office/drawing/2014/main" id="{05E98192-6896-49AF-8F23-B7B03AE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Cross critique</a:t>
            </a:r>
          </a:p>
        </p:txBody>
      </p:sp>
      <p:sp>
        <p:nvSpPr>
          <p:cNvPr id="10" name="statement-body-cross-critique">
            <a:extLst xmlns:a="http://schemas.openxmlformats.org/drawingml/2006/main">
              <a:ext uri="{FF2B5EF4-FFF2-40B4-BE49-F238E27FC236}">
                <a16:creationId xmlns:a16="http://schemas.microsoft.com/office/drawing/2014/main" id="{F9C0FC23-FF55-4BB5-92A4-7D235435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81650"/>
            <a:ext cx="6076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Experts critique the other proposals using role-specific 15-point rubrics.</a:t>
            </a:r>
          </a:p>
        </p:txBody>
      </p:sp>
      <p:sp>
        <p:nvSpPr>
          <p:cNvPr id="11" name="dot-synthesis-and-vote">
            <a:extLst xmlns:a="http://schemas.openxmlformats.org/drawingml/2006/main">
              <a:ext uri="{FF2B5EF4-FFF2-40B4-BE49-F238E27FC236}">
                <a16:creationId xmlns:a16="http://schemas.microsoft.com/office/drawing/2014/main" id="{59C06914-282C-496F-BA1F-855D842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2" name="statement-title-synthesis-and-vote">
            <a:extLst xmlns:a="http://schemas.openxmlformats.org/drawingml/2006/main">
              <a:ext uri="{FF2B5EF4-FFF2-40B4-BE49-F238E27FC236}">
                <a16:creationId xmlns:a16="http://schemas.microsoft.com/office/drawing/2014/main" id="{02D7BA93-6212-4B93-9215-A5F26E2A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22935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Synthesis and vote</a:t>
            </a:r>
          </a:p>
        </p:txBody>
      </p:sp>
      <p:sp>
        <p:nvSpPr>
          <p:cNvPr id="13" name="statement-body-synthesis-and-vote">
            <a:extLst xmlns:a="http://schemas.openxmlformats.org/drawingml/2006/main">
              <a:ext uri="{FF2B5EF4-FFF2-40B4-BE49-F238E27FC236}">
                <a16:creationId xmlns:a16="http://schemas.microsoft.com/office/drawing/2014/main" id="{7124ADD3-67C6-4739-A0CA-FB791F8C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53200"/>
            <a:ext cx="668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Moderator creates alternatives, recommends one, records votes and rationale.</a:t>
            </a:r>
          </a:p>
        </p:txBody>
      </p:sp>
      <p:sp>
        <p:nvSpPr>
          <p:cNvPr id="14" name="dot-fix-loop">
            <a:extLst xmlns:a="http://schemas.openxmlformats.org/drawingml/2006/main">
              <a:ext uri="{FF2B5EF4-FFF2-40B4-BE49-F238E27FC236}">
                <a16:creationId xmlns:a16="http://schemas.microsoft.com/office/drawing/2014/main" id="{8BB868BB-F904-4133-BE89-18AEA6EF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104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F26464"/>
            </a:solidFill>
            <a:prstDash val="solid"/>
          </a:ln>
        </p:spPr>
      </p:sp>
      <p:sp>
        <p:nvSpPr>
          <p:cNvPr id="15" name="statement-title-fix-loop">
            <a:extLst xmlns:a="http://schemas.openxmlformats.org/drawingml/2006/main">
              <a:ext uri="{FF2B5EF4-FFF2-40B4-BE49-F238E27FC236}">
                <a16:creationId xmlns:a16="http://schemas.microsoft.com/office/drawing/2014/main" id="{8642DF06-1B0A-4CAC-BFBF-710B077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9135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Fix loop</a:t>
            </a:r>
          </a:p>
        </p:txBody>
      </p:sp>
      <p:sp>
        <p:nvSpPr>
          <p:cNvPr id="16" name="statement-body-fix-loop">
            <a:extLst xmlns:a="http://schemas.openxmlformats.org/drawingml/2006/main">
              <a:ext uri="{FF2B5EF4-FFF2-40B4-BE49-F238E27FC236}">
                <a16:creationId xmlns:a16="http://schemas.microsoft.com/office/drawing/2014/main" id="{CD32ECB3-27F0-465B-BAC6-68580EA6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315200"/>
            <a:ext cx="6153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Failed rubric points create required fixes and evidence before certificate.</a:t>
            </a:r>
          </a:p>
        </p:txBody>
      </p:sp>
      <p:sp>
        <p:nvSpPr>
          <p:cNvPr id="17" name="metric-value-minimum-expert-perspectives">
            <a:extLst xmlns:a="http://schemas.openxmlformats.org/drawingml/2006/main">
              <a:ext uri="{FF2B5EF4-FFF2-40B4-BE49-F238E27FC236}">
                <a16:creationId xmlns:a16="http://schemas.microsoft.com/office/drawing/2014/main" id="{6AB87E57-91C2-40BB-8033-A6E5BC1A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14800"/>
            <a:ext cx="803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DD4BF"/>
                </a:solidFill>
              </a:defRPr>
            </a:pPr>
            <a:r>
              <a:rPr sz="5250" b="1">
                <a:solidFill>
                  <a:srgbClr val="2DD4BF"/>
                </a:solidFill>
              </a:rPr>
              <a:t>3</a:t>
            </a:r>
          </a:p>
        </p:txBody>
      </p:sp>
      <p:sp>
        <p:nvSpPr>
          <p:cNvPr id="18" name="metric-label-minimum-expert-perspectives">
            <a:extLst xmlns:a="http://schemas.openxmlformats.org/drawingml/2006/main">
              <a:ext uri="{FF2B5EF4-FFF2-40B4-BE49-F238E27FC236}">
                <a16:creationId xmlns:a16="http://schemas.microsoft.com/office/drawing/2014/main" id="{9D7C4BA1-E25A-4366-8F05-19AD8D88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57750"/>
            <a:ext cx="2419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minimum expert perspectives</a:t>
            </a:r>
          </a:p>
        </p:txBody>
      </p:sp>
      <p:sp>
        <p:nvSpPr>
          <p:cNvPr id="19" name="metric-value-minimum-checks-per-material-artifact">
            <a:extLst xmlns:a="http://schemas.openxmlformats.org/drawingml/2006/main">
              <a:ext uri="{FF2B5EF4-FFF2-40B4-BE49-F238E27FC236}">
                <a16:creationId xmlns:a16="http://schemas.microsoft.com/office/drawing/2014/main" id="{33AAE04B-D0B9-4CC3-BA62-173B695E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62600"/>
            <a:ext cx="803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6D17E"/>
                </a:solidFill>
              </a:defRPr>
            </a:pPr>
            <a:r>
              <a:rPr sz="5250" b="1">
                <a:solidFill>
                  <a:srgbClr val="46D17E"/>
                </a:solidFill>
              </a:rPr>
              <a:t>45</a:t>
            </a:r>
          </a:p>
        </p:txBody>
      </p:sp>
      <p:sp>
        <p:nvSpPr>
          <p:cNvPr id="20" name="metric-label-minimum-checks-per-material-artifact">
            <a:extLst xmlns:a="http://schemas.openxmlformats.org/drawingml/2006/main">
              <a:ext uri="{FF2B5EF4-FFF2-40B4-BE49-F238E27FC236}">
                <a16:creationId xmlns:a16="http://schemas.microsoft.com/office/drawing/2014/main" id="{95602E0F-1B9C-4DEC-92A6-5A25CDAD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286500"/>
            <a:ext cx="3028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minimum checks per material artifact</a:t>
            </a:r>
          </a:p>
        </p:txBody>
      </p:sp>
      <p:sp>
        <p:nvSpPr>
          <p:cNvPr id="21" name="metric-value-silent-failures-allowed-through-a-gate">
            <a:extLst xmlns:a="http://schemas.openxmlformats.org/drawingml/2006/main">
              <a:ext uri="{FF2B5EF4-FFF2-40B4-BE49-F238E27FC236}">
                <a16:creationId xmlns:a16="http://schemas.microsoft.com/office/drawing/2014/main" id="{712DF2DF-52E3-4B8D-AC7D-FAD63264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800850"/>
            <a:ext cx="803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2B84B"/>
                </a:solidFill>
              </a:defRPr>
            </a:pPr>
            <a:r>
              <a:rPr sz="5250" b="1">
                <a:solidFill>
                  <a:srgbClr val="F2B84B"/>
                </a:solidFill>
              </a:rPr>
              <a:t>0</a:t>
            </a:r>
          </a:p>
        </p:txBody>
      </p:sp>
      <p:sp>
        <p:nvSpPr>
          <p:cNvPr id="22" name="metric-label-silent-failures-allowed-through-a-gate">
            <a:extLst xmlns:a="http://schemas.openxmlformats.org/drawingml/2006/main">
              <a:ext uri="{FF2B5EF4-FFF2-40B4-BE49-F238E27FC236}">
                <a16:creationId xmlns:a16="http://schemas.microsoft.com/office/drawing/2014/main" id="{AF57A29A-D7A6-4311-A427-C69BC1EE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524750"/>
            <a:ext cx="2990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silent failures allowed through a gate</a:t>
            </a:r>
          </a:p>
        </p:txBody>
      </p:sp>
      <p:sp>
        <p:nvSpPr>
          <p:cNvPr id="23" name="review-depth-footer">
            <a:extLst xmlns:a="http://schemas.openxmlformats.org/drawingml/2006/main">
              <a:ext uri="{FF2B5EF4-FFF2-40B4-BE49-F238E27FC236}">
                <a16:creationId xmlns:a16="http://schemas.microsoft.com/office/drawing/2014/main" id="{B1E14CEF-4967-4B4C-8481-A6EBAB65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4" name="review-depth-page">
            <a:extLst xmlns:a="http://schemas.openxmlformats.org/drawingml/2006/main">
              <a:ext uri="{FF2B5EF4-FFF2-40B4-BE49-F238E27FC236}">
                <a16:creationId xmlns:a16="http://schemas.microsoft.com/office/drawing/2014/main" id="{FED97A4D-B451-4300-A2B1-F34BE9A9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19797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AB5194B-6B7A-40A9-B957-1471131F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governance-eyebrow">
            <a:extLst xmlns:a="http://schemas.openxmlformats.org/drawingml/2006/main">
              <a:ext uri="{FF2B5EF4-FFF2-40B4-BE49-F238E27FC236}">
                <a16:creationId xmlns:a16="http://schemas.microsoft.com/office/drawing/2014/main" id="{96AA9E6E-26B3-474F-9AF6-C1185326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CLIENT GOVERNANCE</a:t>
            </a:r>
          </a:p>
        </p:txBody>
      </p:sp>
      <p:sp>
        <p:nvSpPr>
          <p:cNvPr id="3" name="governance-title">
            <a:extLst xmlns:a="http://schemas.openxmlformats.org/drawingml/2006/main">
              <a:ext uri="{FF2B5EF4-FFF2-40B4-BE49-F238E27FC236}">
                <a16:creationId xmlns:a16="http://schemas.microsoft.com/office/drawing/2014/main" id="{E8D68EEF-825F-4AE8-AD81-66375364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8872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engagement model feels like a serious outsourcing relationship.</a:t>
            </a:r>
          </a:p>
        </p:txBody>
      </p:sp>
      <p:sp>
        <p:nvSpPr>
          <p:cNvPr id="4" name="governance-subtitle">
            <a:extLst xmlns:a="http://schemas.openxmlformats.org/drawingml/2006/main">
              <a:ext uri="{FF2B5EF4-FFF2-40B4-BE49-F238E27FC236}">
                <a16:creationId xmlns:a16="http://schemas.microsoft.com/office/drawing/2014/main" id="{B5DBC4FB-5031-4F7B-BF65-A832F29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65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Scope, checkpoints, approvals, token budgets, change requests, and acceptance gates are first-class product objects.</a:t>
            </a:r>
          </a:p>
        </p:txBody>
      </p:sp>
      <p:sp>
        <p:nvSpPr>
          <p:cNvPr id="5" name="dot-token-swag-before-material-spend">
            <a:extLst xmlns:a="http://schemas.openxmlformats.org/drawingml/2006/main">
              <a:ext uri="{FF2B5EF4-FFF2-40B4-BE49-F238E27FC236}">
                <a16:creationId xmlns:a16="http://schemas.microsoft.com/office/drawing/2014/main" id="{5F9720EE-F8AB-416B-B5D1-B65CC945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" name="statement-title-token-swag-before-material-spend">
            <a:extLst xmlns:a="http://schemas.openxmlformats.org/drawingml/2006/main">
              <a:ext uri="{FF2B5EF4-FFF2-40B4-BE49-F238E27FC236}">
                <a16:creationId xmlns:a16="http://schemas.microsoft.com/office/drawing/2014/main" id="{B5E74F36-82BB-4360-A3C8-1A175DF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Token SWAG before material spend</a:t>
            </a:r>
          </a:p>
        </p:txBody>
      </p:sp>
      <p:sp>
        <p:nvSpPr>
          <p:cNvPr id="7" name="statement-body-token-swag-before-material-spend">
            <a:extLst xmlns:a="http://schemas.openxmlformats.org/drawingml/2006/main">
              <a:ext uri="{FF2B5EF4-FFF2-40B4-BE49-F238E27FC236}">
                <a16:creationId xmlns:a16="http://schemas.microsoft.com/office/drawing/2014/main" id="{EEA620BB-97EE-4D2B-AB6F-D1BC03B7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811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Low, mid, and high ranges include assumptions, exclusions, confidence, and reapproval triggers.</a:t>
            </a:r>
          </a:p>
        </p:txBody>
      </p:sp>
      <p:sp>
        <p:nvSpPr>
          <p:cNvPr id="8" name="dot-checkpoint-cadence-by-default">
            <a:extLst xmlns:a="http://schemas.openxmlformats.org/drawingml/2006/main">
              <a:ext uri="{FF2B5EF4-FFF2-40B4-BE49-F238E27FC236}">
                <a16:creationId xmlns:a16="http://schemas.microsoft.com/office/drawing/2014/main" id="{7D497F6E-04AB-47A9-86C5-31ECF9B8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statement-title-checkpoint-cadence-by-default">
            <a:extLst xmlns:a="http://schemas.openxmlformats.org/drawingml/2006/main">
              <a:ext uri="{FF2B5EF4-FFF2-40B4-BE49-F238E27FC236}">
                <a16:creationId xmlns:a16="http://schemas.microsoft.com/office/drawing/2014/main" id="{88895447-F900-43AF-AE2B-DC4C855E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Checkpoint cadence by default</a:t>
            </a:r>
          </a:p>
        </p:txBody>
      </p:sp>
      <p:sp>
        <p:nvSpPr>
          <p:cNvPr id="10" name="statement-body-checkpoint-cadence-by-default">
            <a:extLst xmlns:a="http://schemas.openxmlformats.org/drawingml/2006/main">
              <a:ext uri="{FF2B5EF4-FFF2-40B4-BE49-F238E27FC236}">
                <a16:creationId xmlns:a16="http://schemas.microsoft.com/office/drawing/2014/main" id="{4B136486-FAFA-401C-B390-A4AD6D6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43600"/>
            <a:ext cx="7067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Iteration objectives, acceptance criteria, and evidence state are visible to the client.</a:t>
            </a:r>
          </a:p>
        </p:txBody>
      </p:sp>
      <p:sp>
        <p:nvSpPr>
          <p:cNvPr id="11" name="dot-change-management-is-explicit">
            <a:extLst xmlns:a="http://schemas.openxmlformats.org/drawingml/2006/main">
              <a:ext uri="{FF2B5EF4-FFF2-40B4-BE49-F238E27FC236}">
                <a16:creationId xmlns:a16="http://schemas.microsoft.com/office/drawing/2014/main" id="{55ABC9D8-5A38-4403-BDFF-5061DAC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13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2" name="statement-title-change-management-is-explicit">
            <a:extLst xmlns:a="http://schemas.openxmlformats.org/drawingml/2006/main">
              <a:ext uri="{FF2B5EF4-FFF2-40B4-BE49-F238E27FC236}">
                <a16:creationId xmlns:a16="http://schemas.microsoft.com/office/drawing/2014/main" id="{4E355BCE-C7C9-4F0A-83DF-776A290A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72250"/>
            <a:ext cx="771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Change management is explicit</a:t>
            </a:r>
          </a:p>
        </p:txBody>
      </p:sp>
      <p:sp>
        <p:nvSpPr>
          <p:cNvPr id="13" name="statement-body-change-management-is-explicit">
            <a:extLst xmlns:a="http://schemas.openxmlformats.org/drawingml/2006/main">
              <a:ext uri="{FF2B5EF4-FFF2-40B4-BE49-F238E27FC236}">
                <a16:creationId xmlns:a16="http://schemas.microsoft.com/office/drawing/2014/main" id="{2CDCAD59-76E4-4655-91C9-9B3A48B8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96100"/>
            <a:ext cx="758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Scope, token, schedule, quality, and risk impacts are reviewed before the run rebaselines.</a:t>
            </a:r>
          </a:p>
        </p:txBody>
      </p:sp>
      <p:sp>
        <p:nvSpPr>
          <p:cNvPr id="14" name="governance-record">
            <a:extLst xmlns:a="http://schemas.openxmlformats.org/drawingml/2006/main">
              <a:ext uri="{FF2B5EF4-FFF2-40B4-BE49-F238E27FC236}">
                <a16:creationId xmlns:a16="http://schemas.microsoft.com/office/drawing/2014/main" id="{E7736162-8A13-414F-A5D7-A794F546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781550"/>
            <a:ext cx="8048625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5" name="governance-record-title">
            <a:extLst xmlns:a="http://schemas.openxmlformats.org/drawingml/2006/main">
              <a:ext uri="{FF2B5EF4-FFF2-40B4-BE49-F238E27FC236}">
                <a16:creationId xmlns:a16="http://schemas.microsoft.com/office/drawing/2014/main" id="{AD2BFD42-57BC-457C-B3D4-E8F0E244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67300"/>
            <a:ext cx="741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8"/>
                </a:solidFill>
              </a:defRPr>
            </a:pPr>
            <a:r>
              <a:rPr sz="2250" b="1">
                <a:solidFill>
                  <a:srgbClr val="F7FAF8"/>
                </a:solidFill>
              </a:rPr>
              <a:t>Engagement Governance Record</a:t>
            </a:r>
          </a:p>
        </p:txBody>
      </p:sp>
      <p:sp>
        <p:nvSpPr>
          <p:cNvPr id="16" name="governance-record-rule">
            <a:extLst xmlns:a="http://schemas.openxmlformats.org/drawingml/2006/main">
              <a:ext uri="{FF2B5EF4-FFF2-40B4-BE49-F238E27FC236}">
                <a16:creationId xmlns:a16="http://schemas.microsoft.com/office/drawing/2014/main" id="{ECA4BFF7-6CF5-4D12-A114-DDA8E7C1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245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17" name="governance-record-row-1">
            <a:extLst xmlns:a="http://schemas.openxmlformats.org/drawingml/2006/main">
              <a:ext uri="{FF2B5EF4-FFF2-40B4-BE49-F238E27FC236}">
                <a16:creationId xmlns:a16="http://schemas.microsoft.com/office/drawing/2014/main" id="{D01E6671-810F-4D90-B86C-BDE7AC2A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15000"/>
            <a:ext cx="741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client owner | dark-factory owner | scope baseline</a:t>
            </a:r>
          </a:p>
        </p:txBody>
      </p:sp>
      <p:sp>
        <p:nvSpPr>
          <p:cNvPr id="18" name="governance-record-row-2">
            <a:extLst xmlns:a="http://schemas.openxmlformats.org/drawingml/2006/main">
              <a:ext uri="{FF2B5EF4-FFF2-40B4-BE49-F238E27FC236}">
                <a16:creationId xmlns:a16="http://schemas.microsoft.com/office/drawing/2014/main" id="{6266FBB7-898A-4C3F-855C-AF9A982D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096000"/>
            <a:ext cx="741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token SWAG | checkpoint plan | iteration approvals</a:t>
            </a:r>
          </a:p>
        </p:txBody>
      </p:sp>
      <p:sp>
        <p:nvSpPr>
          <p:cNvPr id="19" name="governance-record-row-3">
            <a:extLst xmlns:a="http://schemas.openxmlformats.org/drawingml/2006/main">
              <a:ext uri="{FF2B5EF4-FFF2-40B4-BE49-F238E27FC236}">
                <a16:creationId xmlns:a16="http://schemas.microsoft.com/office/drawing/2014/main" id="{C80AF0C2-5418-439E-96B3-827B2502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477000"/>
            <a:ext cx="741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change-control policy | acceptance gate | risk rebaseline</a:t>
            </a:r>
          </a:p>
        </p:txBody>
      </p:sp>
      <p:sp>
        <p:nvSpPr>
          <p:cNvPr id="20" name="governance-footer">
            <a:extLst xmlns:a="http://schemas.openxmlformats.org/drawingml/2006/main">
              <a:ext uri="{FF2B5EF4-FFF2-40B4-BE49-F238E27FC236}">
                <a16:creationId xmlns:a16="http://schemas.microsoft.com/office/drawing/2014/main" id="{E13E051D-B670-4B15-8FCD-038B5E1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1" name="governance-page">
            <a:extLst xmlns:a="http://schemas.openxmlformats.org/drawingml/2006/main">
              <a:ext uri="{FF2B5EF4-FFF2-40B4-BE49-F238E27FC236}">
                <a16:creationId xmlns:a16="http://schemas.microsoft.com/office/drawing/2014/main" id="{FE09C857-6E83-4302-9598-6FC162B2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748280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1E22D91-3574-4C7C-927F-2943BFD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token-economics-eyebrow">
            <a:extLst xmlns:a="http://schemas.openxmlformats.org/drawingml/2006/main">
              <a:ext uri="{FF2B5EF4-FFF2-40B4-BE49-F238E27FC236}">
                <a16:creationId xmlns:a16="http://schemas.microsoft.com/office/drawing/2014/main" id="{A039692F-C68D-468C-80DA-FA8DEF2D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TOKEN ECONOMICS</a:t>
            </a:r>
          </a:p>
        </p:txBody>
      </p:sp>
      <p:sp>
        <p:nvSpPr>
          <p:cNvPr id="3" name="token-economics-title">
            <a:extLst xmlns:a="http://schemas.openxmlformats.org/drawingml/2006/main">
              <a:ext uri="{FF2B5EF4-FFF2-40B4-BE49-F238E27FC236}">
                <a16:creationId xmlns:a16="http://schemas.microsoft.com/office/drawing/2014/main" id="{BD7C8EFC-5986-4B4A-91E6-DC02DE1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99631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Tokens become the managed delivery budget.</a:t>
            </a:r>
          </a:p>
        </p:txBody>
      </p:sp>
      <p:sp>
        <p:nvSpPr>
          <p:cNvPr id="4" name="token-economics-subtitle">
            <a:extLst xmlns:a="http://schemas.openxmlformats.org/drawingml/2006/main">
              <a:ext uri="{FF2B5EF4-FFF2-40B4-BE49-F238E27FC236}">
                <a16:creationId xmlns:a16="http://schemas.microsoft.com/office/drawing/2014/main" id="{687AAA23-9987-4A74-A937-0D2E3741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224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product does not promise magical certainty; it makes uncertainty visible, bounded, approved, and re-estimated as the work decomposes.</a:t>
            </a:r>
          </a:p>
        </p:txBody>
      </p:sp>
      <p:sp>
        <p:nvSpPr>
          <p:cNvPr id="5" name="step-1-estimate">
            <a:extLst xmlns:a="http://schemas.openxmlformats.org/drawingml/2006/main">
              <a:ext uri="{FF2B5EF4-FFF2-40B4-BE49-F238E27FC236}">
                <a16:creationId xmlns:a16="http://schemas.microsoft.com/office/drawing/2014/main" id="{1E90A57B-AA1E-4FFF-BE8B-0B31969B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3981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7609A518-7352-4BF4-9EDA-DACF4BD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5A8F9B74-410B-4FDF-879E-D113A94F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959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Estimate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27AF4B9-C588-4744-8A7E-8D380956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817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Low/mid/high token SWAG, assumptions, exclusions, confidence.</a:t>
            </a:r>
          </a:p>
        </p:txBody>
      </p:sp>
      <p:sp>
        <p:nvSpPr>
          <p:cNvPr id="9" name="step-2-approve">
            <a:extLst xmlns:a="http://schemas.openxmlformats.org/drawingml/2006/main">
              <a:ext uri="{FF2B5EF4-FFF2-40B4-BE49-F238E27FC236}">
                <a16:creationId xmlns:a16="http://schemas.microsoft.com/office/drawing/2014/main" id="{A4DBC078-9C26-469E-A4DF-FB31A19E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05450"/>
            <a:ext cx="3981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301704F7-1820-459B-85FA-2F1789F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959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2D7AB227-4599-4DBB-99B2-A2D26F2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959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Approve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5791AC0-7776-42DB-869A-EAEBCB36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817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Client approves material token spend before governed work proceeds.</a:t>
            </a:r>
          </a:p>
        </p:txBody>
      </p:sp>
      <p:sp>
        <p:nvSpPr>
          <p:cNvPr id="13" name="step-3-burn-and-observe">
            <a:extLst xmlns:a="http://schemas.openxmlformats.org/drawingml/2006/main">
              <a:ext uri="{FF2B5EF4-FFF2-40B4-BE49-F238E27FC236}">
                <a16:creationId xmlns:a16="http://schemas.microsoft.com/office/drawing/2014/main" id="{B0D8B097-8803-4FC7-81EA-D596FB4F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05450"/>
            <a:ext cx="3981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3">
            <a:extLst xmlns:a="http://schemas.openxmlformats.org/drawingml/2006/main">
              <a:ext uri="{FF2B5EF4-FFF2-40B4-BE49-F238E27FC236}">
                <a16:creationId xmlns:a16="http://schemas.microsoft.com/office/drawing/2014/main" id="{34034D73-5F92-490A-A0A2-C48BDFC3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959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9BBDE52-F4BF-4030-85E9-80E1E0E4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959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Burn and observe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98A8FAF-5742-4C49-9ABB-C75FDA70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817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Work ledger and checkpoints expose forecast drift and evidence state.</a:t>
            </a:r>
          </a:p>
        </p:txBody>
      </p:sp>
      <p:sp>
        <p:nvSpPr>
          <p:cNvPr id="17" name="step-4-rebaseline">
            <a:extLst xmlns:a="http://schemas.openxmlformats.org/drawingml/2006/main">
              <a:ext uri="{FF2B5EF4-FFF2-40B4-BE49-F238E27FC236}">
                <a16:creationId xmlns:a16="http://schemas.microsoft.com/office/drawing/2014/main" id="{B6A6834F-B246-46B4-9C76-107C4653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505450"/>
            <a:ext cx="3981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4">
            <a:extLst xmlns:a="http://schemas.openxmlformats.org/drawingml/2006/main">
              <a:ext uri="{FF2B5EF4-FFF2-40B4-BE49-F238E27FC236}">
                <a16:creationId xmlns:a16="http://schemas.microsoft.com/office/drawing/2014/main" id="{7F42EF6C-0BC1-4399-A83F-99BE873E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6959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4</a:t>
            </a:r>
          </a:p>
        </p:txBody>
      </p:sp>
      <p:sp>
        <p:nvSpPr>
          <p:cNvPr id="19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A1A49E9C-82B4-4C17-8E49-3A3EAA1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6959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Rebaseline</a:t>
            </a:r>
          </a:p>
        </p:txBody>
      </p:sp>
      <p:sp>
        <p:nvSpPr>
          <p:cNvPr id="20" name="step-body-4">
            <a:extLst xmlns:a="http://schemas.openxmlformats.org/drawingml/2006/main">
              <a:ext uri="{FF2B5EF4-FFF2-40B4-BE49-F238E27FC236}">
                <a16:creationId xmlns:a16="http://schemas.microsoft.com/office/drawing/2014/main" id="{8931869E-571B-4B1E-86FB-ED037734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9817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Scope, token, schedule, quality, or risk drift triggers change approval.</a:t>
            </a:r>
          </a:p>
        </p:txBody>
      </p:sp>
      <p:sp>
        <p:nvSpPr>
          <p:cNvPr id="21" name="token-economics-footer">
            <a:extLst xmlns:a="http://schemas.openxmlformats.org/drawingml/2006/main">
              <a:ext uri="{FF2B5EF4-FFF2-40B4-BE49-F238E27FC236}">
                <a16:creationId xmlns:a16="http://schemas.microsoft.com/office/drawing/2014/main" id="{AF4F984B-EB7F-4F93-8763-65A8FF5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2" name="token-economics-page">
            <a:extLst xmlns:a="http://schemas.openxmlformats.org/drawingml/2006/main">
              <a:ext uri="{FF2B5EF4-FFF2-40B4-BE49-F238E27FC236}">
                <a16:creationId xmlns:a16="http://schemas.microsoft.com/office/drawing/2014/main" id="{2A6A1E4B-0489-4C9D-9839-C6E6C06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1559058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8212841-42F3-4E23-88DD-F46DDBD0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project-book-eyebrow">
            <a:extLst xmlns:a="http://schemas.openxmlformats.org/drawingml/2006/main">
              <a:ext uri="{FF2B5EF4-FFF2-40B4-BE49-F238E27FC236}">
                <a16:creationId xmlns:a16="http://schemas.microsoft.com/office/drawing/2014/main" id="{4750A8DA-8FD2-4DF9-9706-9F8F1443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PROJECT BOOK</a:t>
            </a:r>
          </a:p>
        </p:txBody>
      </p:sp>
      <p:sp>
        <p:nvSpPr>
          <p:cNvPr id="3" name="project-book-title">
            <a:extLst xmlns:a="http://schemas.openxmlformats.org/drawingml/2006/main">
              <a:ext uri="{FF2B5EF4-FFF2-40B4-BE49-F238E27FC236}">
                <a16:creationId xmlns:a16="http://schemas.microsoft.com/office/drawing/2014/main" id="{600929C8-D046-4BE3-A5AB-BF9F9A83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592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output is a living SDLC project book, not a pile of files.</a:t>
            </a:r>
          </a:p>
        </p:txBody>
      </p:sp>
      <p:sp>
        <p:nvSpPr>
          <p:cNvPr id="4" name="project-book-subtitle">
            <a:extLst xmlns:a="http://schemas.openxmlformats.org/drawingml/2006/main">
              <a:ext uri="{FF2B5EF4-FFF2-40B4-BE49-F238E27FC236}">
                <a16:creationId xmlns:a16="http://schemas.microsoft.com/office/drawing/2014/main" id="{E8275FE6-D32D-4F0D-8D42-A1D2FE07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1353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Artifacts can be combined or split, but required information must be current, traceable, reviewed, and versioned.</a:t>
            </a:r>
          </a:p>
        </p:txBody>
      </p:sp>
      <p:sp>
        <p:nvSpPr>
          <p:cNvPr id="5" name="step-GOV-governance">
            <a:extLst xmlns:a="http://schemas.openxmlformats.org/drawingml/2006/main">
              <a:ext uri="{FF2B5EF4-FFF2-40B4-BE49-F238E27FC236}">
                <a16:creationId xmlns:a16="http://schemas.microsoft.com/office/drawing/2014/main" id="{2A5DEC34-71D1-49B4-A133-BDE0375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372100" cy="3243263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GOV">
            <a:extLst xmlns:a="http://schemas.openxmlformats.org/drawingml/2006/main">
              <a:ext uri="{FF2B5EF4-FFF2-40B4-BE49-F238E27FC236}">
                <a16:creationId xmlns:a16="http://schemas.microsoft.com/office/drawing/2014/main" id="{CC534A83-468F-4FE6-9FBD-0E960229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GOV</a:t>
            </a:r>
          </a:p>
        </p:txBody>
      </p:sp>
      <p:sp>
        <p:nvSpPr>
          <p:cNvPr id="7" name="step-title-GOV">
            <a:extLst xmlns:a="http://schemas.openxmlformats.org/drawingml/2006/main">
              <a:ext uri="{FF2B5EF4-FFF2-40B4-BE49-F238E27FC236}">
                <a16:creationId xmlns:a16="http://schemas.microsoft.com/office/drawing/2014/main" id="{5BCCC932-1216-4F06-9B5E-DB5BD54F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90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Governance</a:t>
            </a:r>
          </a:p>
        </p:txBody>
      </p:sp>
      <p:sp>
        <p:nvSpPr>
          <p:cNvPr id="8" name="step-body-GOV">
            <a:extLst xmlns:a="http://schemas.openxmlformats.org/drawingml/2006/main">
              <a:ext uri="{FF2B5EF4-FFF2-40B4-BE49-F238E27FC236}">
                <a16:creationId xmlns:a16="http://schemas.microsoft.com/office/drawing/2014/main" id="{86417CD1-5507-4834-AF03-88E8B8AE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Charter, standards tailoring, RASCI, risk, change, quality, AI governance.</a:t>
            </a:r>
          </a:p>
        </p:txBody>
      </p:sp>
      <p:sp>
        <p:nvSpPr>
          <p:cNvPr id="9" name="step-REQ-requirements">
            <a:extLst xmlns:a="http://schemas.openxmlformats.org/drawingml/2006/main">
              <a:ext uri="{FF2B5EF4-FFF2-40B4-BE49-F238E27FC236}">
                <a16:creationId xmlns:a16="http://schemas.microsoft.com/office/drawing/2014/main" id="{CADE46C5-FAB1-4679-A7EE-6E912220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372100" cy="3243263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REQ">
            <a:extLst xmlns:a="http://schemas.openxmlformats.org/drawingml/2006/main">
              <a:ext uri="{FF2B5EF4-FFF2-40B4-BE49-F238E27FC236}">
                <a16:creationId xmlns:a16="http://schemas.microsoft.com/office/drawing/2014/main" id="{B76FE19C-8852-44D0-B517-871657AE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REQ</a:t>
            </a:r>
          </a:p>
        </p:txBody>
      </p:sp>
      <p:sp>
        <p:nvSpPr>
          <p:cNvPr id="11" name="step-title-REQ">
            <a:extLst xmlns:a="http://schemas.openxmlformats.org/drawingml/2006/main">
              <a:ext uri="{FF2B5EF4-FFF2-40B4-BE49-F238E27FC236}">
                <a16:creationId xmlns:a16="http://schemas.microsoft.com/office/drawing/2014/main" id="{A523444F-8260-4CD7-A575-C3775CA7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Requirements</a:t>
            </a:r>
          </a:p>
        </p:txBody>
      </p:sp>
      <p:sp>
        <p:nvSpPr>
          <p:cNvPr id="12" name="step-body-REQ">
            <a:extLst xmlns:a="http://schemas.openxmlformats.org/drawingml/2006/main">
              <a:ext uri="{FF2B5EF4-FFF2-40B4-BE49-F238E27FC236}">
                <a16:creationId xmlns:a16="http://schemas.microsoft.com/office/drawing/2014/main" id="{0A06C580-B7C5-4006-95DC-AA843EA0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BRD, SRS, NFR catalog, scenarios, assumptions, interrogation, decomposition.</a:t>
            </a:r>
          </a:p>
        </p:txBody>
      </p:sp>
      <p:sp>
        <p:nvSpPr>
          <p:cNvPr id="13" name="step-ARC-architecture">
            <a:extLst xmlns:a="http://schemas.openxmlformats.org/drawingml/2006/main">
              <a:ext uri="{FF2B5EF4-FFF2-40B4-BE49-F238E27FC236}">
                <a16:creationId xmlns:a16="http://schemas.microsoft.com/office/drawing/2014/main" id="{C727D9C4-E252-43B8-8E69-B90E281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400300"/>
            <a:ext cx="5372100" cy="3243263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ARC">
            <a:extLst xmlns:a="http://schemas.openxmlformats.org/drawingml/2006/main">
              <a:ext uri="{FF2B5EF4-FFF2-40B4-BE49-F238E27FC236}">
                <a16:creationId xmlns:a16="http://schemas.microsoft.com/office/drawing/2014/main" id="{10B03061-413C-4227-939F-EDA34A90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ARC</a:t>
            </a:r>
          </a:p>
        </p:txBody>
      </p:sp>
      <p:sp>
        <p:nvSpPr>
          <p:cNvPr id="15" name="step-title-ARC">
            <a:extLst xmlns:a="http://schemas.openxmlformats.org/drawingml/2006/main">
              <a:ext uri="{FF2B5EF4-FFF2-40B4-BE49-F238E27FC236}">
                <a16:creationId xmlns:a16="http://schemas.microsoft.com/office/drawing/2014/main" id="{1699C683-F374-451E-8B00-887E998F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590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Architecture</a:t>
            </a:r>
          </a:p>
        </p:txBody>
      </p:sp>
      <p:sp>
        <p:nvSpPr>
          <p:cNvPr id="16" name="step-body-ARC">
            <a:extLst xmlns:a="http://schemas.openxmlformats.org/drawingml/2006/main">
              <a:ext uri="{FF2B5EF4-FFF2-40B4-BE49-F238E27FC236}">
                <a16:creationId xmlns:a16="http://schemas.microsoft.com/office/drawing/2014/main" id="{052CD671-0A84-45BF-BFC9-2A731CF9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876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HLD, LLD, ADRs, APIs, data model, threat model, observability design.</a:t>
            </a:r>
          </a:p>
        </p:txBody>
      </p:sp>
      <p:sp>
        <p:nvSpPr>
          <p:cNvPr id="17" name="step-MDA/DDD-models">
            <a:extLst xmlns:a="http://schemas.openxmlformats.org/drawingml/2006/main">
              <a:ext uri="{FF2B5EF4-FFF2-40B4-BE49-F238E27FC236}">
                <a16:creationId xmlns:a16="http://schemas.microsoft.com/office/drawing/2014/main" id="{0F9CECE3-4723-4F91-B62A-236AD68D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4063"/>
            <a:ext cx="5372100" cy="3271838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MDA/DDD">
            <a:extLst xmlns:a="http://schemas.openxmlformats.org/drawingml/2006/main">
              <a:ext uri="{FF2B5EF4-FFF2-40B4-BE49-F238E27FC236}">
                <a16:creationId xmlns:a16="http://schemas.microsoft.com/office/drawing/2014/main" id="{8EC613CD-D476-438D-9375-1F6FED6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41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MDA/DDD</a:t>
            </a:r>
          </a:p>
        </p:txBody>
      </p:sp>
      <p:sp>
        <p:nvSpPr>
          <p:cNvPr id="19" name="step-title-MDA/DDD">
            <a:extLst xmlns:a="http://schemas.openxmlformats.org/drawingml/2006/main">
              <a:ext uri="{FF2B5EF4-FFF2-40B4-BE49-F238E27FC236}">
                <a16:creationId xmlns:a16="http://schemas.microsoft.com/office/drawing/2014/main" id="{5B733234-497F-4947-8873-6CF2396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19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Models</a:t>
            </a:r>
          </a:p>
        </p:txBody>
      </p:sp>
      <p:sp>
        <p:nvSpPr>
          <p:cNvPr id="20" name="step-body-MDA/DDD">
            <a:extLst xmlns:a="http://schemas.openxmlformats.org/drawingml/2006/main">
              <a:ext uri="{FF2B5EF4-FFF2-40B4-BE49-F238E27FC236}">
                <a16:creationId xmlns:a16="http://schemas.microsoft.com/office/drawing/2014/main" id="{F38787FB-20D1-47FC-89C4-B7F8794A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05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CIM, PIM, PSM, transformations, bounded contexts, aggregates, ACLs.</a:t>
            </a:r>
          </a:p>
        </p:txBody>
      </p:sp>
      <p:sp>
        <p:nvSpPr>
          <p:cNvPr id="21" name="step-V&amp;V-verification">
            <a:extLst xmlns:a="http://schemas.openxmlformats.org/drawingml/2006/main">
              <a:ext uri="{FF2B5EF4-FFF2-40B4-BE49-F238E27FC236}">
                <a16:creationId xmlns:a16="http://schemas.microsoft.com/office/drawing/2014/main" id="{790D704B-AF3B-46B8-9DA6-2679DF0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34063"/>
            <a:ext cx="5372100" cy="3271838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V&amp;V">
            <a:extLst xmlns:a="http://schemas.openxmlformats.org/drawingml/2006/main">
              <a:ext uri="{FF2B5EF4-FFF2-40B4-BE49-F238E27FC236}">
                <a16:creationId xmlns:a16="http://schemas.microsoft.com/office/drawing/2014/main" id="{5C59EDC2-2448-45C9-A9BE-BB154D5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19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V&amp;V</a:t>
            </a:r>
          </a:p>
        </p:txBody>
      </p:sp>
      <p:sp>
        <p:nvSpPr>
          <p:cNvPr id="23" name="step-title-V&amp;V">
            <a:extLst xmlns:a="http://schemas.openxmlformats.org/drawingml/2006/main">
              <a:ext uri="{FF2B5EF4-FFF2-40B4-BE49-F238E27FC236}">
                <a16:creationId xmlns:a16="http://schemas.microsoft.com/office/drawing/2014/main" id="{5E72742A-91E9-4E15-B25E-4F1B90A5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019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Verification</a:t>
            </a:r>
          </a:p>
        </p:txBody>
      </p:sp>
      <p:sp>
        <p:nvSpPr>
          <p:cNvPr id="24" name="step-body-V&amp;V">
            <a:extLst xmlns:a="http://schemas.openxmlformats.org/drawingml/2006/main">
              <a:ext uri="{FF2B5EF4-FFF2-40B4-BE49-F238E27FC236}">
                <a16:creationId xmlns:a16="http://schemas.microsoft.com/office/drawing/2014/main" id="{C3972B26-EAFA-480B-9E16-38D54384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305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Test strategy, procedures, evidence, holdouts, security, performance, UX.</a:t>
            </a:r>
          </a:p>
        </p:txBody>
      </p:sp>
      <p:sp>
        <p:nvSpPr>
          <p:cNvPr id="25" name="step-REL/EVD-release-and-evidence">
            <a:extLst xmlns:a="http://schemas.openxmlformats.org/drawingml/2006/main">
              <a:ext uri="{FF2B5EF4-FFF2-40B4-BE49-F238E27FC236}">
                <a16:creationId xmlns:a16="http://schemas.microsoft.com/office/drawing/2014/main" id="{FE16B3F4-19C9-4513-98A9-6C77998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834063"/>
            <a:ext cx="5372100" cy="3271838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REL/EVD">
            <a:extLst xmlns:a="http://schemas.openxmlformats.org/drawingml/2006/main">
              <a:ext uri="{FF2B5EF4-FFF2-40B4-BE49-F238E27FC236}">
                <a16:creationId xmlns:a16="http://schemas.microsoft.com/office/drawing/2014/main" id="{39DAC078-0EAE-4CD8-AFD5-1432288D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019800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REL/EVD</a:t>
            </a:r>
          </a:p>
        </p:txBody>
      </p:sp>
      <p:sp>
        <p:nvSpPr>
          <p:cNvPr id="27" name="step-title-REL/EVD">
            <a:extLst xmlns:a="http://schemas.openxmlformats.org/drawingml/2006/main">
              <a:ext uri="{FF2B5EF4-FFF2-40B4-BE49-F238E27FC236}">
                <a16:creationId xmlns:a16="http://schemas.microsoft.com/office/drawing/2014/main" id="{CDC4C36D-54A0-444A-B185-7C84539B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019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Release and evidence</a:t>
            </a:r>
          </a:p>
        </p:txBody>
      </p:sp>
      <p:sp>
        <p:nvSpPr>
          <p:cNvPr id="28" name="step-body-REL/EVD">
            <a:extLst xmlns:a="http://schemas.openxmlformats.org/drawingml/2006/main">
              <a:ext uri="{FF2B5EF4-FFF2-40B4-BE49-F238E27FC236}">
                <a16:creationId xmlns:a16="http://schemas.microsoft.com/office/drawing/2014/main" id="{77ECAF91-975B-4F8D-AB22-C7F0890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305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Release plan, runbooks, incident guides, trace matrix, certificates.</a:t>
            </a:r>
          </a:p>
        </p:txBody>
      </p:sp>
      <p:sp>
        <p:nvSpPr>
          <p:cNvPr id="29" name="project-book-footer">
            <a:extLst xmlns:a="http://schemas.openxmlformats.org/drawingml/2006/main">
              <a:ext uri="{FF2B5EF4-FFF2-40B4-BE49-F238E27FC236}">
                <a16:creationId xmlns:a16="http://schemas.microsoft.com/office/drawing/2014/main" id="{944B1A53-383A-4AE9-8030-4E02CA93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project-book-page">
            <a:extLst xmlns:a="http://schemas.openxmlformats.org/drawingml/2006/main">
              <a:ext uri="{FF2B5EF4-FFF2-40B4-BE49-F238E27FC236}">
                <a16:creationId xmlns:a16="http://schemas.microsoft.com/office/drawing/2014/main" id="{E527579A-2C6F-40DB-8E3D-FB0F8429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2632340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047C664-C288-4295-8FDB-2BD2EAD2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modules-eyebrow">
            <a:extLst xmlns:a="http://schemas.openxmlformats.org/drawingml/2006/main">
              <a:ext uri="{FF2B5EF4-FFF2-40B4-BE49-F238E27FC236}">
                <a16:creationId xmlns:a16="http://schemas.microsoft.com/office/drawing/2014/main" id="{7248EBEF-1FCD-4639-B7C2-43541805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PRODUCT MODULES</a:t>
            </a:r>
          </a:p>
        </p:txBody>
      </p:sp>
      <p:sp>
        <p:nvSpPr>
          <p:cNvPr id="3" name="modules-title">
            <a:extLst xmlns:a="http://schemas.openxmlformats.org/drawingml/2006/main">
              <a:ext uri="{FF2B5EF4-FFF2-40B4-BE49-F238E27FC236}">
                <a16:creationId xmlns:a16="http://schemas.microsoft.com/office/drawing/2014/main" id="{54B2084B-386B-4081-9F15-286EEF7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30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AF8"/>
                </a:solidFill>
              </a:defRPr>
            </a:pPr>
            <a:r>
              <a:rPr sz="3300" b="1">
                <a:solidFill>
                  <a:srgbClr val="F7FAF8"/>
                </a:solidFill>
              </a:rPr>
              <a:t>A skill hierarchy that can run greenfield, brownfield, and handoff work.</a:t>
            </a:r>
          </a:p>
        </p:txBody>
      </p:sp>
      <p:sp>
        <p:nvSpPr>
          <p:cNvPr id="4" name="modules-subtitle">
            <a:extLst xmlns:a="http://schemas.openxmlformats.org/drawingml/2006/main">
              <a:ext uri="{FF2B5EF4-FFF2-40B4-BE49-F238E27FC236}">
                <a16:creationId xmlns:a16="http://schemas.microsoft.com/office/drawing/2014/main" id="{3F2A75E8-CDD2-4AC3-A1C8-6F03550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095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Each module owns a defined slice of the delivery factory, with trace links and refinery gates connecting them.</a:t>
            </a:r>
          </a:p>
        </p:txBody>
      </p:sp>
      <p:sp>
        <p:nvSpPr>
          <p:cNvPr id="5" name="step-01-meta-attractor">
            <a:extLst xmlns:a="http://schemas.openxmlformats.org/drawingml/2006/main">
              <a:ext uri="{FF2B5EF4-FFF2-40B4-BE49-F238E27FC236}">
                <a16:creationId xmlns:a16="http://schemas.microsoft.com/office/drawing/2014/main" id="{B6E158E2-3BDC-40EF-8853-643A9E07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01">
            <a:extLst xmlns:a="http://schemas.openxmlformats.org/drawingml/2006/main">
              <a:ext uri="{FF2B5EF4-FFF2-40B4-BE49-F238E27FC236}">
                <a16:creationId xmlns:a16="http://schemas.microsoft.com/office/drawing/2014/main" id="{BF4ECA51-EE33-490B-A537-68A5EB4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01</a:t>
            </a:r>
          </a:p>
        </p:txBody>
      </p:sp>
      <p:sp>
        <p:nvSpPr>
          <p:cNvPr id="7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EC5F967C-3E3A-4E9F-83A9-56A35B98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670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Meta-attractor</a:t>
            </a:r>
          </a:p>
        </p:txBody>
      </p:sp>
      <p:sp>
        <p:nvSpPr>
          <p:cNvPr id="8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055DBA4C-7F35-4874-B921-CD3824F0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Forms the project field and routes governed work.</a:t>
            </a:r>
          </a:p>
        </p:txBody>
      </p:sp>
      <p:sp>
        <p:nvSpPr>
          <p:cNvPr id="9" name="step-02-intake-spec-lab">
            <a:extLst xmlns:a="http://schemas.openxmlformats.org/drawingml/2006/main">
              <a:ext uri="{FF2B5EF4-FFF2-40B4-BE49-F238E27FC236}">
                <a16:creationId xmlns:a16="http://schemas.microsoft.com/office/drawing/2014/main" id="{E51F995C-83DF-43FD-A322-106C4E3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466975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02">
            <a:extLst xmlns:a="http://schemas.openxmlformats.org/drawingml/2006/main">
              <a:ext uri="{FF2B5EF4-FFF2-40B4-BE49-F238E27FC236}">
                <a16:creationId xmlns:a16="http://schemas.microsoft.com/office/drawing/2014/main" id="{3636658F-6798-4A1F-BE57-C27D575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02</a:t>
            </a:r>
          </a:p>
        </p:txBody>
      </p:sp>
      <p:sp>
        <p:nvSpPr>
          <p:cNvPr id="11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922F5334-370E-4AF2-9E25-6B4DB201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Intake spec lab</a:t>
            </a:r>
          </a:p>
        </p:txBody>
      </p:sp>
      <p:sp>
        <p:nvSpPr>
          <p:cNvPr id="12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6A0F68F7-51E8-45D3-8D38-1CD14CB9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Interrogation, decomposition, completeness scoring.</a:t>
            </a:r>
          </a:p>
        </p:txBody>
      </p:sp>
      <p:sp>
        <p:nvSpPr>
          <p:cNvPr id="13" name="step-03-governance-mayor">
            <a:extLst xmlns:a="http://schemas.openxmlformats.org/drawingml/2006/main">
              <a:ext uri="{FF2B5EF4-FFF2-40B4-BE49-F238E27FC236}">
                <a16:creationId xmlns:a16="http://schemas.microsoft.com/office/drawing/2014/main" id="{E4CD8A9F-4253-48F5-A4BF-6AE735A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2466975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03">
            <a:extLst xmlns:a="http://schemas.openxmlformats.org/drawingml/2006/main">
              <a:ext uri="{FF2B5EF4-FFF2-40B4-BE49-F238E27FC236}">
                <a16:creationId xmlns:a16="http://schemas.microsoft.com/office/drawing/2014/main" id="{B99ADE0A-CF18-4A12-BF1D-7FE7E52E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670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15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6B7A171A-3D36-49B1-9468-BF26D691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6670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Governance mayor</a:t>
            </a:r>
          </a:p>
        </p:txBody>
      </p:sp>
      <p:sp>
        <p:nvSpPr>
          <p:cNvPr id="16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D2B45E16-021A-46EE-9E5F-2AE78FE7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95275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Standards tailoring, approvals, and phase exits.</a:t>
            </a:r>
          </a:p>
        </p:txBody>
      </p:sp>
      <p:sp>
        <p:nvSpPr>
          <p:cNvPr id="17" name="step-04-methodology-blender">
            <a:extLst xmlns:a="http://schemas.openxmlformats.org/drawingml/2006/main">
              <a:ext uri="{FF2B5EF4-FFF2-40B4-BE49-F238E27FC236}">
                <a16:creationId xmlns:a16="http://schemas.microsoft.com/office/drawing/2014/main" id="{67B669FF-70CC-416E-BD12-D40FBD31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7100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04">
            <a:extLst xmlns:a="http://schemas.openxmlformats.org/drawingml/2006/main">
              <a:ext uri="{FF2B5EF4-FFF2-40B4-BE49-F238E27FC236}">
                <a16:creationId xmlns:a16="http://schemas.microsoft.com/office/drawing/2014/main" id="{9E528117-5BC4-4396-B923-A5CBF9D8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04</a:t>
            </a:r>
          </a:p>
        </p:txBody>
      </p:sp>
      <p:sp>
        <p:nvSpPr>
          <p:cNvPr id="19" name="step-title-04">
            <a:extLst xmlns:a="http://schemas.openxmlformats.org/drawingml/2006/main">
              <a:ext uri="{FF2B5EF4-FFF2-40B4-BE49-F238E27FC236}">
                <a16:creationId xmlns:a16="http://schemas.microsoft.com/office/drawing/2014/main" id="{0A5A0146-946A-4C3F-A8E3-598DF5E3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3395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Methodology blender</a:t>
            </a:r>
          </a:p>
        </p:txBody>
      </p:sp>
      <p:sp>
        <p:nvSpPr>
          <p:cNvPr id="20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9973D1CA-E113-42E1-BDE8-3D938615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RUP, MDA, DDD, TDD, BDD, SRE, ISO composition.</a:t>
            </a:r>
          </a:p>
        </p:txBody>
      </p:sp>
      <p:sp>
        <p:nvSpPr>
          <p:cNvPr id="21" name="step-05-artifact-factory">
            <a:extLst xmlns:a="http://schemas.openxmlformats.org/drawingml/2006/main">
              <a:ext uri="{FF2B5EF4-FFF2-40B4-BE49-F238E27FC236}">
                <a16:creationId xmlns:a16="http://schemas.microsoft.com/office/drawing/2014/main" id="{D3CEE1B0-C90D-4BD3-B326-D94CAD2D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737100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05">
            <a:extLst xmlns:a="http://schemas.openxmlformats.org/drawingml/2006/main">
              <a:ext uri="{FF2B5EF4-FFF2-40B4-BE49-F238E27FC236}">
                <a16:creationId xmlns:a16="http://schemas.microsoft.com/office/drawing/2014/main" id="{C4D8C5BF-947C-46F2-8877-FBADD554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05</a:t>
            </a:r>
          </a:p>
        </p:txBody>
      </p:sp>
      <p:sp>
        <p:nvSpPr>
          <p:cNvPr id="23" name="step-title-05">
            <a:extLst xmlns:a="http://schemas.openxmlformats.org/drawingml/2006/main">
              <a:ext uri="{FF2B5EF4-FFF2-40B4-BE49-F238E27FC236}">
                <a16:creationId xmlns:a16="http://schemas.microsoft.com/office/drawing/2014/main" id="{19F26B07-8879-4F82-8DF2-26E69516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3395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Artifact factory</a:t>
            </a:r>
          </a:p>
        </p:txBody>
      </p:sp>
      <p:sp>
        <p:nvSpPr>
          <p:cNvPr id="24" name="step-body-05">
            <a:extLst xmlns:a="http://schemas.openxmlformats.org/drawingml/2006/main">
              <a:ext uri="{FF2B5EF4-FFF2-40B4-BE49-F238E27FC236}">
                <a16:creationId xmlns:a16="http://schemas.microsoft.com/office/drawing/2014/main" id="{17A6C960-373F-4BDF-B6EF-EB51FA18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1970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BRD, SRS, NFRs, HLD, LLD, ADRs, test plans.</a:t>
            </a:r>
          </a:p>
        </p:txBody>
      </p:sp>
      <p:sp>
        <p:nvSpPr>
          <p:cNvPr id="25" name="step-06-swarm-coordination">
            <a:extLst xmlns:a="http://schemas.openxmlformats.org/drawingml/2006/main">
              <a:ext uri="{FF2B5EF4-FFF2-40B4-BE49-F238E27FC236}">
                <a16:creationId xmlns:a16="http://schemas.microsoft.com/office/drawing/2014/main" id="{94147262-0E72-4CF8-87C5-C474FE8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4737100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06">
            <a:extLst xmlns:a="http://schemas.openxmlformats.org/drawingml/2006/main">
              <a:ext uri="{FF2B5EF4-FFF2-40B4-BE49-F238E27FC236}">
                <a16:creationId xmlns:a16="http://schemas.microsoft.com/office/drawing/2014/main" id="{6911C205-B874-4702-ADA9-FB3259BB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9339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06</a:t>
            </a:r>
          </a:p>
        </p:txBody>
      </p:sp>
      <p:sp>
        <p:nvSpPr>
          <p:cNvPr id="27" name="step-title-06">
            <a:extLst xmlns:a="http://schemas.openxmlformats.org/drawingml/2006/main">
              <a:ext uri="{FF2B5EF4-FFF2-40B4-BE49-F238E27FC236}">
                <a16:creationId xmlns:a16="http://schemas.microsoft.com/office/drawing/2014/main" id="{4E0DEC15-608A-48E1-BC48-1C310557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93395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Swarm coordination</a:t>
            </a:r>
          </a:p>
        </p:txBody>
      </p:sp>
      <p:sp>
        <p:nvSpPr>
          <p:cNvPr id="28" name="step-body-06">
            <a:extLst xmlns:a="http://schemas.openxmlformats.org/drawingml/2006/main">
              <a:ext uri="{FF2B5EF4-FFF2-40B4-BE49-F238E27FC236}">
                <a16:creationId xmlns:a16="http://schemas.microsoft.com/office/drawing/2014/main" id="{0FC74F32-E251-4B7E-87E0-F50A9FBA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21970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Expert roles, debate rounds, decisions, escalation.</a:t>
            </a:r>
          </a:p>
        </p:txBody>
      </p:sp>
      <p:sp>
        <p:nvSpPr>
          <p:cNvPr id="29" name="step-07-quality-refinery">
            <a:extLst xmlns:a="http://schemas.openxmlformats.org/drawingml/2006/main">
              <a:ext uri="{FF2B5EF4-FFF2-40B4-BE49-F238E27FC236}">
                <a16:creationId xmlns:a16="http://schemas.microsoft.com/office/drawing/2014/main" id="{EDAE4577-5270-4626-8A2A-AEEE3499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07225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30" name="step-num-07">
            <a:extLst xmlns:a="http://schemas.openxmlformats.org/drawingml/2006/main">
              <a:ext uri="{FF2B5EF4-FFF2-40B4-BE49-F238E27FC236}">
                <a16:creationId xmlns:a16="http://schemas.microsoft.com/office/drawing/2014/main" id="{B3B9F2F6-B8C0-4F49-A74D-C494302E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00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07</a:t>
            </a:r>
          </a:p>
        </p:txBody>
      </p:sp>
      <p:sp>
        <p:nvSpPr>
          <p:cNvPr id="31" name="step-title-07">
            <a:extLst xmlns:a="http://schemas.openxmlformats.org/drawingml/2006/main">
              <a:ext uri="{FF2B5EF4-FFF2-40B4-BE49-F238E27FC236}">
                <a16:creationId xmlns:a16="http://schemas.microsoft.com/office/drawing/2014/main" id="{E58DC562-7E35-476A-9949-A52DFC6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2009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Quality refinery</a:t>
            </a:r>
          </a:p>
        </p:txBody>
      </p:sp>
      <p:sp>
        <p:nvSpPr>
          <p:cNvPr id="32" name="step-body-07">
            <a:extLst xmlns:a="http://schemas.openxmlformats.org/drawingml/2006/main">
              <a:ext uri="{FF2B5EF4-FFF2-40B4-BE49-F238E27FC236}">
                <a16:creationId xmlns:a16="http://schemas.microsoft.com/office/drawing/2014/main" id="{47B04EB8-9F45-432C-B2E6-B6C8F3ED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48665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Rubrics, verification, certificates, fix loops.</a:t>
            </a:r>
          </a:p>
        </p:txBody>
      </p:sp>
      <p:sp>
        <p:nvSpPr>
          <p:cNvPr id="33" name="step-08-trace-evidence">
            <a:extLst xmlns:a="http://schemas.openxmlformats.org/drawingml/2006/main">
              <a:ext uri="{FF2B5EF4-FFF2-40B4-BE49-F238E27FC236}">
                <a16:creationId xmlns:a16="http://schemas.microsoft.com/office/drawing/2014/main" id="{CFFDACFB-FE3E-4713-87F5-86F3BA6A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7007225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34" name="step-num-08">
            <a:extLst xmlns:a="http://schemas.openxmlformats.org/drawingml/2006/main">
              <a:ext uri="{FF2B5EF4-FFF2-40B4-BE49-F238E27FC236}">
                <a16:creationId xmlns:a16="http://schemas.microsoft.com/office/drawing/2014/main" id="{23F20490-E03B-474A-AB3A-173278E1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200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08</a:t>
            </a:r>
          </a:p>
        </p:txBody>
      </p:sp>
      <p:sp>
        <p:nvSpPr>
          <p:cNvPr id="35" name="step-title-08">
            <a:extLst xmlns:a="http://schemas.openxmlformats.org/drawingml/2006/main">
              <a:ext uri="{FF2B5EF4-FFF2-40B4-BE49-F238E27FC236}">
                <a16:creationId xmlns:a16="http://schemas.microsoft.com/office/drawing/2014/main" id="{0F97F756-CD55-43F6-B761-1E70030A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2009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Trace evidence</a:t>
            </a:r>
          </a:p>
        </p:txBody>
      </p:sp>
      <p:sp>
        <p:nvSpPr>
          <p:cNvPr id="36" name="step-body-08">
            <a:extLst xmlns:a="http://schemas.openxmlformats.org/drawingml/2006/main">
              <a:ext uri="{FF2B5EF4-FFF2-40B4-BE49-F238E27FC236}">
                <a16:creationId xmlns:a16="http://schemas.microsoft.com/office/drawing/2014/main" id="{01F49B60-3E0D-4303-BBFC-17B35565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48665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Bidirectional links and evidence ledgers.</a:t>
            </a:r>
          </a:p>
        </p:txBody>
      </p:sp>
      <p:sp>
        <p:nvSpPr>
          <p:cNvPr id="37" name="step-09-sre-handoff">
            <a:extLst xmlns:a="http://schemas.openxmlformats.org/drawingml/2006/main">
              <a:ext uri="{FF2B5EF4-FFF2-40B4-BE49-F238E27FC236}">
                <a16:creationId xmlns:a16="http://schemas.microsoft.com/office/drawing/2014/main" id="{3DEA5587-6C8B-496C-8B82-03A891B5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7007225"/>
            <a:ext cx="5397500" cy="2098675"/>
          </a:xfrm>
          <a:prstGeom xmlns:a="http://schemas.openxmlformats.org/drawingml/2006/main" prst="roundRect">
            <a:avLst>
              <a:gd name="adj" fmla="val 2723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38" name="step-num-09">
            <a:extLst xmlns:a="http://schemas.openxmlformats.org/drawingml/2006/main">
              <a:ext uri="{FF2B5EF4-FFF2-40B4-BE49-F238E27FC236}">
                <a16:creationId xmlns:a16="http://schemas.microsoft.com/office/drawing/2014/main" id="{E1BB0AD4-F165-43D2-B295-C94232D9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00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09</a:t>
            </a:r>
          </a:p>
        </p:txBody>
      </p:sp>
      <p:sp>
        <p:nvSpPr>
          <p:cNvPr id="39" name="step-title-09">
            <a:extLst xmlns:a="http://schemas.openxmlformats.org/drawingml/2006/main">
              <a:ext uri="{FF2B5EF4-FFF2-40B4-BE49-F238E27FC236}">
                <a16:creationId xmlns:a16="http://schemas.microsoft.com/office/drawing/2014/main" id="{871180E9-BED5-479E-9CD1-B1A2FB99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2009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SRE handoff</a:t>
            </a:r>
          </a:p>
        </p:txBody>
      </p:sp>
      <p:sp>
        <p:nvSpPr>
          <p:cNvPr id="40" name="step-body-09">
            <a:extLst xmlns:a="http://schemas.openxmlformats.org/drawingml/2006/main">
              <a:ext uri="{FF2B5EF4-FFF2-40B4-BE49-F238E27FC236}">
                <a16:creationId xmlns:a16="http://schemas.microsoft.com/office/drawing/2014/main" id="{0111B3B1-C145-4C88-838E-7CACEC7D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48665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Release, runbooks, drills, incident readiness.</a:t>
            </a:r>
          </a:p>
        </p:txBody>
      </p:sp>
      <p:sp>
        <p:nvSpPr>
          <p:cNvPr id="41" name="modules-footer">
            <a:extLst xmlns:a="http://schemas.openxmlformats.org/drawingml/2006/main">
              <a:ext uri="{FF2B5EF4-FFF2-40B4-BE49-F238E27FC236}">
                <a16:creationId xmlns:a16="http://schemas.microsoft.com/office/drawing/2014/main" id="{E6BC9102-D22C-41A2-AC99-1F45F68C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42" name="modules-page">
            <a:extLst xmlns:a="http://schemas.openxmlformats.org/drawingml/2006/main">
              <a:ext uri="{FF2B5EF4-FFF2-40B4-BE49-F238E27FC236}">
                <a16:creationId xmlns:a16="http://schemas.microsoft.com/office/drawing/2014/main" id="{1011A1F3-21DD-4041-87DE-634439FC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376657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640004A-BD85-45EF-9137-3B7A4694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assurance-skill-mesh-eyebrow">
            <a:extLst xmlns:a="http://schemas.openxmlformats.org/drawingml/2006/main">
              <a:ext uri="{FF2B5EF4-FFF2-40B4-BE49-F238E27FC236}">
                <a16:creationId xmlns:a16="http://schemas.microsoft.com/office/drawing/2014/main" id="{6BB19BE8-0453-4707-8C7E-5711107F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SKILL QUALITY</a:t>
            </a:r>
          </a:p>
        </p:txBody>
      </p:sp>
      <p:sp>
        <p:nvSpPr>
          <p:cNvPr id="3" name="assurance-skill-mesh-title">
            <a:extLst xmlns:a="http://schemas.openxmlformats.org/drawingml/2006/main">
              <a:ext uri="{FF2B5EF4-FFF2-40B4-BE49-F238E27FC236}">
                <a16:creationId xmlns:a16="http://schemas.microsoft.com/office/drawing/2014/main" id="{25B3148D-1B79-49A1-BDEA-1F782CC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9906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Call it a Comprehensive Assurance Skill Mesh.</a:t>
            </a:r>
          </a:p>
        </p:txBody>
      </p:sp>
      <p:sp>
        <p:nvSpPr>
          <p:cNvPr id="4" name="assurance-skill-mesh-subtitle">
            <a:extLst xmlns:a="http://schemas.openxmlformats.org/drawingml/2006/main">
              <a:ext uri="{FF2B5EF4-FFF2-40B4-BE49-F238E27FC236}">
                <a16:creationId xmlns:a16="http://schemas.microsoft.com/office/drawing/2014/main" id="{1B1F04DD-2145-4642-B9A4-48121E8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language should be ambitious, but every claim is earned by evidence gates, not marketing adjectives.</a:t>
            </a:r>
          </a:p>
        </p:txBody>
      </p:sp>
      <p:sp>
        <p:nvSpPr>
          <p:cNvPr id="5" name="metric-value-standards-mapped-and-expert-reviewed">
            <a:extLst xmlns:a="http://schemas.openxmlformats.org/drawingml/2006/main">
              <a:ext uri="{FF2B5EF4-FFF2-40B4-BE49-F238E27FC236}">
                <a16:creationId xmlns:a16="http://schemas.microsoft.com/office/drawing/2014/main" id="{37EAD875-86BD-4F34-87C0-91AD4319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7219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DD4BF"/>
                </a:solidFill>
              </a:defRPr>
            </a:pPr>
            <a:r>
              <a:rPr sz="5250" b="1">
                <a:solidFill>
                  <a:srgbClr val="2DD4BF"/>
                </a:solidFill>
              </a:rPr>
              <a:t>industry-grade</a:t>
            </a:r>
          </a:p>
        </p:txBody>
      </p:sp>
      <p:sp>
        <p:nvSpPr>
          <p:cNvPr id="6" name="metric-label-standards-mapped-and-expert-reviewed">
            <a:extLst xmlns:a="http://schemas.openxmlformats.org/drawingml/2006/main">
              <a:ext uri="{FF2B5EF4-FFF2-40B4-BE49-F238E27FC236}">
                <a16:creationId xmlns:a16="http://schemas.microsoft.com/office/drawing/2014/main" id="{C019A6BB-D6AB-418C-A1A4-0FCA9FFD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866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standards-mapped and expert-reviewed</a:t>
            </a:r>
          </a:p>
        </p:txBody>
      </p:sp>
      <p:sp>
        <p:nvSpPr>
          <p:cNvPr id="7" name="metric-value-full-task-tree-coverage-to-testable-leaves">
            <a:extLst xmlns:a="http://schemas.openxmlformats.org/drawingml/2006/main">
              <a:ext uri="{FF2B5EF4-FFF2-40B4-BE49-F238E27FC236}">
                <a16:creationId xmlns:a16="http://schemas.microsoft.com/office/drawing/2014/main" id="{354BE27F-6185-46CF-A40D-F5BD8B39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7219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6D17E"/>
                </a:solidFill>
              </a:defRPr>
            </a:pPr>
            <a:r>
              <a:rPr sz="5250" b="1">
                <a:solidFill>
                  <a:srgbClr val="46D17E"/>
                </a:solidFill>
              </a:rPr>
              <a:t>comprehensive</a:t>
            </a:r>
          </a:p>
        </p:txBody>
      </p:sp>
      <p:sp>
        <p:nvSpPr>
          <p:cNvPr id="8" name="metric-label-full-task-tree-coverage-to-testable-leaves">
            <a:extLst xmlns:a="http://schemas.openxmlformats.org/drawingml/2006/main">
              <a:ext uri="{FF2B5EF4-FFF2-40B4-BE49-F238E27FC236}">
                <a16:creationId xmlns:a16="http://schemas.microsoft.com/office/drawing/2014/main" id="{80531B11-F593-4CC2-81D0-BA38056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2705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full task-tree coverage to testable leaves</a:t>
            </a:r>
          </a:p>
        </p:txBody>
      </p:sp>
      <p:sp>
        <p:nvSpPr>
          <p:cNvPr id="9" name="metric-value-validator-backed-evidence-and-certificates">
            <a:extLst xmlns:a="http://schemas.openxmlformats.org/drawingml/2006/main">
              <a:ext uri="{FF2B5EF4-FFF2-40B4-BE49-F238E27FC236}">
                <a16:creationId xmlns:a16="http://schemas.microsoft.com/office/drawing/2014/main" id="{3247937D-00FF-4330-B4BA-7B930E37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0"/>
            <a:ext cx="7219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2B84B"/>
                </a:solidFill>
              </a:defRPr>
            </a:pPr>
            <a:r>
              <a:rPr sz="5250" b="1">
                <a:solidFill>
                  <a:srgbClr val="F2B84B"/>
                </a:solidFill>
              </a:rPr>
              <a:t>assured</a:t>
            </a:r>
          </a:p>
        </p:txBody>
      </p:sp>
      <p:sp>
        <p:nvSpPr>
          <p:cNvPr id="10" name="metric-label-validator-backed-evidence-and-certificates">
            <a:extLst xmlns:a="http://schemas.openxmlformats.org/drawingml/2006/main">
              <a:ext uri="{FF2B5EF4-FFF2-40B4-BE49-F238E27FC236}">
                <a16:creationId xmlns:a16="http://schemas.microsoft.com/office/drawing/2014/main" id="{364BD861-4A80-44F6-8139-68689096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9140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validator-backed evidence and certificates</a:t>
            </a:r>
          </a:p>
        </p:txBody>
      </p:sp>
      <p:sp>
        <p:nvSpPr>
          <p:cNvPr id="11" name="dot-full-coverage-is-a-gate-state">
            <a:extLst xmlns:a="http://schemas.openxmlformats.org/drawingml/2006/main">
              <a:ext uri="{FF2B5EF4-FFF2-40B4-BE49-F238E27FC236}">
                <a16:creationId xmlns:a16="http://schemas.microsoft.com/office/drawing/2014/main" id="{732B1FBC-3CFA-4E2A-A3EC-D1A10B7E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76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2" name="statement-title-full-coverage-is-a-gate-state">
            <a:extLst xmlns:a="http://schemas.openxmlformats.org/drawingml/2006/main">
              <a:ext uri="{FF2B5EF4-FFF2-40B4-BE49-F238E27FC236}">
                <a16:creationId xmlns:a16="http://schemas.microsoft.com/office/drawing/2014/main" id="{017C94B9-BD93-4B8A-AE08-D689E424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768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Full coverage is a gate state</a:t>
            </a:r>
          </a:p>
        </p:txBody>
      </p:sp>
      <p:sp>
        <p:nvSpPr>
          <p:cNvPr id="13" name="statement-body-full-coverage-is-a-gate-state">
            <a:extLst xmlns:a="http://schemas.openxmlformats.org/drawingml/2006/main">
              <a:ext uri="{FF2B5EF4-FFF2-40B4-BE49-F238E27FC236}">
                <a16:creationId xmlns:a16="http://schemas.microsoft.com/office/drawing/2014/main" id="{B2F63EEE-EB1B-4E72-B1F1-62FF071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00650"/>
            <a:ext cx="887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Inputs, outputs, artifacts, decisions, risks, tests, handoff, and learning are all covered or explicitly waived.</a:t>
            </a:r>
          </a:p>
        </p:txBody>
      </p:sp>
      <p:sp>
        <p:nvSpPr>
          <p:cNvPr id="14" name="dot-industry-grade-is-evidence-backed">
            <a:extLst xmlns:a="http://schemas.openxmlformats.org/drawingml/2006/main">
              <a:ext uri="{FF2B5EF4-FFF2-40B4-BE49-F238E27FC236}">
                <a16:creationId xmlns:a16="http://schemas.microsoft.com/office/drawing/2014/main" id="{4F05B74B-ADC7-42FD-9B3F-F98B03E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638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5" name="statement-title-industry-grade-is-evidence-backed">
            <a:extLst xmlns:a="http://schemas.openxmlformats.org/drawingml/2006/main">
              <a:ext uri="{FF2B5EF4-FFF2-40B4-BE49-F238E27FC236}">
                <a16:creationId xmlns:a16="http://schemas.microsoft.com/office/drawing/2014/main" id="{CD57DFF4-8574-48BB-9972-29E2F744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1975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Industry-grade is evidence-backed</a:t>
            </a:r>
          </a:p>
        </p:txBody>
      </p:sp>
      <p:sp>
        <p:nvSpPr>
          <p:cNvPr id="16" name="statement-body-industry-grade-is-evidence-backed">
            <a:extLst xmlns:a="http://schemas.openxmlformats.org/drawingml/2006/main">
              <a:ext uri="{FF2B5EF4-FFF2-40B4-BE49-F238E27FC236}">
                <a16:creationId xmlns:a16="http://schemas.microsoft.com/office/drawing/2014/main" id="{02C524F7-F553-4A25-A0F7-841E6CB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43600"/>
            <a:ext cx="851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Each skill has module contracts, standards basis, 3-expert review, 15-point rubrics, and trace closure.</a:t>
            </a:r>
          </a:p>
        </p:txBody>
      </p:sp>
      <p:sp>
        <p:nvSpPr>
          <p:cNvPr id="17" name="dot-industry-leader-validated-is-reserved">
            <a:extLst xmlns:a="http://schemas.openxmlformats.org/drawingml/2006/main">
              <a:ext uri="{FF2B5EF4-FFF2-40B4-BE49-F238E27FC236}">
                <a16:creationId xmlns:a16="http://schemas.microsoft.com/office/drawing/2014/main" id="{DAE1410A-5966-4B48-B3F7-651AC06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3627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8" name="statement-title-industry-leader-validated-is-reserved">
            <a:extLst xmlns:a="http://schemas.openxmlformats.org/drawingml/2006/main">
              <a:ext uri="{FF2B5EF4-FFF2-40B4-BE49-F238E27FC236}">
                <a16:creationId xmlns:a16="http://schemas.microsoft.com/office/drawing/2014/main" id="{5AABAA5B-69E3-4A67-8954-7206BBAE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627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Industry-leader-validated is reserved</a:t>
            </a:r>
          </a:p>
        </p:txBody>
      </p:sp>
      <p:sp>
        <p:nvSpPr>
          <p:cNvPr id="19" name="statement-body-industry-leader-validated-is-reserved">
            <a:extLst xmlns:a="http://schemas.openxmlformats.org/drawingml/2006/main">
              <a:ext uri="{FF2B5EF4-FFF2-40B4-BE49-F238E27FC236}">
                <a16:creationId xmlns:a16="http://schemas.microsoft.com/office/drawing/2014/main" id="{8BB103B7-2CC0-4022-A044-08EC9E4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86550"/>
            <a:ext cx="681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Use that label only after actual named external reviewers sign off with evidence.</a:t>
            </a:r>
          </a:p>
        </p:txBody>
      </p:sp>
      <p:sp>
        <p:nvSpPr>
          <p:cNvPr id="20" name="assurance-skill-mesh-footer">
            <a:extLst xmlns:a="http://schemas.openxmlformats.org/drawingml/2006/main">
              <a:ext uri="{FF2B5EF4-FFF2-40B4-BE49-F238E27FC236}">
                <a16:creationId xmlns:a16="http://schemas.microsoft.com/office/drawing/2014/main" id="{E3C76B92-320A-43D2-A3E6-01385E61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1" name="assurance-skill-mesh-page">
            <a:extLst xmlns:a="http://schemas.openxmlformats.org/drawingml/2006/main">
              <a:ext uri="{FF2B5EF4-FFF2-40B4-BE49-F238E27FC236}">
                <a16:creationId xmlns:a16="http://schemas.microsoft.com/office/drawing/2014/main" id="{0879CAC2-C4E3-458B-9DBC-E3FE101E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2489062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3341E88-6DC4-4084-AC45-83F822E1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external-skills-eyebrow">
            <a:extLst xmlns:a="http://schemas.openxmlformats.org/drawingml/2006/main">
              <a:ext uri="{FF2B5EF4-FFF2-40B4-BE49-F238E27FC236}">
                <a16:creationId xmlns:a16="http://schemas.microsoft.com/office/drawing/2014/main" id="{2B6789F8-1FB4-412D-8A5B-A4420292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EXTERNAL SKILL SUPPLY CHAIN</a:t>
            </a:r>
          </a:p>
        </p:txBody>
      </p:sp>
      <p:sp>
        <p:nvSpPr>
          <p:cNvPr id="3" name="external-skills-title">
            <a:extLst xmlns:a="http://schemas.openxmlformats.org/drawingml/2006/main">
              <a:ext uri="{FF2B5EF4-FFF2-40B4-BE49-F238E27FC236}">
                <a16:creationId xmlns:a16="http://schemas.microsoft.com/office/drawing/2014/main" id="{EFFE844C-1650-44BD-9899-112F049F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287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AF8"/>
                </a:solidFill>
              </a:defRPr>
            </a:pPr>
            <a:r>
              <a:rPr sz="3300" b="1">
                <a:solidFill>
                  <a:srgbClr val="F7FAF8"/>
                </a:solidFill>
              </a:rPr>
              <a:t>DFMS should harvest the best public skills without inheriting their risk.</a:t>
            </a:r>
          </a:p>
        </p:txBody>
      </p:sp>
      <p:sp>
        <p:nvSpPr>
          <p:cNvPr id="4" name="external-skills-subtitle">
            <a:extLst xmlns:a="http://schemas.openxmlformats.org/drawingml/2006/main">
              <a:ext uri="{FF2B5EF4-FFF2-40B4-BE49-F238E27FC236}">
                <a16:creationId xmlns:a16="http://schemas.microsoft.com/office/drawing/2014/main" id="{54B18941-1F66-4B99-ADA3-CD9B3B26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2134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Claude Code skills, Agent Skills, and GitHub marketplaces become source material for governed DFMS-native capabilities.</a:t>
            </a:r>
          </a:p>
        </p:txBody>
      </p:sp>
      <p:sp>
        <p:nvSpPr>
          <p:cNvPr id="5" name="step-1-discover">
            <a:extLst xmlns:a="http://schemas.openxmlformats.org/drawingml/2006/main">
              <a:ext uri="{FF2B5EF4-FFF2-40B4-BE49-F238E27FC236}">
                <a16:creationId xmlns:a16="http://schemas.microsoft.com/office/drawing/2014/main" id="{D4946928-211C-4273-B9B9-1F816211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3981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B89FCD1E-1CF3-4C39-A2E4-8285C05A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D59E2B3-574E-4712-8E99-E851E500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721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Discover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93BAF3E-E3E6-4693-B80C-4423A3EC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5785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Official skills, curated lists, community marketplaces, single-purpose repos.</a:t>
            </a:r>
          </a:p>
        </p:txBody>
      </p:sp>
      <p:sp>
        <p:nvSpPr>
          <p:cNvPr id="9" name="step-2-evaluate">
            <a:extLst xmlns:a="http://schemas.openxmlformats.org/drawingml/2006/main">
              <a:ext uri="{FF2B5EF4-FFF2-40B4-BE49-F238E27FC236}">
                <a16:creationId xmlns:a16="http://schemas.microsoft.com/office/drawing/2014/main" id="{4B6489B5-6460-4511-AD67-21974F23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3981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64AC012F-FD7E-47EB-A280-76B4A527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721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9C9995F8-8C9B-4732-948A-B0AA3DE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721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Evaluate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2ACA133-398A-43DF-A94A-94C07F4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5785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Fit, maturity, maintenance, portability, docs, examples, and testability.</a:t>
            </a:r>
          </a:p>
        </p:txBody>
      </p:sp>
      <p:sp>
        <p:nvSpPr>
          <p:cNvPr id="13" name="step-3-assure">
            <a:extLst xmlns:a="http://schemas.openxmlformats.org/drawingml/2006/main">
              <a:ext uri="{FF2B5EF4-FFF2-40B4-BE49-F238E27FC236}">
                <a16:creationId xmlns:a16="http://schemas.microsoft.com/office/drawing/2014/main" id="{9ACA2F4C-DB8B-48DF-A464-C3E7DCE4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81600"/>
            <a:ext cx="3981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3">
            <a:extLst xmlns:a="http://schemas.openxmlformats.org/drawingml/2006/main">
              <a:ext uri="{FF2B5EF4-FFF2-40B4-BE49-F238E27FC236}">
                <a16:creationId xmlns:a16="http://schemas.microsoft.com/office/drawing/2014/main" id="{A7F4E11F-A0EC-4C86-A162-3A6BEB8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721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CEA84EA2-8A3C-4E3A-B609-164DA8FB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3721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Assure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34EBE3B-ADFA-4516-925D-C16BF72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5785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License, scripts, dependencies, network behavior, secrets, prompt-injection risk.</a:t>
            </a:r>
          </a:p>
        </p:txBody>
      </p:sp>
      <p:sp>
        <p:nvSpPr>
          <p:cNvPr id="17" name="step-4-adapt">
            <a:extLst xmlns:a="http://schemas.openxmlformats.org/drawingml/2006/main">
              <a:ext uri="{FF2B5EF4-FFF2-40B4-BE49-F238E27FC236}">
                <a16:creationId xmlns:a16="http://schemas.microsoft.com/office/drawing/2014/main" id="{235BC741-C1CE-4084-B614-E90D9546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105400"/>
            <a:ext cx="398145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4">
            <a:extLst xmlns:a="http://schemas.openxmlformats.org/drawingml/2006/main">
              <a:ext uri="{FF2B5EF4-FFF2-40B4-BE49-F238E27FC236}">
                <a16:creationId xmlns:a16="http://schemas.microsoft.com/office/drawing/2014/main" id="{0320A3D3-978D-4D93-93A1-3BAE7F25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295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4</a:t>
            </a:r>
          </a:p>
        </p:txBody>
      </p:sp>
      <p:sp>
        <p:nvSpPr>
          <p:cNvPr id="19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9C08CBCA-0EF0-4DA0-BA8B-79FA4EA4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29590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Adapt</a:t>
            </a:r>
          </a:p>
        </p:txBody>
      </p:sp>
      <p:sp>
        <p:nvSpPr>
          <p:cNvPr id="20" name="step-body-4">
            <a:extLst xmlns:a="http://schemas.openxmlformats.org/drawingml/2006/main">
              <a:ext uri="{FF2B5EF4-FFF2-40B4-BE49-F238E27FC236}">
                <a16:creationId xmlns:a16="http://schemas.microsoft.com/office/drawing/2014/main" id="{FAF11F12-765A-444A-8805-CBC32488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581650"/>
            <a:ext cx="2933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Convert patterns into DFMS-native skills with rubrics, templates, validators, evidence.</a:t>
            </a:r>
          </a:p>
        </p:txBody>
      </p:sp>
      <p:sp>
        <p:nvSpPr>
          <p:cNvPr id="21" name="external-skills-footer">
            <a:extLst xmlns:a="http://schemas.openxmlformats.org/drawingml/2006/main">
              <a:ext uri="{FF2B5EF4-FFF2-40B4-BE49-F238E27FC236}">
                <a16:creationId xmlns:a16="http://schemas.microsoft.com/office/drawing/2014/main" id="{E1C12010-EDD3-4510-AC27-78D967A4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621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Sources: anthropics/skills, anthropics/claude-plugins-official, awesome-skills.com; imported patterns must pass DFMS gates.</a:t>
            </a:r>
          </a:p>
        </p:txBody>
      </p:sp>
      <p:sp>
        <p:nvSpPr>
          <p:cNvPr id="22" name="external-skills-page">
            <a:extLst xmlns:a="http://schemas.openxmlformats.org/drawingml/2006/main">
              <a:ext uri="{FF2B5EF4-FFF2-40B4-BE49-F238E27FC236}">
                <a16:creationId xmlns:a16="http://schemas.microsoft.com/office/drawing/2014/main" id="{0D3AC2EC-93CF-4EFF-9D1B-E52879A4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140832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02F4EE2-6465-4096-A1B2-DF4E4BCD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skill-curation-eyebrow">
            <a:extLst xmlns:a="http://schemas.openxmlformats.org/drawingml/2006/main">
              <a:ext uri="{FF2B5EF4-FFF2-40B4-BE49-F238E27FC236}">
                <a16:creationId xmlns:a16="http://schemas.microsoft.com/office/drawing/2014/main" id="{C4C1F99A-04E7-4A45-B110-4D7F71B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SKILL CURATION MATRIX</a:t>
            </a:r>
          </a:p>
        </p:txBody>
      </p:sp>
      <p:sp>
        <p:nvSpPr>
          <p:cNvPr id="3" name="skill-curation-title">
            <a:extLst xmlns:a="http://schemas.openxmlformats.org/drawingml/2006/main">
              <a:ext uri="{FF2B5EF4-FFF2-40B4-BE49-F238E27FC236}">
                <a16:creationId xmlns:a16="http://schemas.microsoft.com/office/drawing/2014/main" id="{74A0D885-05FD-4BCD-92D4-03507BC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830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Every factory role can have a best-of-breed skill bench.</a:t>
            </a:r>
          </a:p>
        </p:txBody>
      </p:sp>
      <p:sp>
        <p:nvSpPr>
          <p:cNvPr id="4" name="skill-curation-subtitle">
            <a:extLst xmlns:a="http://schemas.openxmlformats.org/drawingml/2006/main">
              <a:ext uri="{FF2B5EF4-FFF2-40B4-BE49-F238E27FC236}">
                <a16:creationId xmlns:a16="http://schemas.microsoft.com/office/drawing/2014/main" id="{AE52FABC-8BF1-4BFE-8C04-CD3E8FD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221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product becomes stronger when each role has a curated set of skills, test fixtures, validators, and fallback procedures.</a:t>
            </a:r>
          </a:p>
        </p:txBody>
      </p:sp>
      <p:sp>
        <p:nvSpPr>
          <p:cNvPr id="5" name="step-Spec-requirements-bench">
            <a:extLst xmlns:a="http://schemas.openxmlformats.org/drawingml/2006/main">
              <a:ext uri="{FF2B5EF4-FFF2-40B4-BE49-F238E27FC236}">
                <a16:creationId xmlns:a16="http://schemas.microsoft.com/office/drawing/2014/main" id="{0EEC379B-2156-49C8-B03F-4936AFD4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372100" cy="325755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Spec">
            <a:extLst xmlns:a="http://schemas.openxmlformats.org/drawingml/2006/main">
              <a:ext uri="{FF2B5EF4-FFF2-40B4-BE49-F238E27FC236}">
                <a16:creationId xmlns:a16="http://schemas.microsoft.com/office/drawing/2014/main" id="{D6FFF9BB-2A48-48F3-8CF9-16771158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Spec</a:t>
            </a:r>
          </a:p>
        </p:txBody>
      </p:sp>
      <p:sp>
        <p:nvSpPr>
          <p:cNvPr id="7" name="step-title-Spec">
            <a:extLst xmlns:a="http://schemas.openxmlformats.org/drawingml/2006/main">
              <a:ext uri="{FF2B5EF4-FFF2-40B4-BE49-F238E27FC236}">
                <a16:creationId xmlns:a16="http://schemas.microsoft.com/office/drawing/2014/main" id="{1E8D81EF-4C70-4E6B-9B80-935F910D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90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Requirements bench</a:t>
            </a:r>
          </a:p>
        </p:txBody>
      </p:sp>
      <p:sp>
        <p:nvSpPr>
          <p:cNvPr id="8" name="step-body-Spec">
            <a:extLst xmlns:a="http://schemas.openxmlformats.org/drawingml/2006/main">
              <a:ext uri="{FF2B5EF4-FFF2-40B4-BE49-F238E27FC236}">
                <a16:creationId xmlns:a16="http://schemas.microsoft.com/office/drawing/2014/main" id="{17A1624F-C0CD-4094-A6DA-5A6C494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Interviewing, decomposition, NLSpec, acceptance criteria, contradiction checks.</a:t>
            </a:r>
          </a:p>
        </p:txBody>
      </p:sp>
      <p:sp>
        <p:nvSpPr>
          <p:cNvPr id="9" name="step-Arch-architecture-bench">
            <a:extLst xmlns:a="http://schemas.openxmlformats.org/drawingml/2006/main">
              <a:ext uri="{FF2B5EF4-FFF2-40B4-BE49-F238E27FC236}">
                <a16:creationId xmlns:a16="http://schemas.microsoft.com/office/drawing/2014/main" id="{1A5E56EA-C5A0-46FF-BED0-088522B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372100" cy="325755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Arch">
            <a:extLst xmlns:a="http://schemas.openxmlformats.org/drawingml/2006/main">
              <a:ext uri="{FF2B5EF4-FFF2-40B4-BE49-F238E27FC236}">
                <a16:creationId xmlns:a16="http://schemas.microsoft.com/office/drawing/2014/main" id="{2632EEED-A3CF-453C-A35A-76BC9C4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Arch</a:t>
            </a:r>
          </a:p>
        </p:txBody>
      </p:sp>
      <p:sp>
        <p:nvSpPr>
          <p:cNvPr id="11" name="step-title-Arch">
            <a:extLst xmlns:a="http://schemas.openxmlformats.org/drawingml/2006/main">
              <a:ext uri="{FF2B5EF4-FFF2-40B4-BE49-F238E27FC236}">
                <a16:creationId xmlns:a16="http://schemas.microsoft.com/office/drawing/2014/main" id="{A8892FA1-B428-4E80-9AA7-B588150D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Architecture bench</a:t>
            </a:r>
          </a:p>
        </p:txBody>
      </p:sp>
      <p:sp>
        <p:nvSpPr>
          <p:cNvPr id="12" name="step-body-Arch">
            <a:extLst xmlns:a="http://schemas.openxmlformats.org/drawingml/2006/main">
              <a:ext uri="{FF2B5EF4-FFF2-40B4-BE49-F238E27FC236}">
                <a16:creationId xmlns:a16="http://schemas.microsoft.com/office/drawing/2014/main" id="{7BBF8A67-D444-4A22-9BDF-CD5A0E3C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DDD, MDA, threat modeling, API design, data modeling, ADR critique.</a:t>
            </a:r>
          </a:p>
        </p:txBody>
      </p:sp>
      <p:sp>
        <p:nvSpPr>
          <p:cNvPr id="13" name="step-Build-engineering-bench">
            <a:extLst xmlns:a="http://schemas.openxmlformats.org/drawingml/2006/main">
              <a:ext uri="{FF2B5EF4-FFF2-40B4-BE49-F238E27FC236}">
                <a16:creationId xmlns:a16="http://schemas.microsoft.com/office/drawing/2014/main" id="{9CEC0EC2-36C8-49C2-9788-A769DFFA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400300"/>
            <a:ext cx="5372100" cy="325755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Build">
            <a:extLst xmlns:a="http://schemas.openxmlformats.org/drawingml/2006/main">
              <a:ext uri="{FF2B5EF4-FFF2-40B4-BE49-F238E27FC236}">
                <a16:creationId xmlns:a16="http://schemas.microsoft.com/office/drawing/2014/main" id="{44DB3443-EF6D-47E7-BBD9-DAD55B05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590800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Build</a:t>
            </a:r>
          </a:p>
        </p:txBody>
      </p:sp>
      <p:sp>
        <p:nvSpPr>
          <p:cNvPr id="15" name="step-title-Build">
            <a:extLst xmlns:a="http://schemas.openxmlformats.org/drawingml/2006/main">
              <a:ext uri="{FF2B5EF4-FFF2-40B4-BE49-F238E27FC236}">
                <a16:creationId xmlns:a16="http://schemas.microsoft.com/office/drawing/2014/main" id="{1E45F147-469A-4D6D-9BF3-422C4B40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5908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Engineering bench</a:t>
            </a:r>
          </a:p>
        </p:txBody>
      </p:sp>
      <p:sp>
        <p:nvSpPr>
          <p:cNvPr id="16" name="step-body-Build">
            <a:extLst xmlns:a="http://schemas.openxmlformats.org/drawingml/2006/main">
              <a:ext uri="{FF2B5EF4-FFF2-40B4-BE49-F238E27FC236}">
                <a16:creationId xmlns:a16="http://schemas.microsoft.com/office/drawing/2014/main" id="{90525613-A3F7-4A94-8CCA-63A5B824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8765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TDD, migration generation, dependency checks, code review, refactor plans.</a:t>
            </a:r>
          </a:p>
        </p:txBody>
      </p:sp>
      <p:sp>
        <p:nvSpPr>
          <p:cNvPr id="17" name="step-Verify-qa-security-bench">
            <a:extLst xmlns:a="http://schemas.openxmlformats.org/drawingml/2006/main">
              <a:ext uri="{FF2B5EF4-FFF2-40B4-BE49-F238E27FC236}">
                <a16:creationId xmlns:a16="http://schemas.microsoft.com/office/drawing/2014/main" id="{6A4FC3C0-E03A-4E45-BFB5-926EF642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5372100" cy="325755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Verify">
            <a:extLst xmlns:a="http://schemas.openxmlformats.org/drawingml/2006/main">
              <a:ext uri="{FF2B5EF4-FFF2-40B4-BE49-F238E27FC236}">
                <a16:creationId xmlns:a16="http://schemas.microsoft.com/office/drawing/2014/main" id="{8E00E077-6591-40D2-8CE3-A9B76265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38850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Verify</a:t>
            </a:r>
          </a:p>
        </p:txBody>
      </p:sp>
      <p:sp>
        <p:nvSpPr>
          <p:cNvPr id="19" name="step-title-Verify">
            <a:extLst xmlns:a="http://schemas.openxmlformats.org/drawingml/2006/main">
              <a:ext uri="{FF2B5EF4-FFF2-40B4-BE49-F238E27FC236}">
                <a16:creationId xmlns:a16="http://schemas.microsoft.com/office/drawing/2014/main" id="{60596B5F-C615-4E47-9B28-8735E8BF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388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QA/security bench</a:t>
            </a:r>
          </a:p>
        </p:txBody>
      </p:sp>
      <p:sp>
        <p:nvSpPr>
          <p:cNvPr id="20" name="step-body-Verify">
            <a:extLst xmlns:a="http://schemas.openxmlformats.org/drawingml/2006/main">
              <a:ext uri="{FF2B5EF4-FFF2-40B4-BE49-F238E27FC236}">
                <a16:creationId xmlns:a16="http://schemas.microsoft.com/office/drawing/2014/main" id="{6C86F952-8A7D-452E-8EEE-479187BE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246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Test generation, fuzzing, accessibility, static checks, evidence validation.</a:t>
            </a:r>
          </a:p>
        </p:txBody>
      </p:sp>
      <p:sp>
        <p:nvSpPr>
          <p:cNvPr id="21" name="step-Ops-sre-bench">
            <a:extLst xmlns:a="http://schemas.openxmlformats.org/drawingml/2006/main">
              <a:ext uri="{FF2B5EF4-FFF2-40B4-BE49-F238E27FC236}">
                <a16:creationId xmlns:a16="http://schemas.microsoft.com/office/drawing/2014/main" id="{33E4CFCC-496C-4418-A803-56EDF5AD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48350"/>
            <a:ext cx="5372100" cy="325755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Ops">
            <a:extLst xmlns:a="http://schemas.openxmlformats.org/drawingml/2006/main">
              <a:ext uri="{FF2B5EF4-FFF2-40B4-BE49-F238E27FC236}">
                <a16:creationId xmlns:a16="http://schemas.microsoft.com/office/drawing/2014/main" id="{1A3E7AA8-49DF-464D-97F7-DCC80C9E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388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Ops</a:t>
            </a:r>
          </a:p>
        </p:txBody>
      </p:sp>
      <p:sp>
        <p:nvSpPr>
          <p:cNvPr id="23" name="step-title-Ops">
            <a:extLst xmlns:a="http://schemas.openxmlformats.org/drawingml/2006/main">
              <a:ext uri="{FF2B5EF4-FFF2-40B4-BE49-F238E27FC236}">
                <a16:creationId xmlns:a16="http://schemas.microsoft.com/office/drawing/2014/main" id="{E3F7890D-1BA1-457F-A4D9-05FE212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0388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SRE bench</a:t>
            </a:r>
          </a:p>
        </p:txBody>
      </p:sp>
      <p:sp>
        <p:nvSpPr>
          <p:cNvPr id="24" name="step-body-Ops">
            <a:extLst xmlns:a="http://schemas.openxmlformats.org/drawingml/2006/main">
              <a:ext uri="{FF2B5EF4-FFF2-40B4-BE49-F238E27FC236}">
                <a16:creationId xmlns:a16="http://schemas.microsoft.com/office/drawing/2014/main" id="{1D496E5E-523C-4CAC-9FA2-6869097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3246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Runbooks, observability, incident drills, rollback, maintenance handoff.</a:t>
            </a:r>
          </a:p>
        </p:txBody>
      </p:sp>
      <p:sp>
        <p:nvSpPr>
          <p:cNvPr id="25" name="step-Gov-governance-bench">
            <a:extLst xmlns:a="http://schemas.openxmlformats.org/drawingml/2006/main">
              <a:ext uri="{FF2B5EF4-FFF2-40B4-BE49-F238E27FC236}">
                <a16:creationId xmlns:a16="http://schemas.microsoft.com/office/drawing/2014/main" id="{C6F580F0-19B1-4BC7-BF33-6B20C596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848350"/>
            <a:ext cx="5372100" cy="325755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Gov">
            <a:extLst xmlns:a="http://schemas.openxmlformats.org/drawingml/2006/main">
              <a:ext uri="{FF2B5EF4-FFF2-40B4-BE49-F238E27FC236}">
                <a16:creationId xmlns:a16="http://schemas.microsoft.com/office/drawing/2014/main" id="{3FA7763D-4F8A-4F8E-BC82-5E046EAA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0388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Gov</a:t>
            </a:r>
          </a:p>
        </p:txBody>
      </p:sp>
      <p:sp>
        <p:nvSpPr>
          <p:cNvPr id="27" name="step-title-Gov">
            <a:extLst xmlns:a="http://schemas.openxmlformats.org/drawingml/2006/main">
              <a:ext uri="{FF2B5EF4-FFF2-40B4-BE49-F238E27FC236}">
                <a16:creationId xmlns:a16="http://schemas.microsoft.com/office/drawing/2014/main" id="{E830FD21-86D5-420D-976C-F5243FE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0388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Governance bench</a:t>
            </a:r>
          </a:p>
        </p:txBody>
      </p:sp>
      <p:sp>
        <p:nvSpPr>
          <p:cNvPr id="28" name="step-body-Gov">
            <a:extLst xmlns:a="http://schemas.openxmlformats.org/drawingml/2006/main">
              <a:ext uri="{FF2B5EF4-FFF2-40B4-BE49-F238E27FC236}">
                <a16:creationId xmlns:a16="http://schemas.microsoft.com/office/drawing/2014/main" id="{9AF4D0FF-715D-4F2F-946D-F318C363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3246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Standards tailoring, change control, token budgeting, certificates, audit export.</a:t>
            </a:r>
          </a:p>
        </p:txBody>
      </p:sp>
      <p:sp>
        <p:nvSpPr>
          <p:cNvPr id="29" name="skill-curation-footer">
            <a:extLst xmlns:a="http://schemas.openxmlformats.org/drawingml/2006/main">
              <a:ext uri="{FF2B5EF4-FFF2-40B4-BE49-F238E27FC236}">
                <a16:creationId xmlns:a16="http://schemas.microsoft.com/office/drawing/2014/main" id="{632E838F-B296-4D6B-A5DF-70FBA24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skill-curation-page">
            <a:extLst xmlns:a="http://schemas.openxmlformats.org/drawingml/2006/main">
              <a:ext uri="{FF2B5EF4-FFF2-40B4-BE49-F238E27FC236}">
                <a16:creationId xmlns:a16="http://schemas.microsoft.com/office/drawing/2014/main" id="{8663E994-B721-4864-9F12-E31A0B6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327856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09B23EF-75B7-4BD6-B832-056B8D6B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data-objects-eyebrow">
            <a:extLst xmlns:a="http://schemas.openxmlformats.org/drawingml/2006/main">
              <a:ext uri="{FF2B5EF4-FFF2-40B4-BE49-F238E27FC236}">
                <a16:creationId xmlns:a16="http://schemas.microsoft.com/office/drawing/2014/main" id="{92E83BEC-65AE-4D68-B7C8-849FBBFD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CORE OBJECT MODEL</a:t>
            </a:r>
          </a:p>
        </p:txBody>
      </p:sp>
      <p:sp>
        <p:nvSpPr>
          <p:cNvPr id="3" name="data-objects-title">
            <a:extLst xmlns:a="http://schemas.openxmlformats.org/drawingml/2006/main">
              <a:ext uri="{FF2B5EF4-FFF2-40B4-BE49-F238E27FC236}">
                <a16:creationId xmlns:a16="http://schemas.microsoft.com/office/drawing/2014/main" id="{59572B22-BCCA-4371-9737-35209BB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14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product's backbone is a set of durable governed objects.</a:t>
            </a:r>
          </a:p>
        </p:txBody>
      </p:sp>
      <p:sp>
        <p:nvSpPr>
          <p:cNvPr id="4" name="data-objects-subtitle">
            <a:extLst xmlns:a="http://schemas.openxmlformats.org/drawingml/2006/main">
              <a:ext uri="{FF2B5EF4-FFF2-40B4-BE49-F238E27FC236}">
                <a16:creationId xmlns:a16="http://schemas.microsoft.com/office/drawing/2014/main" id="{D7475355-80C9-4318-AB69-31F4EF7B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610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These objects are what make the factory inspectable, resumable, and auditable across long-running work.</a:t>
            </a:r>
          </a:p>
        </p:txBody>
      </p:sp>
      <p:sp>
        <p:nvSpPr>
          <p:cNvPr id="5" name="step-AR-attractor-run">
            <a:extLst xmlns:a="http://schemas.openxmlformats.org/drawingml/2006/main">
              <a:ext uri="{FF2B5EF4-FFF2-40B4-BE49-F238E27FC236}">
                <a16:creationId xmlns:a16="http://schemas.microsoft.com/office/drawing/2014/main" id="{BF11391B-5B40-48ED-B8C8-32CAFD9A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384800" cy="3267075"/>
          </a:xfrm>
          <a:prstGeom xmlns:a="http://schemas.openxmlformats.org/drawingml/2006/main" prst="roundRect">
            <a:avLst>
              <a:gd name="adj" fmla="val 1749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AR">
            <a:extLst xmlns:a="http://schemas.openxmlformats.org/drawingml/2006/main">
              <a:ext uri="{FF2B5EF4-FFF2-40B4-BE49-F238E27FC236}">
                <a16:creationId xmlns:a16="http://schemas.microsoft.com/office/drawing/2014/main" id="{C5BC99A8-7951-4902-B09B-64B30AAB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AR</a:t>
            </a:r>
          </a:p>
        </p:txBody>
      </p:sp>
      <p:sp>
        <p:nvSpPr>
          <p:cNvPr id="7" name="step-title-AR">
            <a:extLst xmlns:a="http://schemas.openxmlformats.org/drawingml/2006/main">
              <a:ext uri="{FF2B5EF4-FFF2-40B4-BE49-F238E27FC236}">
                <a16:creationId xmlns:a16="http://schemas.microsoft.com/office/drawing/2014/main" id="{6C06EF42-4952-456C-BA99-4E87CD38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908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Attractor run</a:t>
            </a:r>
          </a:p>
        </p:txBody>
      </p:sp>
      <p:sp>
        <p:nvSpPr>
          <p:cNvPr id="8" name="step-body-AR">
            <a:extLst xmlns:a="http://schemas.openxmlformats.org/drawingml/2006/main">
              <a:ext uri="{FF2B5EF4-FFF2-40B4-BE49-F238E27FC236}">
                <a16:creationId xmlns:a16="http://schemas.microsoft.com/office/drawing/2014/main" id="{EAC6BB59-F9E7-42C5-805E-BF25C38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Intent field, routing decision, stable state, open decisions.</a:t>
            </a:r>
          </a:p>
        </p:txBody>
      </p:sp>
      <p:sp>
        <p:nvSpPr>
          <p:cNvPr id="9" name="step-CG-control-graph">
            <a:extLst xmlns:a="http://schemas.openxmlformats.org/drawingml/2006/main">
              <a:ext uri="{FF2B5EF4-FFF2-40B4-BE49-F238E27FC236}">
                <a16:creationId xmlns:a16="http://schemas.microsoft.com/office/drawing/2014/main" id="{9DCC1BD5-0EB6-427B-B7BE-FF2E852B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400300"/>
            <a:ext cx="5384800" cy="3267075"/>
          </a:xfrm>
          <a:prstGeom xmlns:a="http://schemas.openxmlformats.org/drawingml/2006/main" prst="roundRect">
            <a:avLst>
              <a:gd name="adj" fmla="val 1749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CG">
            <a:extLst xmlns:a="http://schemas.openxmlformats.org/drawingml/2006/main">
              <a:ext uri="{FF2B5EF4-FFF2-40B4-BE49-F238E27FC236}">
                <a16:creationId xmlns:a16="http://schemas.microsoft.com/office/drawing/2014/main" id="{DC396480-355B-4A7A-8F7B-70C9B151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CG</a:t>
            </a:r>
          </a:p>
        </p:txBody>
      </p:sp>
      <p:sp>
        <p:nvSpPr>
          <p:cNvPr id="11" name="step-title-CG">
            <a:extLst xmlns:a="http://schemas.openxmlformats.org/drawingml/2006/main">
              <a:ext uri="{FF2B5EF4-FFF2-40B4-BE49-F238E27FC236}">
                <a16:creationId xmlns:a16="http://schemas.microsoft.com/office/drawing/2014/main" id="{6E7B5BDE-024A-497C-BD62-E9F3CB43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Control graph</a:t>
            </a:r>
          </a:p>
        </p:txBody>
      </p:sp>
      <p:sp>
        <p:nvSpPr>
          <p:cNvPr id="12" name="step-body-CG">
            <a:extLst xmlns:a="http://schemas.openxmlformats.org/drawingml/2006/main">
              <a:ext uri="{FF2B5EF4-FFF2-40B4-BE49-F238E27FC236}">
                <a16:creationId xmlns:a16="http://schemas.microsoft.com/office/drawing/2014/main" id="{FF285126-8E6C-4806-B8C8-22CAE3F1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434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Nodes, gates, child skills, decisions, evidence outputs, re-entry paths.</a:t>
            </a:r>
          </a:p>
        </p:txBody>
      </p:sp>
      <p:sp>
        <p:nvSpPr>
          <p:cNvPr id="13" name="step-WL-work-ledger">
            <a:extLst xmlns:a="http://schemas.openxmlformats.org/drawingml/2006/main">
              <a:ext uri="{FF2B5EF4-FFF2-40B4-BE49-F238E27FC236}">
                <a16:creationId xmlns:a16="http://schemas.microsoft.com/office/drawing/2014/main" id="{F7497BE4-8A3B-43D9-BD3D-D8A19070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400300"/>
            <a:ext cx="5384800" cy="3267075"/>
          </a:xfrm>
          <a:prstGeom xmlns:a="http://schemas.openxmlformats.org/drawingml/2006/main" prst="roundRect">
            <a:avLst>
              <a:gd name="adj" fmla="val 1749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WL">
            <a:extLst xmlns:a="http://schemas.openxmlformats.org/drawingml/2006/main">
              <a:ext uri="{FF2B5EF4-FFF2-40B4-BE49-F238E27FC236}">
                <a16:creationId xmlns:a16="http://schemas.microsoft.com/office/drawing/2014/main" id="{722EE016-A304-401E-BAD7-C2F2AE9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WL</a:t>
            </a:r>
          </a:p>
        </p:txBody>
      </p:sp>
      <p:sp>
        <p:nvSpPr>
          <p:cNvPr id="15" name="step-title-WL">
            <a:extLst xmlns:a="http://schemas.openxmlformats.org/drawingml/2006/main">
              <a:ext uri="{FF2B5EF4-FFF2-40B4-BE49-F238E27FC236}">
                <a16:creationId xmlns:a16="http://schemas.microsoft.com/office/drawing/2014/main" id="{1C90F18F-20F6-4817-A3A3-17ACB02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59080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Work ledger</a:t>
            </a:r>
          </a:p>
        </p:txBody>
      </p:sp>
      <p:sp>
        <p:nvSpPr>
          <p:cNvPr id="16" name="step-body-WL">
            <a:extLst xmlns:a="http://schemas.openxmlformats.org/drawingml/2006/main">
              <a:ext uri="{FF2B5EF4-FFF2-40B4-BE49-F238E27FC236}">
                <a16:creationId xmlns:a16="http://schemas.microsoft.com/office/drawing/2014/main" id="{13A33A20-A9AF-43BD-ACA4-AD7BBF0C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876550"/>
            <a:ext cx="434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Requirements, tasks, risks, artifacts, owners, statuses, next actions.</a:t>
            </a:r>
          </a:p>
        </p:txBody>
      </p:sp>
      <p:sp>
        <p:nvSpPr>
          <p:cNvPr id="17" name="step-EG-engagement-record">
            <a:extLst xmlns:a="http://schemas.openxmlformats.org/drawingml/2006/main">
              <a:ext uri="{FF2B5EF4-FFF2-40B4-BE49-F238E27FC236}">
                <a16:creationId xmlns:a16="http://schemas.microsoft.com/office/drawing/2014/main" id="{A74085D5-BBAB-40AA-B0DC-18C8FFF2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5384800" cy="3267075"/>
          </a:xfrm>
          <a:prstGeom xmlns:a="http://schemas.openxmlformats.org/drawingml/2006/main" prst="roundRect">
            <a:avLst>
              <a:gd name="adj" fmla="val 1749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EG">
            <a:extLst xmlns:a="http://schemas.openxmlformats.org/drawingml/2006/main">
              <a:ext uri="{FF2B5EF4-FFF2-40B4-BE49-F238E27FC236}">
                <a16:creationId xmlns:a16="http://schemas.microsoft.com/office/drawing/2014/main" id="{649C487A-F5CD-4C59-86BC-EB068ADC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388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EG</a:t>
            </a:r>
          </a:p>
        </p:txBody>
      </p:sp>
      <p:sp>
        <p:nvSpPr>
          <p:cNvPr id="19" name="step-title-EG">
            <a:extLst xmlns:a="http://schemas.openxmlformats.org/drawingml/2006/main">
              <a:ext uri="{FF2B5EF4-FFF2-40B4-BE49-F238E27FC236}">
                <a16:creationId xmlns:a16="http://schemas.microsoft.com/office/drawing/2014/main" id="{6A57391B-DC98-477F-9DF4-B362A544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3885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Engagement record</a:t>
            </a:r>
          </a:p>
        </p:txBody>
      </p:sp>
      <p:sp>
        <p:nvSpPr>
          <p:cNvPr id="20" name="step-body-EG">
            <a:extLst xmlns:a="http://schemas.openxmlformats.org/drawingml/2006/main">
              <a:ext uri="{FF2B5EF4-FFF2-40B4-BE49-F238E27FC236}">
                <a16:creationId xmlns:a16="http://schemas.microsoft.com/office/drawing/2014/main" id="{1F0A775F-9DE6-4BEA-A2EA-22B64E05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324600"/>
            <a:ext cx="434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Client/delivery owners, token budget, checkpoints, change control.</a:t>
            </a:r>
          </a:p>
        </p:txBody>
      </p:sp>
      <p:sp>
        <p:nvSpPr>
          <p:cNvPr id="21" name="step-RG-refinery-gate">
            <a:extLst xmlns:a="http://schemas.openxmlformats.org/drawingml/2006/main">
              <a:ext uri="{FF2B5EF4-FFF2-40B4-BE49-F238E27FC236}">
                <a16:creationId xmlns:a16="http://schemas.microsoft.com/office/drawing/2014/main" id="{042D7B3D-3A40-4F85-A2B5-8244D65A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838825"/>
            <a:ext cx="5384800" cy="3267075"/>
          </a:xfrm>
          <a:prstGeom xmlns:a="http://schemas.openxmlformats.org/drawingml/2006/main" prst="roundRect">
            <a:avLst>
              <a:gd name="adj" fmla="val 1749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RG">
            <a:extLst xmlns:a="http://schemas.openxmlformats.org/drawingml/2006/main">
              <a:ext uri="{FF2B5EF4-FFF2-40B4-BE49-F238E27FC236}">
                <a16:creationId xmlns:a16="http://schemas.microsoft.com/office/drawing/2014/main" id="{63F186E7-5115-4ED1-8EF5-93B769D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388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RG</a:t>
            </a:r>
          </a:p>
        </p:txBody>
      </p:sp>
      <p:sp>
        <p:nvSpPr>
          <p:cNvPr id="23" name="step-title-RG">
            <a:extLst xmlns:a="http://schemas.openxmlformats.org/drawingml/2006/main">
              <a:ext uri="{FF2B5EF4-FFF2-40B4-BE49-F238E27FC236}">
                <a16:creationId xmlns:a16="http://schemas.microsoft.com/office/drawing/2014/main" id="{43DAC4E9-40DA-4F46-B754-DBDCEF96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03885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Refinery gate</a:t>
            </a:r>
          </a:p>
        </p:txBody>
      </p:sp>
      <p:sp>
        <p:nvSpPr>
          <p:cNvPr id="24" name="step-body-RG">
            <a:extLst xmlns:a="http://schemas.openxmlformats.org/drawingml/2006/main">
              <a:ext uri="{FF2B5EF4-FFF2-40B4-BE49-F238E27FC236}">
                <a16:creationId xmlns:a16="http://schemas.microsoft.com/office/drawing/2014/main" id="{BC4B1CB2-4E05-40BA-8442-3204C2D4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324600"/>
            <a:ext cx="434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Rubrics, tests, traceability, security/ops checks, residual risk.</a:t>
            </a:r>
          </a:p>
        </p:txBody>
      </p:sp>
      <p:sp>
        <p:nvSpPr>
          <p:cNvPr id="25" name="step-PB-project-book">
            <a:extLst xmlns:a="http://schemas.openxmlformats.org/drawingml/2006/main">
              <a:ext uri="{FF2B5EF4-FFF2-40B4-BE49-F238E27FC236}">
                <a16:creationId xmlns:a16="http://schemas.microsoft.com/office/drawing/2014/main" id="{A95EBB0C-D4EE-4746-A523-C853226C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5838825"/>
            <a:ext cx="5384800" cy="3267075"/>
          </a:xfrm>
          <a:prstGeom xmlns:a="http://schemas.openxmlformats.org/drawingml/2006/main" prst="roundRect">
            <a:avLst>
              <a:gd name="adj" fmla="val 1749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PB">
            <a:extLst xmlns:a="http://schemas.openxmlformats.org/drawingml/2006/main">
              <a:ext uri="{FF2B5EF4-FFF2-40B4-BE49-F238E27FC236}">
                <a16:creationId xmlns:a16="http://schemas.microsoft.com/office/drawing/2014/main" id="{A4A75C47-85BF-4660-945A-24791E8A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388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PB</a:t>
            </a:r>
          </a:p>
        </p:txBody>
      </p:sp>
      <p:sp>
        <p:nvSpPr>
          <p:cNvPr id="27" name="step-title-PB">
            <a:extLst xmlns:a="http://schemas.openxmlformats.org/drawingml/2006/main">
              <a:ext uri="{FF2B5EF4-FFF2-40B4-BE49-F238E27FC236}">
                <a16:creationId xmlns:a16="http://schemas.microsoft.com/office/drawing/2014/main" id="{DFAAF9D1-9D80-4275-B039-A4447403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038850"/>
            <a:ext cx="434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Project book</a:t>
            </a:r>
          </a:p>
        </p:txBody>
      </p:sp>
      <p:sp>
        <p:nvSpPr>
          <p:cNvPr id="28" name="step-body-PB">
            <a:extLst xmlns:a="http://schemas.openxmlformats.org/drawingml/2006/main">
              <a:ext uri="{FF2B5EF4-FFF2-40B4-BE49-F238E27FC236}">
                <a16:creationId xmlns:a16="http://schemas.microsoft.com/office/drawing/2014/main" id="{5CD7E831-AF86-408E-BBE2-8E018DD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324600"/>
            <a:ext cx="434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Current knowledge index for fresh humans and fresh Codex sessions.</a:t>
            </a:r>
          </a:p>
        </p:txBody>
      </p:sp>
      <p:sp>
        <p:nvSpPr>
          <p:cNvPr id="29" name="data-objects-footer">
            <a:extLst xmlns:a="http://schemas.openxmlformats.org/drawingml/2006/main">
              <a:ext uri="{FF2B5EF4-FFF2-40B4-BE49-F238E27FC236}">
                <a16:creationId xmlns:a16="http://schemas.microsoft.com/office/drawing/2014/main" id="{0E880EA0-1A18-4373-8071-8CF453E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data-objects-page">
            <a:extLst xmlns:a="http://schemas.openxmlformats.org/drawingml/2006/main">
              <a:ext uri="{FF2B5EF4-FFF2-40B4-BE49-F238E27FC236}">
                <a16:creationId xmlns:a16="http://schemas.microsoft.com/office/drawing/2014/main" id="{52075663-51B2-4DF9-8E01-872CD657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7511741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B88C7DF-D220-48FD-B420-360FA66D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standards-eyebrow">
            <a:extLst xmlns:a="http://schemas.openxmlformats.org/drawingml/2006/main">
              <a:ext uri="{FF2B5EF4-FFF2-40B4-BE49-F238E27FC236}">
                <a16:creationId xmlns:a16="http://schemas.microsoft.com/office/drawing/2014/main" id="{2C18FF87-70E9-4D53-B596-99B41D6F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STANDARDIZATION</a:t>
            </a:r>
          </a:p>
        </p:txBody>
      </p:sp>
      <p:sp>
        <p:nvSpPr>
          <p:cNvPr id="3" name="standards-title">
            <a:extLst xmlns:a="http://schemas.openxmlformats.org/drawingml/2006/main">
              <a:ext uri="{FF2B5EF4-FFF2-40B4-BE49-F238E27FC236}">
                <a16:creationId xmlns:a16="http://schemas.microsoft.com/office/drawing/2014/main" id="{74DF3333-F13E-4CC0-B8C4-CC9571A8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877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Standards become operating controls, not appendix claims.</a:t>
            </a:r>
          </a:p>
        </p:txBody>
      </p:sp>
      <p:sp>
        <p:nvSpPr>
          <p:cNvPr id="4" name="standards-subtitle">
            <a:extLst xmlns:a="http://schemas.openxmlformats.org/drawingml/2006/main">
              <a:ext uri="{FF2B5EF4-FFF2-40B4-BE49-F238E27FC236}">
                <a16:creationId xmlns:a16="http://schemas.microsoft.com/office/drawing/2014/main" id="{4D46F9A4-970F-45FD-9707-7BCC16A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9601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DFMS maps lifecycle, artifacts, security, assurance, and operations into explicit nodes and gates.</a:t>
            </a:r>
          </a:p>
        </p:txBody>
      </p:sp>
      <p:sp>
        <p:nvSpPr>
          <p:cNvPr id="5" name="dot-iso-iec-ieee-12207">
            <a:extLst xmlns:a="http://schemas.openxmlformats.org/drawingml/2006/main">
              <a:ext uri="{FF2B5EF4-FFF2-40B4-BE49-F238E27FC236}">
                <a16:creationId xmlns:a16="http://schemas.microsoft.com/office/drawing/2014/main" id="{79A7AA69-3863-4BF1-B45D-31BC50DA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6" name="statement-title-iso-iec-ieee-12207">
            <a:extLst xmlns:a="http://schemas.openxmlformats.org/drawingml/2006/main">
              <a:ext uri="{FF2B5EF4-FFF2-40B4-BE49-F238E27FC236}">
                <a16:creationId xmlns:a16="http://schemas.microsoft.com/office/drawing/2014/main" id="{ECD87EA3-0C22-463E-ACC6-962E4E26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ISO/IEC/IEEE 12207</a:t>
            </a:r>
          </a:p>
        </p:txBody>
      </p:sp>
      <p:sp>
        <p:nvSpPr>
          <p:cNvPr id="7" name="statement-body-iso-iec-ieee-12207">
            <a:extLst xmlns:a="http://schemas.openxmlformats.org/drawingml/2006/main">
              <a:ext uri="{FF2B5EF4-FFF2-40B4-BE49-F238E27FC236}">
                <a16:creationId xmlns:a16="http://schemas.microsoft.com/office/drawing/2014/main" id="{D5020505-2E2E-449F-91BE-8E6D6762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Lifecycle process coverage and phase outcomes.</a:t>
            </a:r>
          </a:p>
        </p:txBody>
      </p:sp>
      <p:sp>
        <p:nvSpPr>
          <p:cNvPr id="8" name="dot-iso-iec-ieee-15289">
            <a:extLst xmlns:a="http://schemas.openxmlformats.org/drawingml/2006/main">
              <a:ext uri="{FF2B5EF4-FFF2-40B4-BE49-F238E27FC236}">
                <a16:creationId xmlns:a16="http://schemas.microsoft.com/office/drawing/2014/main" id="{E5C901C1-467A-4C9F-BB4F-83BD3B48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9" name="statement-title-iso-iec-ieee-15289">
            <a:extLst xmlns:a="http://schemas.openxmlformats.org/drawingml/2006/main">
              <a:ext uri="{FF2B5EF4-FFF2-40B4-BE49-F238E27FC236}">
                <a16:creationId xmlns:a16="http://schemas.microsoft.com/office/drawing/2014/main" id="{BB916D97-47E2-43B3-8975-A8AD57C7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ISO/IEC/IEEE 15289</a:t>
            </a:r>
          </a:p>
        </p:txBody>
      </p:sp>
      <p:sp>
        <p:nvSpPr>
          <p:cNvPr id="10" name="statement-body-iso-iec-ieee-15289">
            <a:extLst xmlns:a="http://schemas.openxmlformats.org/drawingml/2006/main">
              <a:ext uri="{FF2B5EF4-FFF2-40B4-BE49-F238E27FC236}">
                <a16:creationId xmlns:a16="http://schemas.microsoft.com/office/drawing/2014/main" id="{2522981E-6467-47D4-A731-ABA91F0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05450"/>
            <a:ext cx="3848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Information-item discipline for SDLC artifacts.</a:t>
            </a:r>
          </a:p>
        </p:txBody>
      </p:sp>
      <p:sp>
        <p:nvSpPr>
          <p:cNvPr id="11" name="dot-nist-ssdf-owasp-samm">
            <a:extLst xmlns:a="http://schemas.openxmlformats.org/drawingml/2006/main">
              <a:ext uri="{FF2B5EF4-FFF2-40B4-BE49-F238E27FC236}">
                <a16:creationId xmlns:a16="http://schemas.microsoft.com/office/drawing/2014/main" id="{BEA0EEF9-8374-4B8A-8756-3F8DEF70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2" name="statement-title-nist-ssdf-owasp-samm">
            <a:extLst xmlns:a="http://schemas.openxmlformats.org/drawingml/2006/main">
              <a:ext uri="{FF2B5EF4-FFF2-40B4-BE49-F238E27FC236}">
                <a16:creationId xmlns:a16="http://schemas.microsoft.com/office/drawing/2014/main" id="{696D0B4E-7EE9-439E-9E77-BA8D0C6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1505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NIST SSDF + OWASP SAMM</a:t>
            </a:r>
          </a:p>
        </p:txBody>
      </p:sp>
      <p:sp>
        <p:nvSpPr>
          <p:cNvPr id="13" name="statement-body-nist-ssdf-owasp-samm">
            <a:extLst xmlns:a="http://schemas.openxmlformats.org/drawingml/2006/main">
              <a:ext uri="{FF2B5EF4-FFF2-40B4-BE49-F238E27FC236}">
                <a16:creationId xmlns:a16="http://schemas.microsoft.com/office/drawing/2014/main" id="{F8287848-52D3-4208-8754-AE51E4B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38900"/>
            <a:ext cx="457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Secure development and assurance maturity controls.</a:t>
            </a:r>
          </a:p>
        </p:txBody>
      </p:sp>
      <p:sp>
        <p:nvSpPr>
          <p:cNvPr id="14" name="dot-omg-mda-uml-ddd">
            <a:extLst xmlns:a="http://schemas.openxmlformats.org/drawingml/2006/main">
              <a:ext uri="{FF2B5EF4-FFF2-40B4-BE49-F238E27FC236}">
                <a16:creationId xmlns:a16="http://schemas.microsoft.com/office/drawing/2014/main" id="{AF12CEEA-9CAE-49A4-9408-C3AFA0F2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F26464"/>
            </a:solidFill>
            <a:prstDash val="solid"/>
          </a:ln>
        </p:spPr>
      </p:sp>
      <p:sp>
        <p:nvSpPr>
          <p:cNvPr id="15" name="statement-title-omg-mda-uml-ddd">
            <a:extLst xmlns:a="http://schemas.openxmlformats.org/drawingml/2006/main">
              <a:ext uri="{FF2B5EF4-FFF2-40B4-BE49-F238E27FC236}">
                <a16:creationId xmlns:a16="http://schemas.microsoft.com/office/drawing/2014/main" id="{6ED9305E-FF89-4CE7-9756-D413BF4B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485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OMG MDA + UML + DDD</a:t>
            </a:r>
          </a:p>
        </p:txBody>
      </p:sp>
      <p:sp>
        <p:nvSpPr>
          <p:cNvPr id="16" name="statement-body-omg-mda-uml-ddd">
            <a:extLst xmlns:a="http://schemas.openxmlformats.org/drawingml/2006/main">
              <a:ext uri="{FF2B5EF4-FFF2-40B4-BE49-F238E27FC236}">
                <a16:creationId xmlns:a16="http://schemas.microsoft.com/office/drawing/2014/main" id="{8C4EC3A2-9B51-4BBE-B649-9FDA72A1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372350"/>
            <a:ext cx="504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Modeling, bounded contexts, and transformation evidence.</a:t>
            </a:r>
          </a:p>
        </p:txBody>
      </p:sp>
      <p:sp>
        <p:nvSpPr>
          <p:cNvPr id="17" name="standards-big">
            <a:extLst xmlns:a="http://schemas.openxmlformats.org/drawingml/2006/main">
              <a:ext uri="{FF2B5EF4-FFF2-40B4-BE49-F238E27FC236}">
                <a16:creationId xmlns:a16="http://schemas.microsoft.com/office/drawing/2014/main" id="{747E53E4-4DD9-4569-A104-D9EBA40C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57750"/>
            <a:ext cx="45339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AF8"/>
                </a:solidFill>
              </a:defRPr>
            </a:pPr>
            <a:r>
              <a:rPr sz="4350" b="1">
                <a:solidFill>
                  <a:srgbClr val="F7FAF8"/>
                </a:solidFill>
              </a:rPr>
              <a:t>The pitch is not compliance theater.</a:t>
            </a:r>
          </a:p>
        </p:txBody>
      </p:sp>
      <p:sp>
        <p:nvSpPr>
          <p:cNvPr id="18" name="standards-body">
            <a:extLst xmlns:a="http://schemas.openxmlformats.org/drawingml/2006/main">
              <a:ext uri="{FF2B5EF4-FFF2-40B4-BE49-F238E27FC236}">
                <a16:creationId xmlns:a16="http://schemas.microsoft.com/office/drawing/2014/main" id="{DD07ED14-0145-485B-9777-3F4C59A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762750"/>
            <a:ext cx="5410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Each selected standard changes what the factory must produce, review, trace, and verify before a gate closes.</a:t>
            </a:r>
          </a:p>
        </p:txBody>
      </p:sp>
      <p:sp>
        <p:nvSpPr>
          <p:cNvPr id="19" name="standards-footer">
            <a:extLst xmlns:a="http://schemas.openxmlformats.org/drawingml/2006/main">
              <a:ext uri="{FF2B5EF4-FFF2-40B4-BE49-F238E27FC236}">
                <a16:creationId xmlns:a16="http://schemas.microsoft.com/office/drawing/2014/main" id="{FA161B37-50BA-4756-8472-5451247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384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Standards baseline from DFMS design docs; exact tailoring is project-specific.</a:t>
            </a:r>
          </a:p>
        </p:txBody>
      </p:sp>
      <p:sp>
        <p:nvSpPr>
          <p:cNvPr id="20" name="standards-page">
            <a:extLst xmlns:a="http://schemas.openxmlformats.org/drawingml/2006/main">
              <a:ext uri="{FF2B5EF4-FFF2-40B4-BE49-F238E27FC236}">
                <a16:creationId xmlns:a16="http://schemas.microsoft.com/office/drawing/2014/main" id="{B4A4253C-8EAC-44D5-8C94-855BA2E3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6790816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CE1CD00-489D-4BE7-87C6-CFE5CFAD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trace-model-eyebrow">
            <a:extLst xmlns:a="http://schemas.openxmlformats.org/drawingml/2006/main">
              <a:ext uri="{FF2B5EF4-FFF2-40B4-BE49-F238E27FC236}">
                <a16:creationId xmlns:a16="http://schemas.microsoft.com/office/drawing/2014/main" id="{4CA738A0-087C-4B5B-B6BD-ECB6E9A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TRACEABILITY</a:t>
            </a:r>
          </a:p>
        </p:txBody>
      </p:sp>
      <p:sp>
        <p:nvSpPr>
          <p:cNvPr id="3" name="trace-model-title">
            <a:extLst xmlns:a="http://schemas.openxmlformats.org/drawingml/2006/main">
              <a:ext uri="{FF2B5EF4-FFF2-40B4-BE49-F238E27FC236}">
                <a16:creationId xmlns:a16="http://schemas.microsoft.com/office/drawing/2014/main" id="{800B3A8E-EBB1-478A-9A49-C123DB5B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9824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AF8"/>
                </a:solidFill>
              </a:defRPr>
            </a:pPr>
            <a:r>
              <a:rPr sz="3300" b="1">
                <a:solidFill>
                  <a:srgbClr val="F7FAF8"/>
                </a:solidFill>
              </a:rPr>
              <a:t>Every important object must explain why it exists and what proves it.</a:t>
            </a:r>
          </a:p>
        </p:txBody>
      </p:sp>
      <p:sp>
        <p:nvSpPr>
          <p:cNvPr id="4" name="trace-model-subtitle">
            <a:extLst xmlns:a="http://schemas.openxmlformats.org/drawingml/2006/main">
              <a:ext uri="{FF2B5EF4-FFF2-40B4-BE49-F238E27FC236}">
                <a16:creationId xmlns:a16="http://schemas.microsoft.com/office/drawing/2014/main" id="{8AF095E7-B8F8-4C01-9E11-6D5D5C9B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255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Bidirectional traceability ties customer answers to requirements, artifacts, decisions, code, tests, operations, and acceptance.</a:t>
            </a:r>
          </a:p>
        </p:txBody>
      </p:sp>
      <p:sp>
        <p:nvSpPr>
          <p:cNvPr id="5" name="metric-value-intent-requirement-design-code-test-handoff">
            <a:extLst xmlns:a="http://schemas.openxmlformats.org/drawingml/2006/main">
              <a:ext uri="{FF2B5EF4-FFF2-40B4-BE49-F238E27FC236}">
                <a16:creationId xmlns:a16="http://schemas.microsoft.com/office/drawing/2014/main" id="{86A54887-25E9-4902-9392-B1224EDB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704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DD4BF"/>
                </a:solidFill>
              </a:defRPr>
            </a:pPr>
            <a:r>
              <a:rPr sz="5250" b="1">
                <a:solidFill>
                  <a:srgbClr val="2DD4BF"/>
                </a:solidFill>
              </a:rPr>
              <a:t>forward</a:t>
            </a:r>
          </a:p>
        </p:txBody>
      </p:sp>
      <p:sp>
        <p:nvSpPr>
          <p:cNvPr id="6" name="metric-label-intent-requirement-design-code-test-handoff">
            <a:extLst xmlns:a="http://schemas.openxmlformats.org/drawingml/2006/main">
              <a:ext uri="{FF2B5EF4-FFF2-40B4-BE49-F238E27FC236}">
                <a16:creationId xmlns:a16="http://schemas.microsoft.com/office/drawing/2014/main" id="{EDF5AE30-D840-47CD-95C5-0456C0A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743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intent -&gt; requirement -&gt; design -&gt; code -&gt; test -&gt; handoff</a:t>
            </a:r>
          </a:p>
        </p:txBody>
      </p:sp>
      <p:sp>
        <p:nvSpPr>
          <p:cNvPr id="7" name="metric-value-artifact-proof-decision-answer-owner">
            <a:extLst xmlns:a="http://schemas.openxmlformats.org/drawingml/2006/main">
              <a:ext uri="{FF2B5EF4-FFF2-40B4-BE49-F238E27FC236}">
                <a16:creationId xmlns:a16="http://schemas.microsoft.com/office/drawing/2014/main" id="{1428E4DA-509D-458B-858C-5BAF00A2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43600"/>
            <a:ext cx="704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6D17E"/>
                </a:solidFill>
              </a:defRPr>
            </a:pPr>
            <a:r>
              <a:rPr sz="5250" b="1">
                <a:solidFill>
                  <a:srgbClr val="46D17E"/>
                </a:solidFill>
              </a:rPr>
              <a:t>reverse</a:t>
            </a:r>
          </a:p>
        </p:txBody>
      </p:sp>
      <p:sp>
        <p:nvSpPr>
          <p:cNvPr id="8" name="metric-label-artifact-proof-decision-answer-owner">
            <a:extLst xmlns:a="http://schemas.openxmlformats.org/drawingml/2006/main">
              <a:ext uri="{FF2B5EF4-FFF2-40B4-BE49-F238E27FC236}">
                <a16:creationId xmlns:a16="http://schemas.microsoft.com/office/drawing/2014/main" id="{38F7C9C8-4653-4769-98B9-10C04E5B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9B8AE"/>
                </a:solidFill>
              </a:defRPr>
            </a:pPr>
            <a:r>
              <a:rPr sz="1575">
                <a:solidFill>
                  <a:srgbClr val="A9B8AE"/>
                </a:solidFill>
              </a:rPr>
              <a:t>artifact -&gt; proof -&gt; decision -&gt; answer -&gt; owner</a:t>
            </a:r>
          </a:p>
        </p:txBody>
      </p:sp>
      <p:sp>
        <p:nvSpPr>
          <p:cNvPr id="9" name="dot-link-classes">
            <a:extLst xmlns:a="http://schemas.openxmlformats.org/drawingml/2006/main">
              <a:ext uri="{FF2B5EF4-FFF2-40B4-BE49-F238E27FC236}">
                <a16:creationId xmlns:a16="http://schemas.microsoft.com/office/drawing/2014/main" id="{C57EF760-84C4-43FA-82DF-D99CDC1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0" name="statement-title-link-classes">
            <a:extLst xmlns:a="http://schemas.openxmlformats.org/drawingml/2006/main">
              <a:ext uri="{FF2B5EF4-FFF2-40B4-BE49-F238E27FC236}">
                <a16:creationId xmlns:a16="http://schemas.microsoft.com/office/drawing/2014/main" id="{DF07AEAF-F2DD-4D3F-8550-AE2E3F37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Link classes</a:t>
            </a:r>
          </a:p>
        </p:txBody>
      </p:sp>
      <p:sp>
        <p:nvSpPr>
          <p:cNvPr id="11" name="statement-body-link-classes">
            <a:extLst xmlns:a="http://schemas.openxmlformats.org/drawingml/2006/main">
              <a:ext uri="{FF2B5EF4-FFF2-40B4-BE49-F238E27FC236}">
                <a16:creationId xmlns:a16="http://schemas.microsoft.com/office/drawing/2014/main" id="{4EA9B7F7-9925-4118-802B-E8891250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19600"/>
            <a:ext cx="7105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satisfies, verifies, derives_from, implements, mitigates, decides, supersedes, blocks.</a:t>
            </a:r>
          </a:p>
        </p:txBody>
      </p:sp>
      <p:sp>
        <p:nvSpPr>
          <p:cNvPr id="12" name="dot-control-proof">
            <a:extLst xmlns:a="http://schemas.openxmlformats.org/drawingml/2006/main">
              <a:ext uri="{FF2B5EF4-FFF2-40B4-BE49-F238E27FC236}">
                <a16:creationId xmlns:a16="http://schemas.microsoft.com/office/drawing/2014/main" id="{EBF23508-E6F1-4DD9-BAFC-442D08E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673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3" name="statement-title-control-proof">
            <a:extLst xmlns:a="http://schemas.openxmlformats.org/drawingml/2006/main">
              <a:ext uri="{FF2B5EF4-FFF2-40B4-BE49-F238E27FC236}">
                <a16:creationId xmlns:a16="http://schemas.microsoft.com/office/drawing/2014/main" id="{02CA61D0-B8E7-4F6D-85C5-2DF718CE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4825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Control proof</a:t>
            </a:r>
          </a:p>
        </p:txBody>
      </p:sp>
      <p:sp>
        <p:nvSpPr>
          <p:cNvPr id="14" name="statement-body-control-proof">
            <a:extLst xmlns:a="http://schemas.openxmlformats.org/drawingml/2006/main">
              <a:ext uri="{FF2B5EF4-FFF2-40B4-BE49-F238E27FC236}">
                <a16:creationId xmlns:a16="http://schemas.microsoft.com/office/drawing/2014/main" id="{FBE41775-099B-4E59-9811-BE1B05C6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72100"/>
            <a:ext cx="7734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Material work maps to a control graph node and work-ledger item or has an explicit waiver.</a:t>
            </a:r>
          </a:p>
        </p:txBody>
      </p:sp>
      <p:sp>
        <p:nvSpPr>
          <p:cNvPr id="15" name="dot-refinery-proof">
            <a:extLst xmlns:a="http://schemas.openxmlformats.org/drawingml/2006/main">
              <a:ext uri="{FF2B5EF4-FFF2-40B4-BE49-F238E27FC236}">
                <a16:creationId xmlns:a16="http://schemas.microsoft.com/office/drawing/2014/main" id="{BF6AE990-E4A1-4DC1-AE58-29BD4F6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19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6" name="statement-title-refinery-proof">
            <a:extLst xmlns:a="http://schemas.openxmlformats.org/drawingml/2006/main">
              <a:ext uri="{FF2B5EF4-FFF2-40B4-BE49-F238E27FC236}">
                <a16:creationId xmlns:a16="http://schemas.microsoft.com/office/drawing/2014/main" id="{63538F2D-0AC7-4707-ABB9-206D44D8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00075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Refinery proof</a:t>
            </a:r>
          </a:p>
        </p:txBody>
      </p:sp>
      <p:sp>
        <p:nvSpPr>
          <p:cNvPr id="17" name="statement-body-refinery-proof">
            <a:extLst xmlns:a="http://schemas.openxmlformats.org/drawingml/2006/main">
              <a:ext uri="{FF2B5EF4-FFF2-40B4-BE49-F238E27FC236}">
                <a16:creationId xmlns:a16="http://schemas.microsoft.com/office/drawing/2014/main" id="{8B10BFE4-A61A-4E5D-8D0F-085AB23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324600"/>
            <a:ext cx="638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Acceptance or rework outcome is recorded with evidence and residual risk.</a:t>
            </a:r>
          </a:p>
        </p:txBody>
      </p:sp>
      <p:sp>
        <p:nvSpPr>
          <p:cNvPr id="18" name="dot-replay-proof">
            <a:extLst xmlns:a="http://schemas.openxmlformats.org/drawingml/2006/main">
              <a:ext uri="{FF2B5EF4-FFF2-40B4-BE49-F238E27FC236}">
                <a16:creationId xmlns:a16="http://schemas.microsoft.com/office/drawing/2014/main" id="{C42DFA55-3AC4-445B-9A4A-1832215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7437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F26464"/>
            </a:solidFill>
            <a:prstDash val="solid"/>
          </a:ln>
        </p:spPr>
      </p:sp>
      <p:sp>
        <p:nvSpPr>
          <p:cNvPr id="19" name="statement-title-replay-proof">
            <a:extLst xmlns:a="http://schemas.openxmlformats.org/drawingml/2006/main">
              <a:ext uri="{FF2B5EF4-FFF2-40B4-BE49-F238E27FC236}">
                <a16:creationId xmlns:a16="http://schemas.microsoft.com/office/drawing/2014/main" id="{4A024FE2-D3E2-4C4D-BF75-55984A4E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74370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Replay proof</a:t>
            </a:r>
          </a:p>
        </p:txBody>
      </p:sp>
      <p:sp>
        <p:nvSpPr>
          <p:cNvPr id="20" name="statement-body-replay-proof">
            <a:extLst xmlns:a="http://schemas.openxmlformats.org/drawingml/2006/main">
              <a:ext uri="{FF2B5EF4-FFF2-40B4-BE49-F238E27FC236}">
                <a16:creationId xmlns:a16="http://schemas.microsoft.com/office/drawing/2014/main" id="{A5A399CC-4DFB-48CE-BBA2-59E7514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7067550"/>
            <a:ext cx="6229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A fresh human or agent can continue from the package without guessing.</a:t>
            </a:r>
          </a:p>
        </p:txBody>
      </p:sp>
      <p:sp>
        <p:nvSpPr>
          <p:cNvPr id="21" name="trace-model-footer">
            <a:extLst xmlns:a="http://schemas.openxmlformats.org/drawingml/2006/main">
              <a:ext uri="{FF2B5EF4-FFF2-40B4-BE49-F238E27FC236}">
                <a16:creationId xmlns:a16="http://schemas.microsoft.com/office/drawing/2014/main" id="{6296970C-A3BA-4F79-907A-9D12F704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2" name="trace-model-page">
            <a:extLst xmlns:a="http://schemas.openxmlformats.org/drawingml/2006/main">
              <a:ext uri="{FF2B5EF4-FFF2-40B4-BE49-F238E27FC236}">
                <a16:creationId xmlns:a16="http://schemas.microsoft.com/office/drawing/2014/main" id="{72018850-21F3-43F7-8836-D2698CC5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794735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4E2096C-F377-43B6-9442-CDFD8148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control-room-eyebrow">
            <a:extLst xmlns:a="http://schemas.openxmlformats.org/drawingml/2006/main">
              <a:ext uri="{FF2B5EF4-FFF2-40B4-BE49-F238E27FC236}">
                <a16:creationId xmlns:a16="http://schemas.microsoft.com/office/drawing/2014/main" id="{7C391549-2810-4233-BE33-116BB38B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PRODUCT SURFACE</a:t>
            </a:r>
          </a:p>
        </p:txBody>
      </p:sp>
      <p:sp>
        <p:nvSpPr>
          <p:cNvPr id="3" name="control-room-title">
            <a:extLst xmlns:a="http://schemas.openxmlformats.org/drawingml/2006/main">
              <a:ext uri="{FF2B5EF4-FFF2-40B4-BE49-F238E27FC236}">
                <a16:creationId xmlns:a16="http://schemas.microsoft.com/office/drawing/2014/main" id="{C88BCCB4-A293-4BE0-A382-23C9166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88773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natural UI is a delivery control room.</a:t>
            </a:r>
          </a:p>
        </p:txBody>
      </p:sp>
      <p:sp>
        <p:nvSpPr>
          <p:cNvPr id="4" name="control-room-subtitle">
            <a:extLst xmlns:a="http://schemas.openxmlformats.org/drawingml/2006/main">
              <a:ext uri="{FF2B5EF4-FFF2-40B4-BE49-F238E27FC236}">
                <a16:creationId xmlns:a16="http://schemas.microsoft.com/office/drawing/2014/main" id="{DA84A6CE-C79D-424E-B47E-C668010D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163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A buyer should see what the factory is doing, what it costs in tokens, what is blocked, and what evidence exists.</a:t>
            </a:r>
          </a:p>
        </p:txBody>
      </p:sp>
      <p:sp>
        <p:nvSpPr>
          <p:cNvPr id="5" name="control-room-mock">
            <a:extLst xmlns:a="http://schemas.openxmlformats.org/drawingml/2006/main">
              <a:ext uri="{FF2B5EF4-FFF2-40B4-BE49-F238E27FC236}">
                <a16:creationId xmlns:a16="http://schemas.microsoft.com/office/drawing/2014/main" id="{67E806A3-E678-42E5-A43C-17BA5B57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9321641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control-room-title">
            <a:extLst xmlns:a="http://schemas.openxmlformats.org/drawingml/2006/main">
              <a:ext uri="{FF2B5EF4-FFF2-40B4-BE49-F238E27FC236}">
                <a16:creationId xmlns:a16="http://schemas.microsoft.com/office/drawing/2014/main" id="{FED4D3C9-5B0A-4216-A45D-466C4020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1962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Run: GOV-ACME-014</a:t>
            </a:r>
          </a:p>
        </p:txBody>
      </p:sp>
      <p:sp>
        <p:nvSpPr>
          <p:cNvPr id="7" name="pill-checkpoint-pending">
            <a:extLst xmlns:a="http://schemas.openxmlformats.org/drawingml/2006/main">
              <a:ext uri="{FF2B5EF4-FFF2-40B4-BE49-F238E27FC236}">
                <a16:creationId xmlns:a16="http://schemas.microsoft.com/office/drawing/2014/main" id="{62CE957C-6251-475C-BED6-06D83539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341" y="3810000"/>
            <a:ext cx="18097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2414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8" name="pill-text-checkpoint-pending">
            <a:extLst xmlns:a="http://schemas.openxmlformats.org/drawingml/2006/main">
              <a:ext uri="{FF2B5EF4-FFF2-40B4-BE49-F238E27FC236}">
                <a16:creationId xmlns:a16="http://schemas.microsoft.com/office/drawing/2014/main" id="{2A508D3E-59FC-4B82-9A40-3146D39F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148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1A1"/>
                </a:solidFill>
              </a:defRPr>
            </a:pPr>
            <a:r>
              <a:rPr sz="1200" b="1">
                <a:solidFill>
                  <a:srgbClr val="FFE1A1"/>
                </a:solidFill>
              </a:rPr>
              <a:t>checkpoint pending</a:t>
            </a:r>
          </a:p>
        </p:txBody>
      </p:sp>
      <p:sp>
        <p:nvSpPr>
          <p:cNvPr id="9" name="step-73%-trace-closure">
            <a:extLst xmlns:a="http://schemas.openxmlformats.org/drawingml/2006/main">
              <a:ext uri="{FF2B5EF4-FFF2-40B4-BE49-F238E27FC236}">
                <a16:creationId xmlns:a16="http://schemas.microsoft.com/office/drawing/2014/main" id="{BDC0FDA7-9F50-49F6-B622-D77F44BC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2802414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73%">
            <a:extLst xmlns:a="http://schemas.openxmlformats.org/drawingml/2006/main">
              <a:ext uri="{FF2B5EF4-FFF2-40B4-BE49-F238E27FC236}">
                <a16:creationId xmlns:a16="http://schemas.microsoft.com/office/drawing/2014/main" id="{D1B50BFC-A5D9-40CF-B2C2-3FE014EA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73%</a:t>
            </a:r>
          </a:p>
        </p:txBody>
      </p:sp>
      <p:sp>
        <p:nvSpPr>
          <p:cNvPr id="11" name="step-title-73%">
            <a:extLst xmlns:a="http://schemas.openxmlformats.org/drawingml/2006/main">
              <a:ext uri="{FF2B5EF4-FFF2-40B4-BE49-F238E27FC236}">
                <a16:creationId xmlns:a16="http://schemas.microsoft.com/office/drawing/2014/main" id="{7FF1E44B-2ECB-4321-A71B-8C61E76E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291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trace closure</a:t>
            </a:r>
          </a:p>
        </p:txBody>
      </p:sp>
      <p:sp>
        <p:nvSpPr>
          <p:cNvPr id="12" name="step-body-73%">
            <a:extLst xmlns:a="http://schemas.openxmlformats.org/drawingml/2006/main">
              <a:ext uri="{FF2B5EF4-FFF2-40B4-BE49-F238E27FC236}">
                <a16:creationId xmlns:a16="http://schemas.microsoft.com/office/drawing/2014/main" id="{D4E2AD9C-4F2E-4DF0-9B8B-EF812AB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14900"/>
            <a:ext cx="1752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Mandatory links closed.</a:t>
            </a:r>
          </a:p>
        </p:txBody>
      </p:sp>
      <p:sp>
        <p:nvSpPr>
          <p:cNvPr id="13" name="step-mid-token-forecast">
            <a:extLst xmlns:a="http://schemas.openxmlformats.org/drawingml/2006/main">
              <a:ext uri="{FF2B5EF4-FFF2-40B4-BE49-F238E27FC236}">
                <a16:creationId xmlns:a16="http://schemas.microsoft.com/office/drawing/2014/main" id="{DA76862C-9220-4FE3-B12E-16341B27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814" y="4438650"/>
            <a:ext cx="2802414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mid">
            <a:extLst xmlns:a="http://schemas.openxmlformats.org/drawingml/2006/main">
              <a:ext uri="{FF2B5EF4-FFF2-40B4-BE49-F238E27FC236}">
                <a16:creationId xmlns:a16="http://schemas.microsoft.com/office/drawing/2014/main" id="{F7F8A103-44A9-437E-A6DB-9ADF45E0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mid</a:t>
            </a:r>
          </a:p>
        </p:txBody>
      </p:sp>
      <p:sp>
        <p:nvSpPr>
          <p:cNvPr id="15" name="step-title-mid">
            <a:extLst xmlns:a="http://schemas.openxmlformats.org/drawingml/2006/main">
              <a:ext uri="{FF2B5EF4-FFF2-40B4-BE49-F238E27FC236}">
                <a16:creationId xmlns:a16="http://schemas.microsoft.com/office/drawing/2014/main" id="{3F2A6FF4-37BE-4579-919D-EE17307F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291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token forecast</a:t>
            </a:r>
          </a:p>
        </p:txBody>
      </p:sp>
      <p:sp>
        <p:nvSpPr>
          <p:cNvPr id="16" name="step-body-mid">
            <a:extLst xmlns:a="http://schemas.openxmlformats.org/drawingml/2006/main">
              <a:ext uri="{FF2B5EF4-FFF2-40B4-BE49-F238E27FC236}">
                <a16:creationId xmlns:a16="http://schemas.microsoft.com/office/drawing/2014/main" id="{AD654133-68C4-4D38-AE1E-E2B9DB4A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14900"/>
            <a:ext cx="1752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Within approved SWAG.</a:t>
            </a:r>
          </a:p>
        </p:txBody>
      </p:sp>
      <p:sp>
        <p:nvSpPr>
          <p:cNvPr id="17" name="step-2-open-decisions">
            <a:extLst xmlns:a="http://schemas.openxmlformats.org/drawingml/2006/main">
              <a:ext uri="{FF2B5EF4-FFF2-40B4-BE49-F238E27FC236}">
                <a16:creationId xmlns:a16="http://schemas.microsoft.com/office/drawing/2014/main" id="{8B23CB78-CFE4-4A5D-8871-AB939210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677" y="4438650"/>
            <a:ext cx="2802414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2">
            <a:extLst xmlns:a="http://schemas.openxmlformats.org/drawingml/2006/main">
              <a:ext uri="{FF2B5EF4-FFF2-40B4-BE49-F238E27FC236}">
                <a16:creationId xmlns:a16="http://schemas.microsoft.com/office/drawing/2014/main" id="{F6747EC6-196B-474B-81EE-F218F4C9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29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2</a:t>
            </a:r>
          </a:p>
        </p:txBody>
      </p:sp>
      <p:sp>
        <p:nvSpPr>
          <p:cNvPr id="19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4868C5E-1152-4DF0-A0FF-A39C316B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open decisions</a:t>
            </a:r>
          </a:p>
        </p:txBody>
      </p:sp>
      <p:sp>
        <p:nvSpPr>
          <p:cNvPr id="20" name="step-body-2">
            <a:extLst xmlns:a="http://schemas.openxmlformats.org/drawingml/2006/main">
              <a:ext uri="{FF2B5EF4-FFF2-40B4-BE49-F238E27FC236}">
                <a16:creationId xmlns:a16="http://schemas.microsoft.com/office/drawing/2014/main" id="{33B5E413-AA86-431B-AD96-219F8944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14900"/>
            <a:ext cx="1752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Need client approval.</a:t>
            </a:r>
          </a:p>
        </p:txBody>
      </p:sp>
      <p:sp>
        <p:nvSpPr>
          <p:cNvPr id="21" name="control-room-rule">
            <a:extLst xmlns:a="http://schemas.openxmlformats.org/drawingml/2006/main">
              <a:ext uri="{FF2B5EF4-FFF2-40B4-BE49-F238E27FC236}">
                <a16:creationId xmlns:a16="http://schemas.microsoft.com/office/drawing/2014/main" id="{C098988B-035A-4B22-9FE0-59E6547E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874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2" name="control-room-node">
            <a:extLst xmlns:a="http://schemas.openxmlformats.org/drawingml/2006/main">
              <a:ext uri="{FF2B5EF4-FFF2-40B4-BE49-F238E27FC236}">
                <a16:creationId xmlns:a16="http://schemas.microsoft.com/office/drawing/2014/main" id="{7119AE79-5428-4757-B2F5-E274058E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874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A9B8AE"/>
                </a:solidFill>
              </a:defRPr>
            </a:pPr>
            <a:r>
              <a:rPr sz="1725">
                <a:solidFill>
                  <a:srgbClr val="A9B8AE"/>
                </a:solidFill>
              </a:rPr>
              <a:t>current node: recursive spec decomposition -&gt; branch completeness review -&gt; re-interrogation triggers</a:t>
            </a:r>
          </a:p>
        </p:txBody>
      </p:sp>
      <p:sp>
        <p:nvSpPr>
          <p:cNvPr id="23" name="control-room-evidence">
            <a:extLst xmlns:a="http://schemas.openxmlformats.org/drawingml/2006/main">
              <a:ext uri="{FF2B5EF4-FFF2-40B4-BE49-F238E27FC236}">
                <a16:creationId xmlns:a16="http://schemas.microsoft.com/office/drawing/2014/main" id="{F01E020E-E905-4EFB-9888-B277BBF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05550"/>
            <a:ext cx="874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9AF2C8"/>
                </a:solidFill>
              </a:defRPr>
            </a:pPr>
            <a:r>
              <a:rPr sz="1725">
                <a:solidFill>
                  <a:srgbClr val="9AF2C8"/>
                </a:solidFill>
              </a:rPr>
              <a:t>evidence: answer IDs, control graph node, work-ledger item, rubric scorecards, refinery pre-check</a:t>
            </a:r>
          </a:p>
        </p:txBody>
      </p:sp>
      <p:sp>
        <p:nvSpPr>
          <p:cNvPr id="24" name="dot-for-clients">
            <a:extLst xmlns:a="http://schemas.openxmlformats.org/drawingml/2006/main">
              <a:ext uri="{FF2B5EF4-FFF2-40B4-BE49-F238E27FC236}">
                <a16:creationId xmlns:a16="http://schemas.microsoft.com/office/drawing/2014/main" id="{7CCF737A-2D3E-4761-B028-281B3589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876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5" name="statement-title-for-clients">
            <a:extLst xmlns:a="http://schemas.openxmlformats.org/drawingml/2006/main">
              <a:ext uri="{FF2B5EF4-FFF2-40B4-BE49-F238E27FC236}">
                <a16:creationId xmlns:a16="http://schemas.microsoft.com/office/drawing/2014/main" id="{ED429D04-B41B-42B0-AC5D-0BF81BD2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7680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For clients</a:t>
            </a:r>
          </a:p>
        </p:txBody>
      </p:sp>
      <p:sp>
        <p:nvSpPr>
          <p:cNvPr id="26" name="statement-body-for-clients">
            <a:extLst xmlns:a="http://schemas.openxmlformats.org/drawingml/2006/main">
              <a:ext uri="{FF2B5EF4-FFF2-40B4-BE49-F238E27FC236}">
                <a16:creationId xmlns:a16="http://schemas.microsoft.com/office/drawing/2014/main" id="{E90477A1-AB9A-42CE-8A7E-86480E44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200650"/>
            <a:ext cx="5600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Approve scope, tokens, changes, and acceptance with confidence.</a:t>
            </a:r>
          </a:p>
        </p:txBody>
      </p:sp>
      <p:sp>
        <p:nvSpPr>
          <p:cNvPr id="27" name="dot-for-delivery">
            <a:extLst xmlns:a="http://schemas.openxmlformats.org/drawingml/2006/main">
              <a:ext uri="{FF2B5EF4-FFF2-40B4-BE49-F238E27FC236}">
                <a16:creationId xmlns:a16="http://schemas.microsoft.com/office/drawing/2014/main" id="{D80982A1-573F-4440-90B0-7EBFC2A6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674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28" name="statement-title-for-delivery">
            <a:extLst xmlns:a="http://schemas.openxmlformats.org/drawingml/2006/main">
              <a:ext uri="{FF2B5EF4-FFF2-40B4-BE49-F238E27FC236}">
                <a16:creationId xmlns:a16="http://schemas.microsoft.com/office/drawing/2014/main" id="{D4198F73-9F98-4269-BA70-D83FD2E5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4835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For delivery</a:t>
            </a:r>
          </a:p>
        </p:txBody>
      </p:sp>
      <p:sp>
        <p:nvSpPr>
          <p:cNvPr id="29" name="statement-body-for-delivery">
            <a:extLst xmlns:a="http://schemas.openxmlformats.org/drawingml/2006/main">
              <a:ext uri="{FF2B5EF4-FFF2-40B4-BE49-F238E27FC236}">
                <a16:creationId xmlns:a16="http://schemas.microsoft.com/office/drawing/2014/main" id="{598A60AA-FC37-4C80-B99C-08A9542B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7220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Know exactly which node, owner, artifact, and proof is next.</a:t>
            </a:r>
          </a:p>
        </p:txBody>
      </p:sp>
      <p:sp>
        <p:nvSpPr>
          <p:cNvPr id="30" name="dot-for-auditors">
            <a:extLst xmlns:a="http://schemas.openxmlformats.org/drawingml/2006/main">
              <a:ext uri="{FF2B5EF4-FFF2-40B4-BE49-F238E27FC236}">
                <a16:creationId xmlns:a16="http://schemas.microsoft.com/office/drawing/2014/main" id="{A1A2B06C-75E5-4A4E-8489-56AE436B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294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1" name="statement-title-for-auditors">
            <a:extLst xmlns:a="http://schemas.openxmlformats.org/drawingml/2006/main">
              <a:ext uri="{FF2B5EF4-FFF2-40B4-BE49-F238E27FC236}">
                <a16:creationId xmlns:a16="http://schemas.microsoft.com/office/drawing/2014/main" id="{840EBCBD-B56D-425A-9877-4A72AF1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61035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For auditors</a:t>
            </a:r>
          </a:p>
        </p:txBody>
      </p:sp>
      <p:sp>
        <p:nvSpPr>
          <p:cNvPr id="32" name="statement-body-for-auditors">
            <a:extLst xmlns:a="http://schemas.openxmlformats.org/drawingml/2006/main">
              <a:ext uri="{FF2B5EF4-FFF2-40B4-BE49-F238E27FC236}">
                <a16:creationId xmlns:a16="http://schemas.microsoft.com/office/drawing/2014/main" id="{DCC50128-58DF-40F2-A4B1-20D5087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934200"/>
            <a:ext cx="5772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Export the project book, trace ledger, certificates, and residual risks.</a:t>
            </a:r>
          </a:p>
        </p:txBody>
      </p:sp>
      <p:sp>
        <p:nvSpPr>
          <p:cNvPr id="33" name="control-room-footer">
            <a:extLst xmlns:a="http://schemas.openxmlformats.org/drawingml/2006/main">
              <a:ext uri="{FF2B5EF4-FFF2-40B4-BE49-F238E27FC236}">
                <a16:creationId xmlns:a16="http://schemas.microsoft.com/office/drawing/2014/main" id="{4F7C8937-9E56-444E-B71F-A40203F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4" name="control-room-page">
            <a:extLst xmlns:a="http://schemas.openxmlformats.org/drawingml/2006/main">
              <a:ext uri="{FF2B5EF4-FFF2-40B4-BE49-F238E27FC236}">
                <a16:creationId xmlns:a16="http://schemas.microsoft.com/office/drawing/2014/main" id="{B0984670-6EF3-48F1-9263-AE3DE257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7891866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9C31FD-5C1F-4870-9C42-1E5F2722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sre-handoff-eyebrow">
            <a:extLst xmlns:a="http://schemas.openxmlformats.org/drawingml/2006/main">
              <a:ext uri="{FF2B5EF4-FFF2-40B4-BE49-F238E27FC236}">
                <a16:creationId xmlns:a16="http://schemas.microsoft.com/office/drawing/2014/main" id="{FB80AAA9-B529-46B2-8544-E75EADEB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OPERATIONS</a:t>
            </a:r>
          </a:p>
        </p:txBody>
      </p:sp>
      <p:sp>
        <p:nvSpPr>
          <p:cNvPr id="3" name="sre-handoff-title">
            <a:extLst xmlns:a="http://schemas.openxmlformats.org/drawingml/2006/main">
              <a:ext uri="{FF2B5EF4-FFF2-40B4-BE49-F238E27FC236}">
                <a16:creationId xmlns:a16="http://schemas.microsoft.com/office/drawing/2014/main" id="{DA48F1C5-2B46-4A2E-8769-BA994D25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2014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Production handoff is a first-class product outcome.</a:t>
            </a:r>
          </a:p>
        </p:txBody>
      </p:sp>
      <p:sp>
        <p:nvSpPr>
          <p:cNvPr id="4" name="sre-handoff-subtitle">
            <a:extLst xmlns:a="http://schemas.openxmlformats.org/drawingml/2006/main">
              <a:ext uri="{FF2B5EF4-FFF2-40B4-BE49-F238E27FC236}">
                <a16:creationId xmlns:a16="http://schemas.microsoft.com/office/drawing/2014/main" id="{A646D83A-E5AA-48C9-8B2C-4510D15F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87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If humans own production, the factory still has to prepare them to debug, operate, and maintain the system.</a:t>
            </a:r>
          </a:p>
        </p:txBody>
      </p:sp>
      <p:sp>
        <p:nvSpPr>
          <p:cNvPr id="5" name="step-1-release-readiness">
            <a:extLst xmlns:a="http://schemas.openxmlformats.org/drawingml/2006/main">
              <a:ext uri="{FF2B5EF4-FFF2-40B4-BE49-F238E27FC236}">
                <a16:creationId xmlns:a16="http://schemas.microsoft.com/office/drawing/2014/main" id="{510068CE-9375-4243-9A66-21EA64C4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26B24E5A-12CD-4AE3-A5B0-A47B5E70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97BF1B28-0C87-4FCC-B9AC-B8DE072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Release readiness</a:t>
            </a:r>
          </a:p>
        </p:txBody>
      </p:sp>
      <p:sp>
        <p:nvSpPr>
          <p:cNvPr id="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80B8D5C-CAC4-4DA6-AC8E-66099006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623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Deployment guide, rollback, config, dependency, and environment proof.</a:t>
            </a:r>
          </a:p>
        </p:txBody>
      </p:sp>
      <p:sp>
        <p:nvSpPr>
          <p:cNvPr id="9" name="step-2-observability">
            <a:extLst xmlns:a="http://schemas.openxmlformats.org/drawingml/2006/main">
              <a:ext uri="{FF2B5EF4-FFF2-40B4-BE49-F238E27FC236}">
                <a16:creationId xmlns:a16="http://schemas.microsoft.com/office/drawing/2014/main" id="{C98DB53D-279F-4A75-8311-43DBDF8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76525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2">
            <a:extLst xmlns:a="http://schemas.openxmlformats.org/drawingml/2006/main">
              <a:ext uri="{FF2B5EF4-FFF2-40B4-BE49-F238E27FC236}">
                <a16:creationId xmlns:a16="http://schemas.microsoft.com/office/drawing/2014/main" id="{EE86392A-8168-4F95-B9DF-B2404B1E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2</a:t>
            </a:r>
          </a:p>
        </p:txBody>
      </p:sp>
      <p:sp>
        <p:nvSpPr>
          <p:cNvPr id="1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7B183B7B-02BB-4CF5-9379-BFB1864B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Observability</a:t>
            </a:r>
          </a:p>
        </p:txBody>
      </p:sp>
      <p:sp>
        <p:nvSpPr>
          <p:cNvPr id="1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35775AE5-6EFA-4A81-96F0-F89D860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6230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SLIs, logs, metrics, traces, alerts, dashboards, ownership.</a:t>
            </a:r>
          </a:p>
        </p:txBody>
      </p:sp>
      <p:sp>
        <p:nvSpPr>
          <p:cNvPr id="13" name="step-3-incident-path">
            <a:extLst xmlns:a="http://schemas.openxmlformats.org/drawingml/2006/main">
              <a:ext uri="{FF2B5EF4-FFF2-40B4-BE49-F238E27FC236}">
                <a16:creationId xmlns:a16="http://schemas.microsoft.com/office/drawing/2014/main" id="{FA1BC266-2D59-43DA-92E2-AD36EB4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76525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3">
            <a:extLst xmlns:a="http://schemas.openxmlformats.org/drawingml/2006/main">
              <a:ext uri="{FF2B5EF4-FFF2-40B4-BE49-F238E27FC236}">
                <a16:creationId xmlns:a16="http://schemas.microsoft.com/office/drawing/2014/main" id="{C14B4009-3DC9-406F-97DC-C7D2E89A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6309244A-7561-4ADB-99D1-D8C8CFFF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Incident path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AA01ECA-F722-44E2-BB3E-24C7AD30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1623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Failure modes, diagnosis, escalation, mitigation, security response.</a:t>
            </a:r>
          </a:p>
        </p:txBody>
      </p:sp>
      <p:sp>
        <p:nvSpPr>
          <p:cNvPr id="17" name="step-4-outage-drill">
            <a:extLst xmlns:a="http://schemas.openxmlformats.org/drawingml/2006/main">
              <a:ext uri="{FF2B5EF4-FFF2-40B4-BE49-F238E27FC236}">
                <a16:creationId xmlns:a16="http://schemas.microsoft.com/office/drawing/2014/main" id="{D31BD8BD-632E-457A-808C-B5AA1FE8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6463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4">
            <a:extLst xmlns:a="http://schemas.openxmlformats.org/drawingml/2006/main">
              <a:ext uri="{FF2B5EF4-FFF2-40B4-BE49-F238E27FC236}">
                <a16:creationId xmlns:a16="http://schemas.microsoft.com/office/drawing/2014/main" id="{A2E6DE16-11A7-4D85-AF3D-536C1F2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72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4</a:t>
            </a:r>
          </a:p>
        </p:txBody>
      </p:sp>
      <p:sp>
        <p:nvSpPr>
          <p:cNvPr id="19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D552DAE6-3313-4CCF-B572-3A81AB99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1722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Outage drill</a:t>
            </a:r>
          </a:p>
        </p:txBody>
      </p:sp>
      <p:sp>
        <p:nvSpPr>
          <p:cNvPr id="20" name="step-body-4">
            <a:extLst xmlns:a="http://schemas.openxmlformats.org/drawingml/2006/main">
              <a:ext uri="{FF2B5EF4-FFF2-40B4-BE49-F238E27FC236}">
                <a16:creationId xmlns:a16="http://schemas.microsoft.com/office/drawing/2014/main" id="{47DEA75F-1F9E-41AE-A613-6384E788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Runbook replay against scenarios with operator signoff.</a:t>
            </a:r>
          </a:p>
        </p:txBody>
      </p:sp>
      <p:sp>
        <p:nvSpPr>
          <p:cNvPr id="21" name="step-5-maintenance-guide">
            <a:extLst xmlns:a="http://schemas.openxmlformats.org/drawingml/2006/main">
              <a:ext uri="{FF2B5EF4-FFF2-40B4-BE49-F238E27FC236}">
                <a16:creationId xmlns:a16="http://schemas.microsoft.com/office/drawing/2014/main" id="{59A2A391-08AD-41B4-812A-1F4782E2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86463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5">
            <a:extLst xmlns:a="http://schemas.openxmlformats.org/drawingml/2006/main">
              <a:ext uri="{FF2B5EF4-FFF2-40B4-BE49-F238E27FC236}">
                <a16:creationId xmlns:a16="http://schemas.microsoft.com/office/drawing/2014/main" id="{5F29AE27-9166-4ACC-8AC8-CEF7A73B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172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5</a:t>
            </a:r>
          </a:p>
        </p:txBody>
      </p:sp>
      <p:sp>
        <p:nvSpPr>
          <p:cNvPr id="23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335F52F8-AEDF-4DF4-B572-A740A55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1722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Maintenance guide</a:t>
            </a:r>
          </a:p>
        </p:txBody>
      </p:sp>
      <p:sp>
        <p:nvSpPr>
          <p:cNvPr id="24" name="step-body-5">
            <a:extLst xmlns:a="http://schemas.openxmlformats.org/drawingml/2006/main">
              <a:ext uri="{FF2B5EF4-FFF2-40B4-BE49-F238E27FC236}">
                <a16:creationId xmlns:a16="http://schemas.microsoft.com/office/drawing/2014/main" id="{D2FC7FC9-7885-4FFE-B404-9BB5FC68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579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Code map, common changes, regression commands, known risks.</a:t>
            </a:r>
          </a:p>
        </p:txBody>
      </p:sp>
      <p:sp>
        <p:nvSpPr>
          <p:cNvPr id="25" name="step-6-human-training">
            <a:extLst xmlns:a="http://schemas.openxmlformats.org/drawingml/2006/main">
              <a:ext uri="{FF2B5EF4-FFF2-40B4-BE49-F238E27FC236}">
                <a16:creationId xmlns:a16="http://schemas.microsoft.com/office/drawing/2014/main" id="{02191FE5-9EA4-4E6A-B126-3DB7DE31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86463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6">
            <a:extLst xmlns:a="http://schemas.openxmlformats.org/drawingml/2006/main">
              <a:ext uri="{FF2B5EF4-FFF2-40B4-BE49-F238E27FC236}">
                <a16:creationId xmlns:a16="http://schemas.microsoft.com/office/drawing/2014/main" id="{E7F5FF2C-BEA3-4452-8A06-84F85FFF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172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6</a:t>
            </a:r>
          </a:p>
        </p:txBody>
      </p:sp>
      <p:sp>
        <p:nvSpPr>
          <p:cNvPr id="27" name="step-title-6">
            <a:extLst xmlns:a="http://schemas.openxmlformats.org/drawingml/2006/main">
              <a:ext uri="{FF2B5EF4-FFF2-40B4-BE49-F238E27FC236}">
                <a16:creationId xmlns:a16="http://schemas.microsoft.com/office/drawing/2014/main" id="{80427B10-4CD3-41F0-87C3-BB8BE7AB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1722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Human training</a:t>
            </a:r>
          </a:p>
        </p:txBody>
      </p:sp>
      <p:sp>
        <p:nvSpPr>
          <p:cNvPr id="28" name="step-body-6">
            <a:extLst xmlns:a="http://schemas.openxmlformats.org/drawingml/2006/main">
              <a:ext uri="{FF2B5EF4-FFF2-40B4-BE49-F238E27FC236}">
                <a16:creationId xmlns:a16="http://schemas.microsoft.com/office/drawing/2014/main" id="{AC3AECAC-A695-4B3B-BE9C-414BDFA3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4579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Walkthrough, evidence package, open risks, and handback path.</a:t>
            </a:r>
          </a:p>
        </p:txBody>
      </p:sp>
      <p:sp>
        <p:nvSpPr>
          <p:cNvPr id="29" name="sre-handoff-footer">
            <a:extLst xmlns:a="http://schemas.openxmlformats.org/drawingml/2006/main">
              <a:ext uri="{FF2B5EF4-FFF2-40B4-BE49-F238E27FC236}">
                <a16:creationId xmlns:a16="http://schemas.microsoft.com/office/drawing/2014/main" id="{C7C092C8-531A-417C-88CC-B5272A5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sre-handoff-page">
            <a:extLst xmlns:a="http://schemas.openxmlformats.org/drawingml/2006/main">
              <a:ext uri="{FF2B5EF4-FFF2-40B4-BE49-F238E27FC236}">
                <a16:creationId xmlns:a16="http://schemas.microsoft.com/office/drawing/2014/main" id="{4A33F9D4-0FF9-4BE5-A6A5-38B1656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1153773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8FC862-7EF4-4CFC-B68B-F57C81E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memory-learning-eyebrow">
            <a:extLst xmlns:a="http://schemas.openxmlformats.org/drawingml/2006/main">
              <a:ext uri="{FF2B5EF4-FFF2-40B4-BE49-F238E27FC236}">
                <a16:creationId xmlns:a16="http://schemas.microsoft.com/office/drawing/2014/main" id="{6FCED501-1E51-4DEC-92AD-7F0941F5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CONTEXT AND LEARNING</a:t>
            </a:r>
          </a:p>
        </p:txBody>
      </p:sp>
      <p:sp>
        <p:nvSpPr>
          <p:cNvPr id="3" name="memory-learning-title">
            <a:extLst xmlns:a="http://schemas.openxmlformats.org/drawingml/2006/main">
              <a:ext uri="{FF2B5EF4-FFF2-40B4-BE49-F238E27FC236}">
                <a16:creationId xmlns:a16="http://schemas.microsoft.com/office/drawing/2014/main" id="{15BCD8D9-64C3-43A9-AF25-25D5143D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6017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factory must survive long projects and improve after every run.</a:t>
            </a:r>
          </a:p>
        </p:txBody>
      </p:sp>
      <p:sp>
        <p:nvSpPr>
          <p:cNvPr id="4" name="memory-learning-subtitle">
            <a:extLst xmlns:a="http://schemas.openxmlformats.org/drawingml/2006/main">
              <a:ext uri="{FF2B5EF4-FFF2-40B4-BE49-F238E27FC236}">
                <a16:creationId xmlns:a16="http://schemas.microsoft.com/office/drawing/2014/main" id="{581EBD67-FBC4-4D3F-ACE6-6579C50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010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Context rot is treated as a product defect. Lessons feed back into templates, validators, rubrics, and scenarios.</a:t>
            </a:r>
          </a:p>
        </p:txBody>
      </p:sp>
      <p:sp>
        <p:nvSpPr>
          <p:cNvPr id="5" name="dot-project-book-index">
            <a:extLst xmlns:a="http://schemas.openxmlformats.org/drawingml/2006/main">
              <a:ext uri="{FF2B5EF4-FFF2-40B4-BE49-F238E27FC236}">
                <a16:creationId xmlns:a16="http://schemas.microsoft.com/office/drawing/2014/main" id="{DA6B7A14-5D94-47E6-956E-8696D1F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6" name="statement-title-project-book-index">
            <a:extLst xmlns:a="http://schemas.openxmlformats.org/drawingml/2006/main">
              <a:ext uri="{FF2B5EF4-FFF2-40B4-BE49-F238E27FC236}">
                <a16:creationId xmlns:a16="http://schemas.microsoft.com/office/drawing/2014/main" id="{69D4EE60-76DF-4367-835C-C2D8DE5A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Project book index</a:t>
            </a:r>
          </a:p>
        </p:txBody>
      </p:sp>
      <p:sp>
        <p:nvSpPr>
          <p:cNvPr id="7" name="statement-body-project-book-index">
            <a:extLst xmlns:a="http://schemas.openxmlformats.org/drawingml/2006/main">
              <a:ext uri="{FF2B5EF4-FFF2-40B4-BE49-F238E27FC236}">
                <a16:creationId xmlns:a16="http://schemas.microsoft.com/office/drawing/2014/main" id="{4D1475F0-A722-4AF7-878C-8087C552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6610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Fresh current-state map instead of reading the full repo and transcript history.</a:t>
            </a:r>
          </a:p>
        </p:txBody>
      </p:sp>
      <p:sp>
        <p:nvSpPr>
          <p:cNvPr id="8" name="dot-predecessor-recovery">
            <a:extLst xmlns:a="http://schemas.openxmlformats.org/drawingml/2006/main">
              <a:ext uri="{FF2B5EF4-FFF2-40B4-BE49-F238E27FC236}">
                <a16:creationId xmlns:a16="http://schemas.microsoft.com/office/drawing/2014/main" id="{D7D950F2-E775-4939-BF18-D8BA8D02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9" name="statement-title-predecessor-recovery">
            <a:extLst xmlns:a="http://schemas.openxmlformats.org/drawingml/2006/main">
              <a:ext uri="{FF2B5EF4-FFF2-40B4-BE49-F238E27FC236}">
                <a16:creationId xmlns:a16="http://schemas.microsoft.com/office/drawing/2014/main" id="{D93C4A3E-1CAC-46C3-A322-D90F393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Predecessor recovery</a:t>
            </a:r>
          </a:p>
        </p:txBody>
      </p:sp>
      <p:sp>
        <p:nvSpPr>
          <p:cNvPr id="10" name="statement-body-predecessor-recovery">
            <a:extLst xmlns:a="http://schemas.openxmlformats.org/drawingml/2006/main">
              <a:ext uri="{FF2B5EF4-FFF2-40B4-BE49-F238E27FC236}">
                <a16:creationId xmlns:a16="http://schemas.microsoft.com/office/drawing/2014/main" id="{AE2E66AE-7571-4CF8-A65B-3AC3199A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43600"/>
            <a:ext cx="594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Recover decisions, drift, and next action when a new session resumes.</a:t>
            </a:r>
          </a:p>
        </p:txBody>
      </p:sp>
      <p:sp>
        <p:nvSpPr>
          <p:cNvPr id="11" name="dot-replay-drills">
            <a:extLst xmlns:a="http://schemas.openxmlformats.org/drawingml/2006/main">
              <a:ext uri="{FF2B5EF4-FFF2-40B4-BE49-F238E27FC236}">
                <a16:creationId xmlns:a16="http://schemas.microsoft.com/office/drawing/2014/main" id="{46E3732F-D35F-4996-87A8-01EA088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2" name="statement-title-replay-drills">
            <a:extLst xmlns:a="http://schemas.openxmlformats.org/drawingml/2006/main">
              <a:ext uri="{FF2B5EF4-FFF2-40B4-BE49-F238E27FC236}">
                <a16:creationId xmlns:a16="http://schemas.microsoft.com/office/drawing/2014/main" id="{1E473F34-F672-4D96-B9BF-BB40C7CA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38175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Replay drills</a:t>
            </a:r>
          </a:p>
        </p:txBody>
      </p:sp>
      <p:sp>
        <p:nvSpPr>
          <p:cNvPr id="13" name="statement-body-replay-drills">
            <a:extLst xmlns:a="http://schemas.openxmlformats.org/drawingml/2006/main">
              <a:ext uri="{FF2B5EF4-FFF2-40B4-BE49-F238E27FC236}">
                <a16:creationId xmlns:a16="http://schemas.microsoft.com/office/drawing/2014/main" id="{68C2C723-5345-441F-8BBD-4C3966F2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705600"/>
            <a:ext cx="622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Prove that handoff packages work by having a fresh actor continue safely.</a:t>
            </a:r>
          </a:p>
        </p:txBody>
      </p:sp>
      <p:sp>
        <p:nvSpPr>
          <p:cNvPr id="14" name="dot-retrospective-records">
            <a:extLst xmlns:a="http://schemas.openxmlformats.org/drawingml/2006/main">
              <a:ext uri="{FF2B5EF4-FFF2-40B4-BE49-F238E27FC236}">
                <a16:creationId xmlns:a16="http://schemas.microsoft.com/office/drawing/2014/main" id="{32F03D71-371C-4BC9-AAB9-6FF8F18D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625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F26464"/>
            </a:solidFill>
            <a:prstDash val="solid"/>
          </a:ln>
        </p:spPr>
      </p:sp>
      <p:sp>
        <p:nvSpPr>
          <p:cNvPr id="15" name="statement-title-retrospective-records">
            <a:extLst xmlns:a="http://schemas.openxmlformats.org/drawingml/2006/main">
              <a:ext uri="{FF2B5EF4-FFF2-40B4-BE49-F238E27FC236}">
                <a16:creationId xmlns:a16="http://schemas.microsoft.com/office/drawing/2014/main" id="{B70EBDC5-7C69-458D-9663-716F63D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4345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Retrospective records</a:t>
            </a:r>
          </a:p>
        </p:txBody>
      </p:sp>
      <p:sp>
        <p:nvSpPr>
          <p:cNvPr id="16" name="statement-body-retrospective-records">
            <a:extLst xmlns:a="http://schemas.openxmlformats.org/drawingml/2006/main">
              <a:ext uri="{FF2B5EF4-FFF2-40B4-BE49-F238E27FC236}">
                <a16:creationId xmlns:a16="http://schemas.microsoft.com/office/drawing/2014/main" id="{11103B3C-7F2E-4FAD-B36A-BC1FA976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6730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Capture friction, failures, missed checks, and human feedback.</a:t>
            </a:r>
          </a:p>
        </p:txBody>
      </p:sp>
      <p:sp>
        <p:nvSpPr>
          <p:cNvPr id="17" name="dot-template-updates">
            <a:extLst xmlns:a="http://schemas.openxmlformats.org/drawingml/2006/main">
              <a:ext uri="{FF2B5EF4-FFF2-40B4-BE49-F238E27FC236}">
                <a16:creationId xmlns:a16="http://schemas.microsoft.com/office/drawing/2014/main" id="{7AB0A9DE-AE0C-4EA4-9C16-E8C2F17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245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8" name="statement-title-template-updates">
            <a:extLst xmlns:a="http://schemas.openxmlformats.org/drawingml/2006/main">
              <a:ext uri="{FF2B5EF4-FFF2-40B4-BE49-F238E27FC236}">
                <a16:creationId xmlns:a16="http://schemas.microsoft.com/office/drawing/2014/main" id="{DA6C0626-9E24-439B-952D-C2B0F0BC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0545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Template updates</a:t>
            </a:r>
          </a:p>
        </p:txBody>
      </p:sp>
      <p:sp>
        <p:nvSpPr>
          <p:cNvPr id="19" name="statement-body-template-updates">
            <a:extLst xmlns:a="http://schemas.openxmlformats.org/drawingml/2006/main">
              <a:ext uri="{FF2B5EF4-FFF2-40B4-BE49-F238E27FC236}">
                <a16:creationId xmlns:a16="http://schemas.microsoft.com/office/drawing/2014/main" id="{33DA5040-9A8E-4AE0-AD50-18472201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29300"/>
            <a:ext cx="579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Improve artifacts, validators, and rubrics based on observed defects.</a:t>
            </a:r>
          </a:p>
        </p:txBody>
      </p:sp>
      <p:sp>
        <p:nvSpPr>
          <p:cNvPr id="20" name="dot-standards-watch">
            <a:extLst xmlns:a="http://schemas.openxmlformats.org/drawingml/2006/main">
              <a:ext uri="{FF2B5EF4-FFF2-40B4-BE49-F238E27FC236}">
                <a16:creationId xmlns:a16="http://schemas.microsoft.com/office/drawing/2014/main" id="{5DA559C4-7B37-4E2B-BAAD-BEEF72E4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2865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21" name="statement-title-standards-watch">
            <a:extLst xmlns:a="http://schemas.openxmlformats.org/drawingml/2006/main">
              <a:ext uri="{FF2B5EF4-FFF2-40B4-BE49-F238E27FC236}">
                <a16:creationId xmlns:a16="http://schemas.microsoft.com/office/drawing/2014/main" id="{9773C6BA-1DEC-4B27-9A3B-0052E9AA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267450"/>
            <a:ext cx="7696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Standards watch</a:t>
            </a:r>
          </a:p>
        </p:txBody>
      </p:sp>
      <p:sp>
        <p:nvSpPr>
          <p:cNvPr id="22" name="statement-body-standards-watch">
            <a:extLst xmlns:a="http://schemas.openxmlformats.org/drawingml/2006/main">
              <a:ext uri="{FF2B5EF4-FFF2-40B4-BE49-F238E27FC236}">
                <a16:creationId xmlns:a16="http://schemas.microsoft.com/office/drawing/2014/main" id="{8684F86A-C699-4ACB-9A5B-C7EBA64B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91300"/>
            <a:ext cx="6972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Version baselines and update process when standards or company policy changes.</a:t>
            </a:r>
          </a:p>
        </p:txBody>
      </p:sp>
      <p:sp>
        <p:nvSpPr>
          <p:cNvPr id="23" name="memory-learning-footer">
            <a:extLst xmlns:a="http://schemas.openxmlformats.org/drawingml/2006/main">
              <a:ext uri="{FF2B5EF4-FFF2-40B4-BE49-F238E27FC236}">
                <a16:creationId xmlns:a16="http://schemas.microsoft.com/office/drawing/2014/main" id="{D2DA0FC0-B55B-4479-9EBA-92A0FE4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4" name="memory-learning-page">
            <a:extLst xmlns:a="http://schemas.openxmlformats.org/drawingml/2006/main">
              <a:ext uri="{FF2B5EF4-FFF2-40B4-BE49-F238E27FC236}">
                <a16:creationId xmlns:a16="http://schemas.microsoft.com/office/drawing/2014/main" id="{324E38F3-4879-4A80-AB71-A5EC61AC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930972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A1ADF30-31F4-4E39-BF53-1158B5DF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risk-controls-eyebrow">
            <a:extLst xmlns:a="http://schemas.openxmlformats.org/drawingml/2006/main">
              <a:ext uri="{FF2B5EF4-FFF2-40B4-BE49-F238E27FC236}">
                <a16:creationId xmlns:a16="http://schemas.microsoft.com/office/drawing/2014/main" id="{B6FFDA22-6FA7-4D42-817F-19E4DC2D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RISK CONTROLS</a:t>
            </a:r>
          </a:p>
        </p:txBody>
      </p:sp>
      <p:sp>
        <p:nvSpPr>
          <p:cNvPr id="3" name="risk-controls-title">
            <a:extLst xmlns:a="http://schemas.openxmlformats.org/drawingml/2006/main">
              <a:ext uri="{FF2B5EF4-FFF2-40B4-BE49-F238E27FC236}">
                <a16:creationId xmlns:a16="http://schemas.microsoft.com/office/drawing/2014/main" id="{19C3BAAB-4EED-49F2-A5B2-F6E61E53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9634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product wins trust by refusing to hide residual risk.</a:t>
            </a:r>
          </a:p>
        </p:txBody>
      </p:sp>
      <p:sp>
        <p:nvSpPr>
          <p:cNvPr id="4" name="risk-controls-subtitle">
            <a:extLst xmlns:a="http://schemas.openxmlformats.org/drawingml/2006/main">
              <a:ext uri="{FF2B5EF4-FFF2-40B4-BE49-F238E27FC236}">
                <a16:creationId xmlns:a16="http://schemas.microsoft.com/office/drawing/2014/main" id="{2260CCEF-58E0-41AF-B75E-F20D1D90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93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Every serious delivery system has risk; DFMS makes risk explicit, owned, time-bounded, and tied to evidence.</a:t>
            </a:r>
          </a:p>
        </p:txBody>
      </p:sp>
      <p:sp>
        <p:nvSpPr>
          <p:cNvPr id="5" name="step-R1-spec-ambiguity">
            <a:extLst xmlns:a="http://schemas.openxmlformats.org/drawingml/2006/main">
              <a:ext uri="{FF2B5EF4-FFF2-40B4-BE49-F238E27FC236}">
                <a16:creationId xmlns:a16="http://schemas.microsoft.com/office/drawing/2014/main" id="{E93F7DAE-196F-40D7-ACD1-AEFEE503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R1">
            <a:extLst xmlns:a="http://schemas.openxmlformats.org/drawingml/2006/main">
              <a:ext uri="{FF2B5EF4-FFF2-40B4-BE49-F238E27FC236}">
                <a16:creationId xmlns:a16="http://schemas.microsoft.com/office/drawing/2014/main" id="{B2E716A4-1EF0-4CEB-ADC1-21F90D86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R1</a:t>
            </a:r>
          </a:p>
        </p:txBody>
      </p:sp>
      <p:sp>
        <p:nvSpPr>
          <p:cNvPr id="7" name="step-title-R1">
            <a:extLst xmlns:a="http://schemas.openxmlformats.org/drawingml/2006/main">
              <a:ext uri="{FF2B5EF4-FFF2-40B4-BE49-F238E27FC236}">
                <a16:creationId xmlns:a16="http://schemas.microsoft.com/office/drawing/2014/main" id="{E701BF68-FD70-471E-A8EA-DFD091E0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Spec ambiguity</a:t>
            </a:r>
          </a:p>
        </p:txBody>
      </p:sp>
      <p:sp>
        <p:nvSpPr>
          <p:cNvPr id="8" name="step-body-R1">
            <a:extLst xmlns:a="http://schemas.openxmlformats.org/drawingml/2006/main">
              <a:ext uri="{FF2B5EF4-FFF2-40B4-BE49-F238E27FC236}">
                <a16:creationId xmlns:a16="http://schemas.microsoft.com/office/drawing/2014/main" id="{76FD87FD-27F3-4A3D-BACF-83327EE0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6230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Contradiction scoring, re-interrogation, assumption approval.</a:t>
            </a:r>
          </a:p>
        </p:txBody>
      </p:sp>
      <p:sp>
        <p:nvSpPr>
          <p:cNvPr id="9" name="step-R2-overfitting">
            <a:extLst xmlns:a="http://schemas.openxmlformats.org/drawingml/2006/main">
              <a:ext uri="{FF2B5EF4-FFF2-40B4-BE49-F238E27FC236}">
                <a16:creationId xmlns:a16="http://schemas.microsoft.com/office/drawing/2014/main" id="{1DCC1D4C-5142-4EBF-86B6-FAC7550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76525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R2">
            <a:extLst xmlns:a="http://schemas.openxmlformats.org/drawingml/2006/main">
              <a:ext uri="{FF2B5EF4-FFF2-40B4-BE49-F238E27FC236}">
                <a16:creationId xmlns:a16="http://schemas.microsoft.com/office/drawing/2014/main" id="{E41E77AE-1C07-48D0-A944-F864A558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R2</a:t>
            </a:r>
          </a:p>
        </p:txBody>
      </p:sp>
      <p:sp>
        <p:nvSpPr>
          <p:cNvPr id="11" name="step-title-R2">
            <a:extLst xmlns:a="http://schemas.openxmlformats.org/drawingml/2006/main">
              <a:ext uri="{FF2B5EF4-FFF2-40B4-BE49-F238E27FC236}">
                <a16:creationId xmlns:a16="http://schemas.microsoft.com/office/drawing/2014/main" id="{4FA2CCE4-3485-4B54-BB5F-799527C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Overfitting</a:t>
            </a:r>
          </a:p>
        </p:txBody>
      </p:sp>
      <p:sp>
        <p:nvSpPr>
          <p:cNvPr id="12" name="step-body-R2">
            <a:extLst xmlns:a="http://schemas.openxmlformats.org/drawingml/2006/main">
              <a:ext uri="{FF2B5EF4-FFF2-40B4-BE49-F238E27FC236}">
                <a16:creationId xmlns:a16="http://schemas.microsoft.com/office/drawing/2014/main" id="{DF391162-3E73-43D3-874B-0458271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623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Holdout scenarios and transfer tests across greenfield/brownfield examples.</a:t>
            </a:r>
          </a:p>
        </p:txBody>
      </p:sp>
      <p:sp>
        <p:nvSpPr>
          <p:cNvPr id="13" name="step-R3-false-proof">
            <a:extLst xmlns:a="http://schemas.openxmlformats.org/drawingml/2006/main">
              <a:ext uri="{FF2B5EF4-FFF2-40B4-BE49-F238E27FC236}">
                <a16:creationId xmlns:a16="http://schemas.microsoft.com/office/drawing/2014/main" id="{898CC23F-5615-46A3-89D2-4953AD9E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76525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R3">
            <a:extLst xmlns:a="http://schemas.openxmlformats.org/drawingml/2006/main">
              <a:ext uri="{FF2B5EF4-FFF2-40B4-BE49-F238E27FC236}">
                <a16:creationId xmlns:a16="http://schemas.microsoft.com/office/drawing/2014/main" id="{FF2AFE61-75F7-459C-9CDD-86C6D5BE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76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R3</a:t>
            </a:r>
          </a:p>
        </p:txBody>
      </p:sp>
      <p:sp>
        <p:nvSpPr>
          <p:cNvPr id="15" name="step-title-R3">
            <a:extLst xmlns:a="http://schemas.openxmlformats.org/drawingml/2006/main">
              <a:ext uri="{FF2B5EF4-FFF2-40B4-BE49-F238E27FC236}">
                <a16:creationId xmlns:a16="http://schemas.microsoft.com/office/drawing/2014/main" id="{69678D02-45C1-4CF8-B2EA-37A56B4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28765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False proof</a:t>
            </a:r>
          </a:p>
        </p:txBody>
      </p:sp>
      <p:sp>
        <p:nvSpPr>
          <p:cNvPr id="16" name="step-body-R3">
            <a:extLst xmlns:a="http://schemas.openxmlformats.org/drawingml/2006/main">
              <a:ext uri="{FF2B5EF4-FFF2-40B4-BE49-F238E27FC236}">
                <a16:creationId xmlns:a16="http://schemas.microsoft.com/office/drawing/2014/main" id="{75EDD974-FC61-4418-AF30-93B60517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31623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Validators reject blank templates and missing instantiated evidence.</a:t>
            </a:r>
          </a:p>
        </p:txBody>
      </p:sp>
      <p:sp>
        <p:nvSpPr>
          <p:cNvPr id="17" name="step-R4-budget-drift">
            <a:extLst xmlns:a="http://schemas.openxmlformats.org/drawingml/2006/main">
              <a:ext uri="{FF2B5EF4-FFF2-40B4-BE49-F238E27FC236}">
                <a16:creationId xmlns:a16="http://schemas.microsoft.com/office/drawing/2014/main" id="{0D0C73C0-9A57-4BFB-AE03-9B4BDE7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6463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R4">
            <a:extLst xmlns:a="http://schemas.openxmlformats.org/drawingml/2006/main">
              <a:ext uri="{FF2B5EF4-FFF2-40B4-BE49-F238E27FC236}">
                <a16:creationId xmlns:a16="http://schemas.microsoft.com/office/drawing/2014/main" id="{32440FB7-3829-4FF8-BB8E-C920C0B8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72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R4</a:t>
            </a:r>
          </a:p>
        </p:txBody>
      </p:sp>
      <p:sp>
        <p:nvSpPr>
          <p:cNvPr id="19" name="step-title-R4">
            <a:extLst xmlns:a="http://schemas.openxmlformats.org/drawingml/2006/main">
              <a:ext uri="{FF2B5EF4-FFF2-40B4-BE49-F238E27FC236}">
                <a16:creationId xmlns:a16="http://schemas.microsoft.com/office/drawing/2014/main" id="{F51E7472-A4BC-4F6E-A787-91112DF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1722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Budget drift</a:t>
            </a:r>
          </a:p>
        </p:txBody>
      </p:sp>
      <p:sp>
        <p:nvSpPr>
          <p:cNvPr id="20" name="step-body-R4">
            <a:extLst xmlns:a="http://schemas.openxmlformats.org/drawingml/2006/main">
              <a:ext uri="{FF2B5EF4-FFF2-40B4-BE49-F238E27FC236}">
                <a16:creationId xmlns:a16="http://schemas.microsoft.com/office/drawing/2014/main" id="{CB0758E3-15CA-46DF-9919-6905922D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Token SWAG reapproval rules and change-control impact fields.</a:t>
            </a:r>
          </a:p>
        </p:txBody>
      </p:sp>
      <p:sp>
        <p:nvSpPr>
          <p:cNvPr id="21" name="step-R5-context-rot">
            <a:extLst xmlns:a="http://schemas.openxmlformats.org/drawingml/2006/main">
              <a:ext uri="{FF2B5EF4-FFF2-40B4-BE49-F238E27FC236}">
                <a16:creationId xmlns:a16="http://schemas.microsoft.com/office/drawing/2014/main" id="{82F688D3-3669-448B-B5D6-8E26B3D6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86463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R5">
            <a:extLst xmlns:a="http://schemas.openxmlformats.org/drawingml/2006/main">
              <a:ext uri="{FF2B5EF4-FFF2-40B4-BE49-F238E27FC236}">
                <a16:creationId xmlns:a16="http://schemas.microsoft.com/office/drawing/2014/main" id="{17E74F68-49BA-4FB7-A9FD-B820A2D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172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R5</a:t>
            </a:r>
          </a:p>
        </p:txBody>
      </p:sp>
      <p:sp>
        <p:nvSpPr>
          <p:cNvPr id="23" name="step-title-R5">
            <a:extLst xmlns:a="http://schemas.openxmlformats.org/drawingml/2006/main">
              <a:ext uri="{FF2B5EF4-FFF2-40B4-BE49-F238E27FC236}">
                <a16:creationId xmlns:a16="http://schemas.microsoft.com/office/drawing/2014/main" id="{538EB6F7-BAB4-4C30-9024-22861CA0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1722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Context rot</a:t>
            </a:r>
          </a:p>
        </p:txBody>
      </p:sp>
      <p:sp>
        <p:nvSpPr>
          <p:cNvPr id="24" name="step-body-R5">
            <a:extLst xmlns:a="http://schemas.openxmlformats.org/drawingml/2006/main">
              <a:ext uri="{FF2B5EF4-FFF2-40B4-BE49-F238E27FC236}">
                <a16:creationId xmlns:a16="http://schemas.microsoft.com/office/drawing/2014/main" id="{94747C25-A38E-4E62-B35C-FCC88587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5795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Project book, predecessor recovery, and replay drills.</a:t>
            </a:r>
          </a:p>
        </p:txBody>
      </p:sp>
      <p:sp>
        <p:nvSpPr>
          <p:cNvPr id="25" name="step-R6-production-fear">
            <a:extLst xmlns:a="http://schemas.openxmlformats.org/drawingml/2006/main">
              <a:ext uri="{FF2B5EF4-FFF2-40B4-BE49-F238E27FC236}">
                <a16:creationId xmlns:a16="http://schemas.microsoft.com/office/drawing/2014/main" id="{F098F341-4E07-482E-9ADA-634CD4A9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986463"/>
            <a:ext cx="5372100" cy="3119438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R6">
            <a:extLst xmlns:a="http://schemas.openxmlformats.org/drawingml/2006/main">
              <a:ext uri="{FF2B5EF4-FFF2-40B4-BE49-F238E27FC236}">
                <a16:creationId xmlns:a16="http://schemas.microsoft.com/office/drawing/2014/main" id="{490B0316-ADEF-45D3-88FE-065E3985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172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R6</a:t>
            </a:r>
          </a:p>
        </p:txBody>
      </p:sp>
      <p:sp>
        <p:nvSpPr>
          <p:cNvPr id="27" name="step-title-R6">
            <a:extLst xmlns:a="http://schemas.openxmlformats.org/drawingml/2006/main">
              <a:ext uri="{FF2B5EF4-FFF2-40B4-BE49-F238E27FC236}">
                <a16:creationId xmlns:a16="http://schemas.microsoft.com/office/drawing/2014/main" id="{C7AE5BD9-2537-4A1B-9740-040FBFFC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17220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Production fear</a:t>
            </a:r>
          </a:p>
        </p:txBody>
      </p:sp>
      <p:sp>
        <p:nvSpPr>
          <p:cNvPr id="28" name="step-body-R6">
            <a:extLst xmlns:a="http://schemas.openxmlformats.org/drawingml/2006/main">
              <a:ext uri="{FF2B5EF4-FFF2-40B4-BE49-F238E27FC236}">
                <a16:creationId xmlns:a16="http://schemas.microsoft.com/office/drawing/2014/main" id="{6ACC42A5-51DF-4586-8597-FD1E606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457950"/>
            <a:ext cx="432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Runbooks, outage drills, incident replay, and human signoff.</a:t>
            </a:r>
          </a:p>
        </p:txBody>
      </p:sp>
      <p:sp>
        <p:nvSpPr>
          <p:cNvPr id="29" name="risk-controls-footer">
            <a:extLst xmlns:a="http://schemas.openxmlformats.org/drawingml/2006/main">
              <a:ext uri="{FF2B5EF4-FFF2-40B4-BE49-F238E27FC236}">
                <a16:creationId xmlns:a16="http://schemas.microsoft.com/office/drawing/2014/main" id="{FC771442-4F3D-478C-B60C-43C39D9A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risk-controls-page">
            <a:extLst xmlns:a="http://schemas.openxmlformats.org/drawingml/2006/main">
              <a:ext uri="{FF2B5EF4-FFF2-40B4-BE49-F238E27FC236}">
                <a16:creationId xmlns:a16="http://schemas.microsoft.com/office/drawing/2014/main" id="{B65A60EA-B20C-4AFB-A01F-48BC623D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1306839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FE4C87B-63C4-4B5A-98EF-A335A45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use-cases-eyebrow">
            <a:extLst xmlns:a="http://schemas.openxmlformats.org/drawingml/2006/main">
              <a:ext uri="{FF2B5EF4-FFF2-40B4-BE49-F238E27FC236}">
                <a16:creationId xmlns:a16="http://schemas.microsoft.com/office/drawing/2014/main" id="{81663D13-133B-4587-BA03-4B873E17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WHERE IT WINS</a:t>
            </a:r>
          </a:p>
        </p:txBody>
      </p:sp>
      <p:sp>
        <p:nvSpPr>
          <p:cNvPr id="3" name="use-cases-title">
            <a:extLst xmlns:a="http://schemas.openxmlformats.org/drawingml/2006/main">
              <a:ext uri="{FF2B5EF4-FFF2-40B4-BE49-F238E27FC236}">
                <a16:creationId xmlns:a16="http://schemas.microsoft.com/office/drawing/2014/main" id="{D2E2D87F-302D-40AE-A5B2-4ADD6719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7541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Best first customers have software risk, not just coding backlog.</a:t>
            </a:r>
          </a:p>
        </p:txBody>
      </p:sp>
      <p:sp>
        <p:nvSpPr>
          <p:cNvPr id="4" name="use-cases-subtitle">
            <a:extLst xmlns:a="http://schemas.openxmlformats.org/drawingml/2006/main">
              <a:ext uri="{FF2B5EF4-FFF2-40B4-BE49-F238E27FC236}">
                <a16:creationId xmlns:a16="http://schemas.microsoft.com/office/drawing/2014/main" id="{5F420938-5021-4FE6-81B2-491B9BC2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9791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factory is strongest where buyer confidence, evidence, and handoff matter as much as speed.</a:t>
            </a:r>
          </a:p>
        </p:txBody>
      </p:sp>
      <p:sp>
        <p:nvSpPr>
          <p:cNvPr id="5" name="step-A-regulated-product-teams">
            <a:extLst xmlns:a="http://schemas.openxmlformats.org/drawingml/2006/main">
              <a:ext uri="{FF2B5EF4-FFF2-40B4-BE49-F238E27FC236}">
                <a16:creationId xmlns:a16="http://schemas.microsoft.com/office/drawing/2014/main" id="{D738C97E-20A9-41B8-BF66-5B41B0AE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8105775" cy="1933575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A">
            <a:extLst xmlns:a="http://schemas.openxmlformats.org/drawingml/2006/main">
              <a:ext uri="{FF2B5EF4-FFF2-40B4-BE49-F238E27FC236}">
                <a16:creationId xmlns:a16="http://schemas.microsoft.com/office/drawing/2014/main" id="{ECE478B8-55BA-41A7-9394-B5A73756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A</a:t>
            </a:r>
          </a:p>
        </p:txBody>
      </p:sp>
      <p:sp>
        <p:nvSpPr>
          <p:cNvPr id="7" name="step-title-A">
            <a:extLst xmlns:a="http://schemas.openxmlformats.org/drawingml/2006/main">
              <a:ext uri="{FF2B5EF4-FFF2-40B4-BE49-F238E27FC236}">
                <a16:creationId xmlns:a16="http://schemas.microsoft.com/office/drawing/2014/main" id="{47CAD95C-86CE-4962-9E15-306A4ECC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706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Regulated product teams</a:t>
            </a:r>
          </a:p>
        </p:txBody>
      </p:sp>
      <p:sp>
        <p:nvSpPr>
          <p:cNvPr id="8" name="step-body-A">
            <a:extLst xmlns:a="http://schemas.openxmlformats.org/drawingml/2006/main">
              <a:ext uri="{FF2B5EF4-FFF2-40B4-BE49-F238E27FC236}">
                <a16:creationId xmlns:a16="http://schemas.microsoft.com/office/drawing/2014/main" id="{1EEA4A56-BF9E-4B50-9F81-1CBA92CC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9950"/>
            <a:ext cx="7067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Need requirements, tests, security evidence, and audit-ready handoff.</a:t>
            </a:r>
          </a:p>
        </p:txBody>
      </p:sp>
      <p:sp>
        <p:nvSpPr>
          <p:cNvPr id="9" name="step-B-brownfield-modernization">
            <a:extLst xmlns:a="http://schemas.openxmlformats.org/drawingml/2006/main">
              <a:ext uri="{FF2B5EF4-FFF2-40B4-BE49-F238E27FC236}">
                <a16:creationId xmlns:a16="http://schemas.microsoft.com/office/drawing/2014/main" id="{3777B3BD-898F-44CA-B7CA-B067BF69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24175"/>
            <a:ext cx="8105775" cy="1933575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B">
            <a:extLst xmlns:a="http://schemas.openxmlformats.org/drawingml/2006/main">
              <a:ext uri="{FF2B5EF4-FFF2-40B4-BE49-F238E27FC236}">
                <a16:creationId xmlns:a16="http://schemas.microsoft.com/office/drawing/2014/main" id="{8791E363-318E-4DD3-B0F2-C1D0CD2E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242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B</a:t>
            </a:r>
          </a:p>
        </p:txBody>
      </p:sp>
      <p:sp>
        <p:nvSpPr>
          <p:cNvPr id="11" name="step-title-B">
            <a:extLst xmlns:a="http://schemas.openxmlformats.org/drawingml/2006/main">
              <a:ext uri="{FF2B5EF4-FFF2-40B4-BE49-F238E27FC236}">
                <a16:creationId xmlns:a16="http://schemas.microsoft.com/office/drawing/2014/main" id="{CE00F22B-7940-4298-BC4D-4E0B50E4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24200"/>
            <a:ext cx="706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Brownfield modernization</a:t>
            </a:r>
          </a:p>
        </p:txBody>
      </p:sp>
      <p:sp>
        <p:nvSpPr>
          <p:cNvPr id="12" name="step-body-B">
            <a:extLst xmlns:a="http://schemas.openxmlformats.org/drawingml/2006/main">
              <a:ext uri="{FF2B5EF4-FFF2-40B4-BE49-F238E27FC236}">
                <a16:creationId xmlns:a16="http://schemas.microsoft.com/office/drawing/2014/main" id="{21378497-8627-4254-99FC-DE114CEB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09950"/>
            <a:ext cx="7067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Need recon, impact analysis, drift repair, and regression proof.</a:t>
            </a:r>
          </a:p>
        </p:txBody>
      </p:sp>
      <p:sp>
        <p:nvSpPr>
          <p:cNvPr id="13" name="step-C-enterprise-app-delivery">
            <a:extLst xmlns:a="http://schemas.openxmlformats.org/drawingml/2006/main">
              <a:ext uri="{FF2B5EF4-FFF2-40B4-BE49-F238E27FC236}">
                <a16:creationId xmlns:a16="http://schemas.microsoft.com/office/drawing/2014/main" id="{90AF4578-B439-41A8-91CC-97781D8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8105775" cy="1933575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C">
            <a:extLst xmlns:a="http://schemas.openxmlformats.org/drawingml/2006/main">
              <a:ext uri="{FF2B5EF4-FFF2-40B4-BE49-F238E27FC236}">
                <a16:creationId xmlns:a16="http://schemas.microsoft.com/office/drawing/2014/main" id="{56446D2C-DA13-4A7F-83D6-0C8BA333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C</a:t>
            </a:r>
          </a:p>
        </p:txBody>
      </p:sp>
      <p:sp>
        <p:nvSpPr>
          <p:cNvPr id="15" name="step-title-C">
            <a:extLst xmlns:a="http://schemas.openxmlformats.org/drawingml/2006/main">
              <a:ext uri="{FF2B5EF4-FFF2-40B4-BE49-F238E27FC236}">
                <a16:creationId xmlns:a16="http://schemas.microsoft.com/office/drawing/2014/main" id="{729F3849-4307-49BC-AA1E-7BD5165D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38750"/>
            <a:ext cx="706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Enterprise app delivery</a:t>
            </a:r>
          </a:p>
        </p:txBody>
      </p:sp>
      <p:sp>
        <p:nvSpPr>
          <p:cNvPr id="16" name="step-body-C">
            <a:extLst xmlns:a="http://schemas.openxmlformats.org/drawingml/2006/main">
              <a:ext uri="{FF2B5EF4-FFF2-40B4-BE49-F238E27FC236}">
                <a16:creationId xmlns:a16="http://schemas.microsoft.com/office/drawing/2014/main" id="{64554757-D4B5-4B79-9CCA-2FC2681F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7067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Need PRD-to-production artifacts with client checkpoints.</a:t>
            </a:r>
          </a:p>
        </p:txBody>
      </p:sp>
      <p:sp>
        <p:nvSpPr>
          <p:cNvPr id="17" name="step-D-sre-and-maintenance-transfer">
            <a:extLst xmlns:a="http://schemas.openxmlformats.org/drawingml/2006/main">
              <a:ext uri="{FF2B5EF4-FFF2-40B4-BE49-F238E27FC236}">
                <a16:creationId xmlns:a16="http://schemas.microsoft.com/office/drawing/2014/main" id="{500D3683-1609-46FE-9AF5-6242201F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048250"/>
            <a:ext cx="8105775" cy="1933575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D">
            <a:extLst xmlns:a="http://schemas.openxmlformats.org/drawingml/2006/main">
              <a:ext uri="{FF2B5EF4-FFF2-40B4-BE49-F238E27FC236}">
                <a16:creationId xmlns:a16="http://schemas.microsoft.com/office/drawing/2014/main" id="{FE9115BC-B3EF-4BF5-A20E-ECF6230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387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D</a:t>
            </a:r>
          </a:p>
        </p:txBody>
      </p:sp>
      <p:sp>
        <p:nvSpPr>
          <p:cNvPr id="19" name="step-title-D">
            <a:extLst xmlns:a="http://schemas.openxmlformats.org/drawingml/2006/main">
              <a:ext uri="{FF2B5EF4-FFF2-40B4-BE49-F238E27FC236}">
                <a16:creationId xmlns:a16="http://schemas.microsoft.com/office/drawing/2014/main" id="{B2FB0FE5-4242-4BA9-A68F-60A7518E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38750"/>
            <a:ext cx="706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SRE and maintenance transfer</a:t>
            </a:r>
          </a:p>
        </p:txBody>
      </p:sp>
      <p:sp>
        <p:nvSpPr>
          <p:cNvPr id="20" name="step-body-D">
            <a:extLst xmlns:a="http://schemas.openxmlformats.org/drawingml/2006/main">
              <a:ext uri="{FF2B5EF4-FFF2-40B4-BE49-F238E27FC236}">
                <a16:creationId xmlns:a16="http://schemas.microsoft.com/office/drawing/2014/main" id="{E400FF5E-C627-4253-AE4B-FD01E0D4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0"/>
            <a:ext cx="7067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Need runbooks, drills, incident replay, and owner confidence.</a:t>
            </a:r>
          </a:p>
        </p:txBody>
      </p:sp>
      <p:sp>
        <p:nvSpPr>
          <p:cNvPr id="21" name="step-E-vendor-oversight-teams">
            <a:extLst xmlns:a="http://schemas.openxmlformats.org/drawingml/2006/main">
              <a:ext uri="{FF2B5EF4-FFF2-40B4-BE49-F238E27FC236}">
                <a16:creationId xmlns:a16="http://schemas.microsoft.com/office/drawing/2014/main" id="{9B971D3C-E641-4FB7-937D-8394DF1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72325"/>
            <a:ext cx="8105775" cy="1933575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2" name="step-num-E">
            <a:extLst xmlns:a="http://schemas.openxmlformats.org/drawingml/2006/main">
              <a:ext uri="{FF2B5EF4-FFF2-40B4-BE49-F238E27FC236}">
                <a16:creationId xmlns:a16="http://schemas.microsoft.com/office/drawing/2014/main" id="{867E0038-678E-49F2-B6A2-3C103AE9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72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E</a:t>
            </a:r>
          </a:p>
        </p:txBody>
      </p:sp>
      <p:sp>
        <p:nvSpPr>
          <p:cNvPr id="23" name="step-title-E">
            <a:extLst xmlns:a="http://schemas.openxmlformats.org/drawingml/2006/main">
              <a:ext uri="{FF2B5EF4-FFF2-40B4-BE49-F238E27FC236}">
                <a16:creationId xmlns:a16="http://schemas.microsoft.com/office/drawing/2014/main" id="{77A07AE6-AA27-4B8F-A449-90960B92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372350"/>
            <a:ext cx="706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Vendor oversight teams</a:t>
            </a:r>
          </a:p>
        </p:txBody>
      </p:sp>
      <p:sp>
        <p:nvSpPr>
          <p:cNvPr id="24" name="step-body-E">
            <a:extLst xmlns:a="http://schemas.openxmlformats.org/drawingml/2006/main">
              <a:ext uri="{FF2B5EF4-FFF2-40B4-BE49-F238E27FC236}">
                <a16:creationId xmlns:a16="http://schemas.microsoft.com/office/drawing/2014/main" id="{5B0AE762-1768-4774-9960-206732B0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658100"/>
            <a:ext cx="7067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Need visibility into token spend, change requests, and acceptance gates.</a:t>
            </a:r>
          </a:p>
        </p:txBody>
      </p:sp>
      <p:sp>
        <p:nvSpPr>
          <p:cNvPr id="25" name="step-F-ai-transformation-offices">
            <a:extLst xmlns:a="http://schemas.openxmlformats.org/drawingml/2006/main">
              <a:ext uri="{FF2B5EF4-FFF2-40B4-BE49-F238E27FC236}">
                <a16:creationId xmlns:a16="http://schemas.microsoft.com/office/drawing/2014/main" id="{3F54F096-DD6B-468C-B93C-03F53F5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7172325"/>
            <a:ext cx="8105775" cy="1933575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26" name="step-num-F">
            <a:extLst xmlns:a="http://schemas.openxmlformats.org/drawingml/2006/main">
              <a:ext uri="{FF2B5EF4-FFF2-40B4-BE49-F238E27FC236}">
                <a16:creationId xmlns:a16="http://schemas.microsoft.com/office/drawing/2014/main" id="{C7DECC36-D416-405D-8A84-CE77EE2E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372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F</a:t>
            </a:r>
          </a:p>
        </p:txBody>
      </p:sp>
      <p:sp>
        <p:nvSpPr>
          <p:cNvPr id="27" name="step-title-F">
            <a:extLst xmlns:a="http://schemas.openxmlformats.org/drawingml/2006/main">
              <a:ext uri="{FF2B5EF4-FFF2-40B4-BE49-F238E27FC236}">
                <a16:creationId xmlns:a16="http://schemas.microsoft.com/office/drawing/2014/main" id="{75554436-FAF8-4812-BFD9-B099DD05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372350"/>
            <a:ext cx="706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AI transformation offices</a:t>
            </a:r>
          </a:p>
        </p:txBody>
      </p:sp>
      <p:sp>
        <p:nvSpPr>
          <p:cNvPr id="28" name="step-body-F">
            <a:extLst xmlns:a="http://schemas.openxmlformats.org/drawingml/2006/main">
              <a:ext uri="{FF2B5EF4-FFF2-40B4-BE49-F238E27FC236}">
                <a16:creationId xmlns:a16="http://schemas.microsoft.com/office/drawing/2014/main" id="{D64919FD-DC95-433C-9CD6-97F0689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658100"/>
            <a:ext cx="7067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Need reusable delivery method, not one-off demonstrations.</a:t>
            </a:r>
          </a:p>
        </p:txBody>
      </p:sp>
      <p:sp>
        <p:nvSpPr>
          <p:cNvPr id="29" name="use-cases-footer">
            <a:extLst xmlns:a="http://schemas.openxmlformats.org/drawingml/2006/main">
              <a:ext uri="{FF2B5EF4-FFF2-40B4-BE49-F238E27FC236}">
                <a16:creationId xmlns:a16="http://schemas.microsoft.com/office/drawing/2014/main" id="{3D7561BB-DA0D-40C3-B227-3854265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30" name="use-cases-page">
            <a:extLst xmlns:a="http://schemas.openxmlformats.org/drawingml/2006/main">
              <a:ext uri="{FF2B5EF4-FFF2-40B4-BE49-F238E27FC236}">
                <a16:creationId xmlns:a16="http://schemas.microsoft.com/office/drawing/2014/main" id="{8B75B765-5BA3-4F48-9267-595CEB18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0405620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23973A-980F-491E-8400-7E67D65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competition-eyebrow">
            <a:extLst xmlns:a="http://schemas.openxmlformats.org/drawingml/2006/main">
              <a:ext uri="{FF2B5EF4-FFF2-40B4-BE49-F238E27FC236}">
                <a16:creationId xmlns:a16="http://schemas.microsoft.com/office/drawing/2014/main" id="{A2D71829-B846-494B-8042-1657CD1A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POSITIONING</a:t>
            </a:r>
          </a:p>
        </p:txBody>
      </p:sp>
      <p:sp>
        <p:nvSpPr>
          <p:cNvPr id="3" name="competition-title">
            <a:extLst xmlns:a="http://schemas.openxmlformats.org/drawingml/2006/main">
              <a:ext uri="{FF2B5EF4-FFF2-40B4-BE49-F238E27FC236}">
                <a16:creationId xmlns:a16="http://schemas.microsoft.com/office/drawing/2014/main" id="{CE5C28C8-E23D-4F43-B7DF-75A7D5A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1315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DFMS bridges outsourcing firms and AI coding tools.</a:t>
            </a:r>
          </a:p>
        </p:txBody>
      </p:sp>
      <p:sp>
        <p:nvSpPr>
          <p:cNvPr id="4" name="competition-subtitle">
            <a:extLst xmlns:a="http://schemas.openxmlformats.org/drawingml/2006/main">
              <a:ext uri="{FF2B5EF4-FFF2-40B4-BE49-F238E27FC236}">
                <a16:creationId xmlns:a16="http://schemas.microsoft.com/office/drawing/2014/main" id="{84A11074-2324-4F5C-9366-ABF08D5E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34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It borrows the trust rituals of delivery firms, then makes them machine-checkable and token-governed.</a:t>
            </a:r>
          </a:p>
        </p:txBody>
      </p:sp>
      <p:sp>
        <p:nvSpPr>
          <p:cNvPr id="5" name="competition-h-a">
            <a:extLst xmlns:a="http://schemas.openxmlformats.org/drawingml/2006/main">
              <a:ext uri="{FF2B5EF4-FFF2-40B4-BE49-F238E27FC236}">
                <a16:creationId xmlns:a16="http://schemas.microsoft.com/office/drawing/2014/main" id="{C5C4FDE6-C331-4A9E-8CE7-3E864832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F2C8"/>
                </a:solidFill>
              </a:defRPr>
            </a:pPr>
            <a:r>
              <a:rPr sz="1350" b="1">
                <a:solidFill>
                  <a:srgbClr val="9AF2C8"/>
                </a:solidFill>
              </a:rPr>
              <a:t>Outsourcing firms</a:t>
            </a:r>
          </a:p>
        </p:txBody>
      </p:sp>
      <p:sp>
        <p:nvSpPr>
          <p:cNvPr id="6" name="competition-h-b">
            <a:extLst xmlns:a="http://schemas.openxmlformats.org/drawingml/2006/main">
              <a:ext uri="{FF2B5EF4-FFF2-40B4-BE49-F238E27FC236}">
                <a16:creationId xmlns:a16="http://schemas.microsoft.com/office/drawing/2014/main" id="{5B18F7D5-E13A-4969-B296-4E404075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F2C8"/>
                </a:solidFill>
              </a:defRPr>
            </a:pPr>
            <a:r>
              <a:rPr sz="1350" b="1">
                <a:solidFill>
                  <a:srgbClr val="9AF2C8"/>
                </a:solidFill>
              </a:rPr>
              <a:t>AI coding tools</a:t>
            </a:r>
          </a:p>
        </p:txBody>
      </p:sp>
      <p:sp>
        <p:nvSpPr>
          <p:cNvPr id="7" name="competition-h-c">
            <a:extLst xmlns:a="http://schemas.openxmlformats.org/drawingml/2006/main">
              <a:ext uri="{FF2B5EF4-FFF2-40B4-BE49-F238E27FC236}">
                <a16:creationId xmlns:a16="http://schemas.microsoft.com/office/drawing/2014/main" id="{EF8EFEBB-97E9-47A6-88C8-1C7CB2C1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248150"/>
            <a:ext cx="588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AF2C8"/>
                </a:solidFill>
              </a:defRPr>
            </a:pPr>
            <a:r>
              <a:rPr sz="1350" b="1">
                <a:solidFill>
                  <a:srgbClr val="9AF2C8"/>
                </a:solidFill>
              </a:rPr>
              <a:t>DFMS product</a:t>
            </a:r>
          </a:p>
        </p:txBody>
      </p:sp>
      <p:sp>
        <p:nvSpPr>
          <p:cNvPr id="8" name="competition-rule">
            <a:extLst xmlns:a="http://schemas.openxmlformats.org/drawingml/2006/main">
              <a:ext uri="{FF2B5EF4-FFF2-40B4-BE49-F238E27FC236}">
                <a16:creationId xmlns:a16="http://schemas.microsoft.com/office/drawing/2014/main" id="{274DB1E7-A6A1-4476-ADE5-6F6BA30D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661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9" name="comp-a-people-heavy-status-rituals">
            <a:extLst xmlns:a="http://schemas.openxmlformats.org/drawingml/2006/main">
              <a:ext uri="{FF2B5EF4-FFF2-40B4-BE49-F238E27FC236}">
                <a16:creationId xmlns:a16="http://schemas.microsoft.com/office/drawing/2014/main" id="{8AF1EC57-20EC-47BC-8BD5-085DE1B3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People-heavy status rituals</a:t>
            </a:r>
          </a:p>
        </p:txBody>
      </p:sp>
      <p:sp>
        <p:nvSpPr>
          <p:cNvPr id="10" name="comp-b-people-heavy-status-rituals">
            <a:extLst xmlns:a="http://schemas.openxmlformats.org/drawingml/2006/main">
              <a:ext uri="{FF2B5EF4-FFF2-40B4-BE49-F238E27FC236}">
                <a16:creationId xmlns:a16="http://schemas.microsoft.com/office/drawing/2014/main" id="{0D951DFF-DCF2-4F36-8AC4-16F72526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Fast local task completion</a:t>
            </a:r>
          </a:p>
        </p:txBody>
      </p:sp>
      <p:sp>
        <p:nvSpPr>
          <p:cNvPr id="11" name="comp-mark-people-heavy-status-rituals">
            <a:extLst xmlns:a="http://schemas.openxmlformats.org/drawingml/2006/main">
              <a:ext uri="{FF2B5EF4-FFF2-40B4-BE49-F238E27FC236}">
                <a16:creationId xmlns:a16="http://schemas.microsoft.com/office/drawing/2014/main" id="{F0ECCC33-3D31-46E0-9D3E-2B2A8C6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87680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2" name="comp-c-people-heavy-status-rituals">
            <a:extLst xmlns:a="http://schemas.openxmlformats.org/drawingml/2006/main">
              <a:ext uri="{FF2B5EF4-FFF2-40B4-BE49-F238E27FC236}">
                <a16:creationId xmlns:a16="http://schemas.microsoft.com/office/drawing/2014/main" id="{8D5EC76D-9C5F-4BF8-BEE2-90093B84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857750"/>
            <a:ext cx="567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8"/>
                </a:solidFill>
              </a:defRPr>
            </a:pPr>
            <a:r>
              <a:rPr sz="1650" b="1">
                <a:solidFill>
                  <a:srgbClr val="F7FAF8"/>
                </a:solidFill>
              </a:rPr>
              <a:t>Governed control graph with live evidence</a:t>
            </a:r>
          </a:p>
        </p:txBody>
      </p:sp>
      <p:sp>
        <p:nvSpPr>
          <p:cNvPr id="13" name="comp-a-budget-managed-in-dollars">
            <a:extLst xmlns:a="http://schemas.openxmlformats.org/drawingml/2006/main">
              <a:ext uri="{FF2B5EF4-FFF2-40B4-BE49-F238E27FC236}">
                <a16:creationId xmlns:a16="http://schemas.microsoft.com/office/drawing/2014/main" id="{913AEF4C-C449-4DE6-855A-987E1E4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Budget managed in dollars</a:t>
            </a:r>
          </a:p>
        </p:txBody>
      </p:sp>
      <p:sp>
        <p:nvSpPr>
          <p:cNvPr id="14" name="comp-b-budget-managed-in-dollars">
            <a:extLst xmlns:a="http://schemas.openxmlformats.org/drawingml/2006/main">
              <a:ext uri="{FF2B5EF4-FFF2-40B4-BE49-F238E27FC236}">
                <a16:creationId xmlns:a16="http://schemas.microsoft.com/office/drawing/2014/main" id="{B92ED86F-E0DE-48EA-96BE-40E26561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Compute spend is hidden or ad hoc</a:t>
            </a:r>
          </a:p>
        </p:txBody>
      </p:sp>
      <p:sp>
        <p:nvSpPr>
          <p:cNvPr id="15" name="comp-mark-budget-managed-in-dollars">
            <a:extLst xmlns:a="http://schemas.openxmlformats.org/drawingml/2006/main">
              <a:ext uri="{FF2B5EF4-FFF2-40B4-BE49-F238E27FC236}">
                <a16:creationId xmlns:a16="http://schemas.microsoft.com/office/drawing/2014/main" id="{8CA525D4-282B-43A7-A56F-D4EA9B53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4830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6" name="comp-c-budget-managed-in-dollars">
            <a:extLst xmlns:a="http://schemas.openxmlformats.org/drawingml/2006/main">
              <a:ext uri="{FF2B5EF4-FFF2-40B4-BE49-F238E27FC236}">
                <a16:creationId xmlns:a16="http://schemas.microsoft.com/office/drawing/2014/main" id="{BD0F740D-F0DF-490D-8430-6DA898C1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448300"/>
            <a:ext cx="567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8"/>
                </a:solidFill>
              </a:defRPr>
            </a:pPr>
            <a:r>
              <a:rPr sz="1650" b="1">
                <a:solidFill>
                  <a:srgbClr val="F7FAF8"/>
                </a:solidFill>
              </a:rPr>
              <a:t>Token SWAGs, approvals, and reapproval triggers</a:t>
            </a:r>
          </a:p>
        </p:txBody>
      </p:sp>
      <p:sp>
        <p:nvSpPr>
          <p:cNvPr id="17" name="comp-a-artifacts-often-lag-reality">
            <a:extLst xmlns:a="http://schemas.openxmlformats.org/drawingml/2006/main">
              <a:ext uri="{FF2B5EF4-FFF2-40B4-BE49-F238E27FC236}">
                <a16:creationId xmlns:a16="http://schemas.microsoft.com/office/drawing/2014/main" id="{57C7E906-A8AA-4E85-BF77-61AB4A28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Artifacts often lag reality</a:t>
            </a:r>
          </a:p>
        </p:txBody>
      </p:sp>
      <p:sp>
        <p:nvSpPr>
          <p:cNvPr id="18" name="comp-b-artifacts-often-lag-reality">
            <a:extLst xmlns:a="http://schemas.openxmlformats.org/drawingml/2006/main">
              <a:ext uri="{FF2B5EF4-FFF2-40B4-BE49-F238E27FC236}">
                <a16:creationId xmlns:a16="http://schemas.microsoft.com/office/drawing/2014/main" id="{97F00F90-A251-4FE9-B5C8-783BAE72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3885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Artifacts often absent</a:t>
            </a:r>
          </a:p>
        </p:txBody>
      </p:sp>
      <p:sp>
        <p:nvSpPr>
          <p:cNvPr id="19" name="comp-mark-artifacts-often-lag-reality">
            <a:extLst xmlns:a="http://schemas.openxmlformats.org/drawingml/2006/main">
              <a:ext uri="{FF2B5EF4-FFF2-40B4-BE49-F238E27FC236}">
                <a16:creationId xmlns:a16="http://schemas.microsoft.com/office/drawing/2014/main" id="{544762B9-8D66-45B0-94FC-4DBBD959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05790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20" name="comp-c-artifacts-often-lag-reality">
            <a:extLst xmlns:a="http://schemas.openxmlformats.org/drawingml/2006/main">
              <a:ext uri="{FF2B5EF4-FFF2-40B4-BE49-F238E27FC236}">
                <a16:creationId xmlns:a16="http://schemas.microsoft.com/office/drawing/2014/main" id="{9185C337-50F8-48C9-A354-8BBDCCB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038850"/>
            <a:ext cx="567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8"/>
                </a:solidFill>
              </a:defRPr>
            </a:pPr>
            <a:r>
              <a:rPr sz="1650" b="1">
                <a:solidFill>
                  <a:srgbClr val="F7FAF8"/>
                </a:solidFill>
              </a:rPr>
              <a:t>Artifacts, trace links, tests, and handoffs evolve together</a:t>
            </a:r>
          </a:p>
        </p:txBody>
      </p:sp>
      <p:sp>
        <p:nvSpPr>
          <p:cNvPr id="21" name="comp-a-quality-depends-on-delivery-team-maturity">
            <a:extLst xmlns:a="http://schemas.openxmlformats.org/drawingml/2006/main">
              <a:ext uri="{FF2B5EF4-FFF2-40B4-BE49-F238E27FC236}">
                <a16:creationId xmlns:a16="http://schemas.microsoft.com/office/drawing/2014/main" id="{A227C00F-F59A-40B6-9C8F-7A8EE58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2940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Quality depends on delivery team maturity</a:t>
            </a:r>
          </a:p>
        </p:txBody>
      </p:sp>
      <p:sp>
        <p:nvSpPr>
          <p:cNvPr id="22" name="comp-b-quality-depends-on-delivery-team-maturity">
            <a:extLst xmlns:a="http://schemas.openxmlformats.org/drawingml/2006/main">
              <a:ext uri="{FF2B5EF4-FFF2-40B4-BE49-F238E27FC236}">
                <a16:creationId xmlns:a16="http://schemas.microsoft.com/office/drawing/2014/main" id="{8DDC91F5-BE58-4B22-87CC-279854CE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2940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Quality depends on prompt discipline</a:t>
            </a:r>
          </a:p>
        </p:txBody>
      </p:sp>
      <p:sp>
        <p:nvSpPr>
          <p:cNvPr id="23" name="comp-mark-quality-depends-on-delivery-team-maturity">
            <a:extLst xmlns:a="http://schemas.openxmlformats.org/drawingml/2006/main">
              <a:ext uri="{FF2B5EF4-FFF2-40B4-BE49-F238E27FC236}">
                <a16:creationId xmlns:a16="http://schemas.microsoft.com/office/drawing/2014/main" id="{3C99D80D-6F07-40EA-8E99-88FC4FB9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62940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24" name="comp-c-quality-depends-on-delivery-team-maturity">
            <a:extLst xmlns:a="http://schemas.openxmlformats.org/drawingml/2006/main">
              <a:ext uri="{FF2B5EF4-FFF2-40B4-BE49-F238E27FC236}">
                <a16:creationId xmlns:a16="http://schemas.microsoft.com/office/drawing/2014/main" id="{F725BD01-CDDD-44AD-AF11-074414E2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629400"/>
            <a:ext cx="567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8"/>
                </a:solidFill>
              </a:defRPr>
            </a:pPr>
            <a:r>
              <a:rPr sz="1650" b="1">
                <a:solidFill>
                  <a:srgbClr val="F7FAF8"/>
                </a:solidFill>
              </a:rPr>
              <a:t>Quality is rubric-scored, evidence-gated, and replayable</a:t>
            </a:r>
          </a:p>
        </p:txBody>
      </p:sp>
      <p:sp>
        <p:nvSpPr>
          <p:cNvPr id="25" name="competition-footer">
            <a:extLst xmlns:a="http://schemas.openxmlformats.org/drawingml/2006/main">
              <a:ext uri="{FF2B5EF4-FFF2-40B4-BE49-F238E27FC236}">
                <a16:creationId xmlns:a16="http://schemas.microsoft.com/office/drawing/2014/main" id="{4E4FE69A-3364-48B8-8B0A-346F7316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6" name="competition-page">
            <a:extLst xmlns:a="http://schemas.openxmlformats.org/drawingml/2006/main">
              <a:ext uri="{FF2B5EF4-FFF2-40B4-BE49-F238E27FC236}">
                <a16:creationId xmlns:a16="http://schemas.microsoft.com/office/drawing/2014/main" id="{1DF88CB4-EDBD-45C4-82A3-F2B09639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3434796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6CA95C-FC47-4911-A7B0-F274379F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packaging-gtm-eyebrow">
            <a:extLst xmlns:a="http://schemas.openxmlformats.org/drawingml/2006/main">
              <a:ext uri="{FF2B5EF4-FFF2-40B4-BE49-F238E27FC236}">
                <a16:creationId xmlns:a16="http://schemas.microsoft.com/office/drawing/2014/main" id="{F057C206-D924-4CD9-8389-AEB4114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GO-TO-MARKET</a:t>
            </a:r>
          </a:p>
        </p:txBody>
      </p:sp>
      <p:sp>
        <p:nvSpPr>
          <p:cNvPr id="3" name="packaging-gtm-title">
            <a:extLst xmlns:a="http://schemas.openxmlformats.org/drawingml/2006/main">
              <a:ext uri="{FF2B5EF4-FFF2-40B4-BE49-F238E27FC236}">
                <a16:creationId xmlns:a16="http://schemas.microsoft.com/office/drawing/2014/main" id="{9C72E4D5-CB68-4368-AD87-952D2CA3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553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Package it as assurance infrastructure for agentic delivery.</a:t>
            </a:r>
          </a:p>
        </p:txBody>
      </p:sp>
      <p:sp>
        <p:nvSpPr>
          <p:cNvPr id="4" name="packaging-gtm-subtitle">
            <a:extLst xmlns:a="http://schemas.openxmlformats.org/drawingml/2006/main">
              <a:ext uri="{FF2B5EF4-FFF2-40B4-BE49-F238E27FC236}">
                <a16:creationId xmlns:a16="http://schemas.microsoft.com/office/drawing/2014/main" id="{D43B7F6A-4DA1-4799-B247-37CEB8AC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1791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wedge is not cheaper coding. The wedge is a buyer-approved delivery system that makes agent work inspectable.</a:t>
            </a:r>
          </a:p>
        </p:txBody>
      </p:sp>
      <p:sp>
        <p:nvSpPr>
          <p:cNvPr id="5" name="step-Pilot-assured-project-run">
            <a:extLst xmlns:a="http://schemas.openxmlformats.org/drawingml/2006/main">
              <a:ext uri="{FF2B5EF4-FFF2-40B4-BE49-F238E27FC236}">
                <a16:creationId xmlns:a16="http://schemas.microsoft.com/office/drawing/2014/main" id="{6D4EDF2A-C7B8-4858-B012-61CAD5D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53721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Pilot">
            <a:extLst xmlns:a="http://schemas.openxmlformats.org/drawingml/2006/main">
              <a:ext uri="{FF2B5EF4-FFF2-40B4-BE49-F238E27FC236}">
                <a16:creationId xmlns:a16="http://schemas.microsoft.com/office/drawing/2014/main" id="{CD615499-AF5D-4CD2-B663-19423770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Pilot</a:t>
            </a:r>
          </a:p>
        </p:txBody>
      </p:sp>
      <p:sp>
        <p:nvSpPr>
          <p:cNvPr id="7" name="step-title-Pilot">
            <a:extLst xmlns:a="http://schemas.openxmlformats.org/drawingml/2006/main">
              <a:ext uri="{FF2B5EF4-FFF2-40B4-BE49-F238E27FC236}">
                <a16:creationId xmlns:a16="http://schemas.microsoft.com/office/drawing/2014/main" id="{1FC57A41-5A69-44D3-94A3-6A6B0FA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Assured project run</a:t>
            </a:r>
          </a:p>
        </p:txBody>
      </p:sp>
      <p:sp>
        <p:nvSpPr>
          <p:cNvPr id="8" name="step-body-Pilot">
            <a:extLst xmlns:a="http://schemas.openxmlformats.org/drawingml/2006/main">
              <a:ext uri="{FF2B5EF4-FFF2-40B4-BE49-F238E27FC236}">
                <a16:creationId xmlns:a16="http://schemas.microsoft.com/office/drawing/2014/main" id="{5A6DF197-BBFA-4C84-B614-33CC04B2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15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One greenfield and one brownfield run with project book and evidence ledger.</a:t>
            </a:r>
          </a:p>
        </p:txBody>
      </p:sp>
      <p:sp>
        <p:nvSpPr>
          <p:cNvPr id="9" name="step-Team-delivery-control-plane">
            <a:extLst xmlns:a="http://schemas.openxmlformats.org/drawingml/2006/main">
              <a:ext uri="{FF2B5EF4-FFF2-40B4-BE49-F238E27FC236}">
                <a16:creationId xmlns:a16="http://schemas.microsoft.com/office/drawing/2014/main" id="{748A5056-E041-4FA2-82F2-CB65D14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38750"/>
            <a:ext cx="53721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Team">
            <a:extLst xmlns:a="http://schemas.openxmlformats.org/drawingml/2006/main">
              <a:ext uri="{FF2B5EF4-FFF2-40B4-BE49-F238E27FC236}">
                <a16:creationId xmlns:a16="http://schemas.microsoft.com/office/drawing/2014/main" id="{88BDF2D6-41EA-4C3B-9DB4-9CD18665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429250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Team</a:t>
            </a:r>
          </a:p>
        </p:txBody>
      </p:sp>
      <p:sp>
        <p:nvSpPr>
          <p:cNvPr id="11" name="step-title-Team">
            <a:extLst xmlns:a="http://schemas.openxmlformats.org/drawingml/2006/main">
              <a:ext uri="{FF2B5EF4-FFF2-40B4-BE49-F238E27FC236}">
                <a16:creationId xmlns:a16="http://schemas.microsoft.com/office/drawing/2014/main" id="{F571A6A3-DAC3-4C7C-98F9-6ED9B25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29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Delivery control plane</a:t>
            </a:r>
          </a:p>
        </p:txBody>
      </p:sp>
      <p:sp>
        <p:nvSpPr>
          <p:cNvPr id="12" name="step-body-Team">
            <a:extLst xmlns:a="http://schemas.openxmlformats.org/drawingml/2006/main">
              <a:ext uri="{FF2B5EF4-FFF2-40B4-BE49-F238E27FC236}">
                <a16:creationId xmlns:a16="http://schemas.microsoft.com/office/drawing/2014/main" id="{0C0325EE-86A7-4CDE-88F0-B82C36B7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715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Reusable skill bundle, templates, validators, checkpoint process.</a:t>
            </a:r>
          </a:p>
        </p:txBody>
      </p:sp>
      <p:sp>
        <p:nvSpPr>
          <p:cNvPr id="13" name="step-Enterprise-assurance-platform">
            <a:extLst xmlns:a="http://schemas.openxmlformats.org/drawingml/2006/main">
              <a:ext uri="{FF2B5EF4-FFF2-40B4-BE49-F238E27FC236}">
                <a16:creationId xmlns:a16="http://schemas.microsoft.com/office/drawing/2014/main" id="{2327654A-09E9-4498-A350-CA412FC2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238750"/>
            <a:ext cx="53721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Enterprise">
            <a:extLst xmlns:a="http://schemas.openxmlformats.org/drawingml/2006/main">
              <a:ext uri="{FF2B5EF4-FFF2-40B4-BE49-F238E27FC236}">
                <a16:creationId xmlns:a16="http://schemas.microsoft.com/office/drawing/2014/main" id="{2BAFCE4F-4A7C-4DCB-B399-5820D1F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429250"/>
            <a:ext cx="41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Enterprise</a:t>
            </a:r>
          </a:p>
        </p:txBody>
      </p:sp>
      <p:sp>
        <p:nvSpPr>
          <p:cNvPr id="15" name="step-title-Enterprise">
            <a:extLst xmlns:a="http://schemas.openxmlformats.org/drawingml/2006/main">
              <a:ext uri="{FF2B5EF4-FFF2-40B4-BE49-F238E27FC236}">
                <a16:creationId xmlns:a16="http://schemas.microsoft.com/office/drawing/2014/main" id="{A25F9F75-CBDD-43F8-8BFA-1E4BB03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5429250"/>
            <a:ext cx="432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Assurance platform</a:t>
            </a:r>
          </a:p>
        </p:txBody>
      </p:sp>
      <p:sp>
        <p:nvSpPr>
          <p:cNvPr id="16" name="step-body-Enterprise">
            <a:extLst xmlns:a="http://schemas.openxmlformats.org/drawingml/2006/main">
              <a:ext uri="{FF2B5EF4-FFF2-40B4-BE49-F238E27FC236}">
                <a16:creationId xmlns:a16="http://schemas.microsoft.com/office/drawing/2014/main" id="{3EBB9603-F18E-4C89-9F99-4A145959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5715000"/>
            <a:ext cx="432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Policy packs, dashboard, SSO, repo/CI integrations, audit export.</a:t>
            </a:r>
          </a:p>
        </p:txBody>
      </p:sp>
      <p:sp>
        <p:nvSpPr>
          <p:cNvPr id="17" name="packaging-gtm-footer">
            <a:extLst xmlns:a="http://schemas.openxmlformats.org/drawingml/2006/main">
              <a:ext uri="{FF2B5EF4-FFF2-40B4-BE49-F238E27FC236}">
                <a16:creationId xmlns:a16="http://schemas.microsoft.com/office/drawing/2014/main" id="{200AB668-47BF-442C-80C7-A0EA234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18" name="packaging-gtm-page">
            <a:extLst xmlns:a="http://schemas.openxmlformats.org/drawingml/2006/main">
              <a:ext uri="{FF2B5EF4-FFF2-40B4-BE49-F238E27FC236}">
                <a16:creationId xmlns:a16="http://schemas.microsoft.com/office/drawing/2014/main" id="{2B521191-0EC9-4651-A9BB-E6216632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30250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959B14-65AC-47DC-BCE4-B4428692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moat-eyebrow">
            <a:extLst xmlns:a="http://schemas.openxmlformats.org/drawingml/2006/main">
              <a:ext uri="{FF2B5EF4-FFF2-40B4-BE49-F238E27FC236}">
                <a16:creationId xmlns:a16="http://schemas.microsoft.com/office/drawing/2014/main" id="{5C6CAD92-E0DD-47A3-82C1-79C97171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DEFENSIBILITY</a:t>
            </a:r>
          </a:p>
        </p:txBody>
      </p:sp>
      <p:sp>
        <p:nvSpPr>
          <p:cNvPr id="3" name="moat-title">
            <a:extLst xmlns:a="http://schemas.openxmlformats.org/drawingml/2006/main">
              <a:ext uri="{FF2B5EF4-FFF2-40B4-BE49-F238E27FC236}">
                <a16:creationId xmlns:a16="http://schemas.microsoft.com/office/drawing/2014/main" id="{BAA1F05B-2A17-44CF-9C9A-6B876B0C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9827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The moat is the operating system for trustworthy agent delivery.</a:t>
            </a:r>
          </a:p>
        </p:txBody>
      </p:sp>
      <p:sp>
        <p:nvSpPr>
          <p:cNvPr id="4" name="moat-subtitle">
            <a:extLst xmlns:a="http://schemas.openxmlformats.org/drawingml/2006/main">
              <a:ext uri="{FF2B5EF4-FFF2-40B4-BE49-F238E27FC236}">
                <a16:creationId xmlns:a16="http://schemas.microsoft.com/office/drawing/2014/main" id="{67E25F01-A07B-4D1A-9A61-3D6E57FB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106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longer it runs, the stronger the evidence corpus, rubrics, validators, and learned delivery patterns become.</a:t>
            </a:r>
          </a:p>
        </p:txBody>
      </p:sp>
      <p:sp>
        <p:nvSpPr>
          <p:cNvPr id="5" name="moat-left-title">
            <a:extLst xmlns:a="http://schemas.openxmlformats.org/drawingml/2006/main">
              <a:ext uri="{FF2B5EF4-FFF2-40B4-BE49-F238E27FC236}">
                <a16:creationId xmlns:a16="http://schemas.microsoft.com/office/drawing/2014/main" id="{513BDB4C-9920-4BEC-A133-74746CC0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704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8"/>
                </a:solidFill>
              </a:defRPr>
            </a:pPr>
            <a:r>
              <a:rPr sz="3150" b="1">
                <a:solidFill>
                  <a:srgbClr val="F7FAF8"/>
                </a:solidFill>
              </a:rPr>
              <a:t>Compounding assets</a:t>
            </a:r>
          </a:p>
        </p:txBody>
      </p:sp>
      <p:sp>
        <p:nvSpPr>
          <p:cNvPr id="6" name="moat-left-body">
            <a:extLst xmlns:a="http://schemas.openxmlformats.org/drawingml/2006/main">
              <a:ext uri="{FF2B5EF4-FFF2-40B4-BE49-F238E27FC236}">
                <a16:creationId xmlns:a16="http://schemas.microsoft.com/office/drawing/2014/main" id="{86C37E50-CBF2-4C2C-AF8F-236F1F34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4781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Not models alone. The durable advantage is the delivery method, evidence structure, and institutional memory.</a:t>
            </a:r>
          </a:p>
        </p:txBody>
      </p:sp>
      <p:sp>
        <p:nvSpPr>
          <p:cNvPr id="7" name="dot-project-books">
            <a:extLst xmlns:a="http://schemas.openxmlformats.org/drawingml/2006/main">
              <a:ext uri="{FF2B5EF4-FFF2-40B4-BE49-F238E27FC236}">
                <a16:creationId xmlns:a16="http://schemas.microsoft.com/office/drawing/2014/main" id="{EED4A4C7-3793-450E-B7B2-36BC4E9D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95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8" name="statement-title-project-books">
            <a:extLst xmlns:a="http://schemas.openxmlformats.org/drawingml/2006/main">
              <a:ext uri="{FF2B5EF4-FFF2-40B4-BE49-F238E27FC236}">
                <a16:creationId xmlns:a16="http://schemas.microsoft.com/office/drawing/2014/main" id="{AA2BF61E-0437-45D9-9D31-4F84103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9580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Project books</a:t>
            </a:r>
          </a:p>
        </p:txBody>
      </p:sp>
      <p:sp>
        <p:nvSpPr>
          <p:cNvPr id="9" name="statement-body-project-books">
            <a:extLst xmlns:a="http://schemas.openxmlformats.org/drawingml/2006/main">
              <a:ext uri="{FF2B5EF4-FFF2-40B4-BE49-F238E27FC236}">
                <a16:creationId xmlns:a16="http://schemas.microsoft.com/office/drawing/2014/main" id="{C75316A6-2B24-4CC8-8A77-E0F633F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19650"/>
            <a:ext cx="6724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Reusable records of requirements, designs, tests, decisions, risks, and handoffs.</a:t>
            </a:r>
          </a:p>
        </p:txBody>
      </p:sp>
      <p:sp>
        <p:nvSpPr>
          <p:cNvPr id="10" name="dot-expert-rubrics">
            <a:extLst xmlns:a="http://schemas.openxmlformats.org/drawingml/2006/main">
              <a:ext uri="{FF2B5EF4-FFF2-40B4-BE49-F238E27FC236}">
                <a16:creationId xmlns:a16="http://schemas.microsoft.com/office/drawing/2014/main" id="{D90659E0-AD9D-4F22-8B72-FE2E956B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57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11" name="statement-title-expert-rubrics">
            <a:extLst xmlns:a="http://schemas.openxmlformats.org/drawingml/2006/main">
              <a:ext uri="{FF2B5EF4-FFF2-40B4-BE49-F238E27FC236}">
                <a16:creationId xmlns:a16="http://schemas.microsoft.com/office/drawing/2014/main" id="{02580585-FD8F-4FCA-8878-6ED6FAEC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5780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Expert rubrics</a:t>
            </a:r>
          </a:p>
        </p:txBody>
      </p:sp>
      <p:sp>
        <p:nvSpPr>
          <p:cNvPr id="12" name="statement-body-expert-rubrics">
            <a:extLst xmlns:a="http://schemas.openxmlformats.org/drawingml/2006/main">
              <a:ext uri="{FF2B5EF4-FFF2-40B4-BE49-F238E27FC236}">
                <a16:creationId xmlns:a16="http://schemas.microsoft.com/office/drawing/2014/main" id="{51C02FB3-6AF6-41AF-9E4E-D065D537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81650"/>
            <a:ext cx="603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Reviewer-specific 15-point standards that harden with real failure data.</a:t>
            </a:r>
          </a:p>
        </p:txBody>
      </p:sp>
      <p:sp>
        <p:nvSpPr>
          <p:cNvPr id="13" name="dot-validators">
            <a:extLst xmlns:a="http://schemas.openxmlformats.org/drawingml/2006/main">
              <a:ext uri="{FF2B5EF4-FFF2-40B4-BE49-F238E27FC236}">
                <a16:creationId xmlns:a16="http://schemas.microsoft.com/office/drawing/2014/main" id="{2BB0455E-47CB-4ABA-B08C-A3F3FC09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019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4" name="statement-title-validators">
            <a:extLst xmlns:a="http://schemas.openxmlformats.org/drawingml/2006/main">
              <a:ext uri="{FF2B5EF4-FFF2-40B4-BE49-F238E27FC236}">
                <a16:creationId xmlns:a16="http://schemas.microsoft.com/office/drawing/2014/main" id="{8B9532AB-A943-4B45-AEF8-77EE909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01980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Validators</a:t>
            </a:r>
          </a:p>
        </p:txBody>
      </p:sp>
      <p:sp>
        <p:nvSpPr>
          <p:cNvPr id="15" name="statement-body-validators">
            <a:extLst xmlns:a="http://schemas.openxmlformats.org/drawingml/2006/main">
              <a:ext uri="{FF2B5EF4-FFF2-40B4-BE49-F238E27FC236}">
                <a16:creationId xmlns:a16="http://schemas.microsoft.com/office/drawing/2014/main" id="{A87CF8CA-6137-4D07-BF44-60B6EECA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343650"/>
            <a:ext cx="632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Machine checks that reject templates, missing proofs, and drifted bundles.</a:t>
            </a:r>
          </a:p>
        </p:txBody>
      </p:sp>
      <p:sp>
        <p:nvSpPr>
          <p:cNvPr id="16" name="dot-context-recovery">
            <a:extLst xmlns:a="http://schemas.openxmlformats.org/drawingml/2006/main">
              <a:ext uri="{FF2B5EF4-FFF2-40B4-BE49-F238E27FC236}">
                <a16:creationId xmlns:a16="http://schemas.microsoft.com/office/drawing/2014/main" id="{9B4DB7D3-A1FC-4DF4-B2DB-089603B4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781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464"/>
          </a:solidFill>
          <a:ln xmlns:a="http://schemas.openxmlformats.org/drawingml/2006/main" w="0">
            <a:solidFill>
              <a:srgbClr val="F26464"/>
            </a:solidFill>
            <a:prstDash val="solid"/>
          </a:ln>
        </p:spPr>
      </p:sp>
      <p:sp>
        <p:nvSpPr>
          <p:cNvPr id="17" name="statement-title-context-recovery">
            <a:extLst xmlns:a="http://schemas.openxmlformats.org/drawingml/2006/main">
              <a:ext uri="{FF2B5EF4-FFF2-40B4-BE49-F238E27FC236}">
                <a16:creationId xmlns:a16="http://schemas.microsoft.com/office/drawing/2014/main" id="{C3DEA45F-B255-4905-9CED-C0E4C737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781800"/>
            <a:ext cx="862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Context recovery</a:t>
            </a:r>
          </a:p>
        </p:txBody>
      </p:sp>
      <p:sp>
        <p:nvSpPr>
          <p:cNvPr id="18" name="statement-body-context-recovery">
            <a:extLst xmlns:a="http://schemas.openxmlformats.org/drawingml/2006/main">
              <a:ext uri="{FF2B5EF4-FFF2-40B4-BE49-F238E27FC236}">
                <a16:creationId xmlns:a16="http://schemas.microsoft.com/office/drawing/2014/main" id="{7F0F5F7F-F0A8-4CC5-A1B6-CC32C51C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7105650"/>
            <a:ext cx="5886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Predecessor summaries and replay drills keep long projects coherent.</a:t>
            </a:r>
          </a:p>
        </p:txBody>
      </p:sp>
      <p:sp>
        <p:nvSpPr>
          <p:cNvPr id="19" name="moat-footer">
            <a:extLst xmlns:a="http://schemas.openxmlformats.org/drawingml/2006/main">
              <a:ext uri="{FF2B5EF4-FFF2-40B4-BE49-F238E27FC236}">
                <a16:creationId xmlns:a16="http://schemas.microsoft.com/office/drawing/2014/main" id="{924E8317-31E4-491D-80A5-4A114A6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0" name="moat-page">
            <a:extLst xmlns:a="http://schemas.openxmlformats.org/drawingml/2006/main">
              <a:ext uri="{FF2B5EF4-FFF2-40B4-BE49-F238E27FC236}">
                <a16:creationId xmlns:a16="http://schemas.microsoft.com/office/drawing/2014/main" id="{3550ACCD-5A0B-411A-9F10-F9C10F0B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8082164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2400EE-6287-4341-91F0-027387ED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roadmap-eyebrow">
            <a:extLst xmlns:a="http://schemas.openxmlformats.org/drawingml/2006/main">
              <a:ext uri="{FF2B5EF4-FFF2-40B4-BE49-F238E27FC236}">
                <a16:creationId xmlns:a16="http://schemas.microsoft.com/office/drawing/2014/main" id="{AE8BFECA-14AD-4CB5-A3DD-27332498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ROADMAP</a:t>
            </a:r>
          </a:p>
        </p:txBody>
      </p:sp>
      <p:sp>
        <p:nvSpPr>
          <p:cNvPr id="3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BF13F532-B02E-4F03-96B3-8B20BD2A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31635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7FAF8"/>
                </a:solidFill>
              </a:defRPr>
            </a:pPr>
            <a:r>
              <a:rPr sz="4125" b="1">
                <a:solidFill>
                  <a:srgbClr val="F7FAF8"/>
                </a:solidFill>
              </a:rPr>
              <a:t>A staged product path from skill bundle to enterprise control room.</a:t>
            </a:r>
          </a:p>
        </p:txBody>
      </p:sp>
      <p:sp>
        <p:nvSpPr>
          <p:cNvPr id="4" name="roadmap-subtitle">
            <a:extLst xmlns:a="http://schemas.openxmlformats.org/drawingml/2006/main">
              <a:ext uri="{FF2B5EF4-FFF2-40B4-BE49-F238E27FC236}">
                <a16:creationId xmlns:a16="http://schemas.microsoft.com/office/drawing/2014/main" id="{C46612EC-824D-44CE-B2E5-67871B0B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1734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Start with Codex skills and evidence artifacts; graduate to dashboards, integrations, and organization-level assurance.</a:t>
            </a:r>
          </a:p>
        </p:txBody>
      </p:sp>
      <p:sp>
        <p:nvSpPr>
          <p:cNvPr id="5" name="step-0-skill-bundle">
            <a:extLst xmlns:a="http://schemas.openxmlformats.org/drawingml/2006/main">
              <a:ext uri="{FF2B5EF4-FFF2-40B4-BE49-F238E27FC236}">
                <a16:creationId xmlns:a16="http://schemas.microsoft.com/office/drawing/2014/main" id="{777BE7B0-C44A-420E-95E1-0FC8427A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4413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6" name="step-num-0">
            <a:extLst xmlns:a="http://schemas.openxmlformats.org/drawingml/2006/main">
              <a:ext uri="{FF2B5EF4-FFF2-40B4-BE49-F238E27FC236}">
                <a16:creationId xmlns:a16="http://schemas.microsoft.com/office/drawing/2014/main" id="{BF318EB3-D09A-4CA9-9BF1-2E1DE553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0</a:t>
            </a:r>
          </a:p>
        </p:txBody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DF669F76-7B68-4B37-BCFE-BB5E83E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01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Skill bundle</a:t>
            </a:r>
          </a:p>
        </p:txBody>
      </p:sp>
      <p:sp>
        <p:nvSpPr>
          <p:cNvPr id="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12856786-A6FE-40DD-A43D-D60C08D5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959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Installable DFMS skills, templates, validators, and project books.</a:t>
            </a:r>
          </a:p>
        </p:txBody>
      </p:sp>
      <p:sp>
        <p:nvSpPr>
          <p:cNvPr id="9" name="step-1-pilot-runtime">
            <a:extLst xmlns:a="http://schemas.openxmlformats.org/drawingml/2006/main">
              <a:ext uri="{FF2B5EF4-FFF2-40B4-BE49-F238E27FC236}">
                <a16:creationId xmlns:a16="http://schemas.microsoft.com/office/drawing/2014/main" id="{723C7CA2-6546-4F10-96BA-CFDE9195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24413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0" name="step-num-1">
            <a:extLst xmlns:a="http://schemas.openxmlformats.org/drawingml/2006/main">
              <a:ext uri="{FF2B5EF4-FFF2-40B4-BE49-F238E27FC236}">
                <a16:creationId xmlns:a16="http://schemas.microsoft.com/office/drawing/2014/main" id="{2C964D82-4D7B-4053-AEE0-407A1413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10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D17E"/>
                </a:solidFill>
              </a:defRPr>
            </a:pPr>
            <a:r>
              <a:rPr sz="1725" b="1">
                <a:solidFill>
                  <a:srgbClr val="46D17E"/>
                </a:solidFill>
              </a:rPr>
              <a:t>1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7C0B18C-1420-490A-955F-220F9EB9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101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Pilot runtime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DF25F04F-7AD8-48C4-8CA0-008BBBF2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959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Guided greenfield and brownfield runs with token governance.</a:t>
            </a:r>
          </a:p>
        </p:txBody>
      </p:sp>
      <p:sp>
        <p:nvSpPr>
          <p:cNvPr id="13" name="step-2-control-dashboard">
            <a:extLst xmlns:a="http://schemas.openxmlformats.org/drawingml/2006/main">
              <a:ext uri="{FF2B5EF4-FFF2-40B4-BE49-F238E27FC236}">
                <a16:creationId xmlns:a16="http://schemas.microsoft.com/office/drawing/2014/main" id="{384155B1-0CCF-445B-9DF2-B7AFA856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24413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4" name="step-num-2">
            <a:extLst xmlns:a="http://schemas.openxmlformats.org/drawingml/2006/main">
              <a:ext uri="{FF2B5EF4-FFF2-40B4-BE49-F238E27FC236}">
                <a16:creationId xmlns:a16="http://schemas.microsoft.com/office/drawing/2014/main" id="{74BC3A03-26B3-458C-B191-8BB330AD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</a:defRPr>
            </a:pPr>
            <a:r>
              <a:rPr sz="1725" b="1">
                <a:solidFill>
                  <a:srgbClr val="F2B84B"/>
                </a:solidFill>
              </a:rPr>
              <a:t>2</a:t>
            </a:r>
          </a:p>
        </p:txBody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3D22DCA-F9E1-4DCD-8675-8D74A6F2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101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Control dashboard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B42F1C93-7CF5-4BB8-947F-57F188C5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959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Live graph, ledger, evidence, budget, and checkpoint state.</a:t>
            </a:r>
          </a:p>
        </p:txBody>
      </p:sp>
      <p:sp>
        <p:nvSpPr>
          <p:cNvPr id="17" name="step-3-enterprise-assurance">
            <a:extLst xmlns:a="http://schemas.openxmlformats.org/drawingml/2006/main">
              <a:ext uri="{FF2B5EF4-FFF2-40B4-BE49-F238E27FC236}">
                <a16:creationId xmlns:a16="http://schemas.microsoft.com/office/drawing/2014/main" id="{14B93892-275D-4FE5-9C86-E6C23B9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824413"/>
            <a:ext cx="3981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D1A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8" name="step-num-3">
            <a:extLst xmlns:a="http://schemas.openxmlformats.org/drawingml/2006/main">
              <a:ext uri="{FF2B5EF4-FFF2-40B4-BE49-F238E27FC236}">
                <a16:creationId xmlns:a16="http://schemas.microsoft.com/office/drawing/2014/main" id="{ADE17612-FB8E-431C-B355-FE8C6A0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0101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6464"/>
                </a:solidFill>
              </a:defRPr>
            </a:pPr>
            <a:r>
              <a:rPr sz="1725" b="1">
                <a:solidFill>
                  <a:srgbClr val="F26464"/>
                </a:solidFill>
              </a:rPr>
              <a:t>3</a:t>
            </a:r>
          </a:p>
        </p:txBody>
      </p:sp>
      <p:sp>
        <p:nvSpPr>
          <p:cNvPr id="1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7D57DF6-29FA-4000-9B27-340A064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010150"/>
            <a:ext cx="2933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8"/>
                </a:solidFill>
              </a:defRPr>
            </a:pPr>
            <a:r>
              <a:rPr sz="1800" b="1">
                <a:solidFill>
                  <a:srgbClr val="F7FAF8"/>
                </a:solidFill>
              </a:rPr>
              <a:t>Enterprise assurance</a:t>
            </a:r>
          </a:p>
        </p:txBody>
      </p:sp>
      <p:sp>
        <p:nvSpPr>
          <p:cNvPr id="2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B7159F83-6E0E-4FE9-ABC2-EC5E7870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295900"/>
            <a:ext cx="293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8AE"/>
                </a:solidFill>
              </a:defRPr>
            </a:pPr>
            <a:r>
              <a:rPr sz="1350">
                <a:solidFill>
                  <a:srgbClr val="A9B8AE"/>
                </a:solidFill>
              </a:rPr>
              <a:t>SSO, policy packs, repo integrations, audit export, org memory.</a:t>
            </a:r>
          </a:p>
        </p:txBody>
      </p:sp>
      <p:sp>
        <p:nvSpPr>
          <p:cNvPr id="21" name="roadmap-rule">
            <a:extLst xmlns:a="http://schemas.openxmlformats.org/drawingml/2006/main">
              <a:ext uri="{FF2B5EF4-FFF2-40B4-BE49-F238E27FC236}">
                <a16:creationId xmlns:a16="http://schemas.microsoft.com/office/drawing/2014/main" id="{FBB35974-E403-47EB-9323-AB8FA1D3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76950"/>
            <a:ext cx="1661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3B"/>
          </a:solidFill>
          <a:ln xmlns:a="http://schemas.openxmlformats.org/drawingml/2006/main" w="0">
            <a:solidFill>
              <a:srgbClr val="29443B"/>
            </a:solidFill>
            <a:prstDash val="solid"/>
          </a:ln>
        </p:spPr>
      </p:sp>
      <p:sp>
        <p:nvSpPr>
          <p:cNvPr id="22" name="roadmap-proof">
            <a:extLst xmlns:a="http://schemas.openxmlformats.org/drawingml/2006/main">
              <a:ext uri="{FF2B5EF4-FFF2-40B4-BE49-F238E27FC236}">
                <a16:creationId xmlns:a16="http://schemas.microsoft.com/office/drawing/2014/main" id="{256E7BEF-7090-4B9A-93F3-7C891A66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43650"/>
            <a:ext cx="13335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7FAF8"/>
                </a:solidFill>
              </a:defRPr>
            </a:pPr>
            <a:r>
              <a:rPr sz="2400" b="1">
                <a:solidFill>
                  <a:srgbClr val="F7FAF8"/>
                </a:solidFill>
              </a:rPr>
              <a:t>The critical product proof is not a demo app. It is a repeatable run where a skeptical buyer can inspect the evidence and approve the next iteration with confidence.</a:t>
            </a:r>
          </a:p>
        </p:txBody>
      </p:sp>
      <p:sp>
        <p:nvSpPr>
          <p:cNvPr id="23" name="roadmap-footer">
            <a:extLst xmlns:a="http://schemas.openxmlformats.org/drawingml/2006/main">
              <a:ext uri="{FF2B5EF4-FFF2-40B4-BE49-F238E27FC236}">
                <a16:creationId xmlns:a16="http://schemas.microsoft.com/office/drawing/2014/main" id="{1F37E1E1-5656-406C-8FE9-5C02E4C7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4" name="roadmap-page">
            <a:extLst xmlns:a="http://schemas.openxmlformats.org/drawingml/2006/main">
              <a:ext uri="{FF2B5EF4-FFF2-40B4-BE49-F238E27FC236}">
                <a16:creationId xmlns:a16="http://schemas.microsoft.com/office/drawing/2014/main" id="{6A4F0E8F-4C0B-454A-84E0-40EFA79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02750203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A3353B-E966-4E10-98C2-6055AAB0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00F"/>
          </a:solidFill>
          <a:ln xmlns:a="http://schemas.openxmlformats.org/drawingml/2006/main" w="0">
            <a:solidFill>
              <a:srgbClr val="09100F"/>
            </a:solidFill>
            <a:prstDash val="solid"/>
          </a:ln>
        </p:spPr>
      </p:sp>
      <p:sp>
        <p:nvSpPr>
          <p:cNvPr id="2" name="ask-eyebrow">
            <a:extLst xmlns:a="http://schemas.openxmlformats.org/drawingml/2006/main">
              <a:ext uri="{FF2B5EF4-FFF2-40B4-BE49-F238E27FC236}">
                <a16:creationId xmlns:a16="http://schemas.microsoft.com/office/drawing/2014/main" id="{27EF293D-4FB4-4EB1-BDF0-E973E7BC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F2C8"/>
                </a:solidFill>
              </a:defRPr>
            </a:pPr>
            <a:r>
              <a:rPr sz="1575" b="1">
                <a:solidFill>
                  <a:srgbClr val="9AF2C8"/>
                </a:solidFill>
              </a:rPr>
              <a:t>PILOT ASK</a:t>
            </a:r>
          </a:p>
        </p:txBody>
      </p:sp>
      <p:sp>
        <p:nvSpPr>
          <p:cNvPr id="3" name="ask-title">
            <a:extLst xmlns:a="http://schemas.openxmlformats.org/drawingml/2006/main">
              <a:ext uri="{FF2B5EF4-FFF2-40B4-BE49-F238E27FC236}">
                <a16:creationId xmlns:a16="http://schemas.microsoft.com/office/drawing/2014/main" id="{DDE0B3D4-DAFF-42A2-85FE-91E793DE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125539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AF8"/>
                </a:solidFill>
              </a:defRPr>
            </a:pPr>
            <a:r>
              <a:rPr sz="3300" b="1">
                <a:solidFill>
                  <a:srgbClr val="F7FAF8"/>
                </a:solidFill>
              </a:rPr>
              <a:t>Prove the product on one greenfield project and one brownfield change.</a:t>
            </a:r>
          </a:p>
        </p:txBody>
      </p:sp>
      <p:sp>
        <p:nvSpPr>
          <p:cNvPr id="4" name="ask-subtitle">
            <a:extLst xmlns:a="http://schemas.openxmlformats.org/drawingml/2006/main">
              <a:ext uri="{FF2B5EF4-FFF2-40B4-BE49-F238E27FC236}">
                <a16:creationId xmlns:a16="http://schemas.microsoft.com/office/drawing/2014/main" id="{3D7CC662-3A71-4EDE-8461-DE4A6E1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221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9B8AE"/>
                </a:solidFill>
              </a:defRPr>
            </a:pPr>
            <a:r>
              <a:rPr sz="1950">
                <a:solidFill>
                  <a:srgbClr val="A9B8AE"/>
                </a:solidFill>
              </a:rPr>
              <a:t>The pilot should test confidence transfer: can the client trust the factory's evidence enough to approve the next iteration?</a:t>
            </a:r>
          </a:p>
        </p:txBody>
      </p:sp>
      <p:sp>
        <p:nvSpPr>
          <p:cNvPr id="5" name="dot-greenfield-pilot">
            <a:extLst xmlns:a="http://schemas.openxmlformats.org/drawingml/2006/main">
              <a:ext uri="{FF2B5EF4-FFF2-40B4-BE49-F238E27FC236}">
                <a16:creationId xmlns:a16="http://schemas.microsoft.com/office/drawing/2014/main" id="{AC5DE502-C092-4097-A613-D1B334D5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6" name="statement-title-greenfield-pilot">
            <a:extLst xmlns:a="http://schemas.openxmlformats.org/drawingml/2006/main">
              <a:ext uri="{FF2B5EF4-FFF2-40B4-BE49-F238E27FC236}">
                <a16:creationId xmlns:a16="http://schemas.microsoft.com/office/drawing/2014/main" id="{9A6D9C19-696A-42D5-BBFE-E2AD8AFB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Greenfield pilot</a:t>
            </a:r>
          </a:p>
        </p:txBody>
      </p:sp>
      <p:sp>
        <p:nvSpPr>
          <p:cNvPr id="7" name="statement-body-greenfield-pilot">
            <a:extLst xmlns:a="http://schemas.openxmlformats.org/drawingml/2006/main">
              <a:ext uri="{FF2B5EF4-FFF2-40B4-BE49-F238E27FC236}">
                <a16:creationId xmlns:a16="http://schemas.microsoft.com/office/drawing/2014/main" id="{CF2D0418-AFEC-4242-9207-A17865BB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668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Run from interrogation to PRD, architecture, build plan, evidence, and handoff.</a:t>
            </a:r>
          </a:p>
        </p:txBody>
      </p:sp>
      <p:sp>
        <p:nvSpPr>
          <p:cNvPr id="8" name="dot-brownfield-pilot">
            <a:extLst xmlns:a="http://schemas.openxmlformats.org/drawingml/2006/main">
              <a:ext uri="{FF2B5EF4-FFF2-40B4-BE49-F238E27FC236}">
                <a16:creationId xmlns:a16="http://schemas.microsoft.com/office/drawing/2014/main" id="{1FA1197B-F1FD-4F5D-A513-8D21F26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17E"/>
          </a:solidFill>
          <a:ln xmlns:a="http://schemas.openxmlformats.org/drawingml/2006/main" w="0">
            <a:solidFill>
              <a:srgbClr val="46D17E"/>
            </a:solidFill>
            <a:prstDash val="solid"/>
          </a:ln>
        </p:spPr>
      </p:sp>
      <p:sp>
        <p:nvSpPr>
          <p:cNvPr id="9" name="statement-title-brownfield-pilot">
            <a:extLst xmlns:a="http://schemas.openxmlformats.org/drawingml/2006/main">
              <a:ext uri="{FF2B5EF4-FFF2-40B4-BE49-F238E27FC236}">
                <a16:creationId xmlns:a16="http://schemas.microsoft.com/office/drawing/2014/main" id="{DB31FA5F-D7B0-42BD-9D98-1C8D0694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388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Brownfield pilot</a:t>
            </a:r>
          </a:p>
        </p:txBody>
      </p:sp>
      <p:sp>
        <p:nvSpPr>
          <p:cNvPr id="10" name="statement-body-brownfield-pilot">
            <a:extLst xmlns:a="http://schemas.openxmlformats.org/drawingml/2006/main">
              <a:ext uri="{FF2B5EF4-FFF2-40B4-BE49-F238E27FC236}">
                <a16:creationId xmlns:a16="http://schemas.microsoft.com/office/drawing/2014/main" id="{2CE20976-576C-4489-9459-22A1EA5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62650"/>
            <a:ext cx="7105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Run recon, impact analysis, change request, regression proof, and updated artifacts.</a:t>
            </a:r>
          </a:p>
        </p:txBody>
      </p:sp>
      <p:sp>
        <p:nvSpPr>
          <p:cNvPr id="11" name="dot-success-gate">
            <a:extLst xmlns:a="http://schemas.openxmlformats.org/drawingml/2006/main">
              <a:ext uri="{FF2B5EF4-FFF2-40B4-BE49-F238E27FC236}">
                <a16:creationId xmlns:a16="http://schemas.microsoft.com/office/drawing/2014/main" id="{ED38C1F7-A43B-47F9-BBE9-8B6843F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123825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2" name="statement-title-success-gate">
            <a:extLst xmlns:a="http://schemas.openxmlformats.org/drawingml/2006/main">
              <a:ext uri="{FF2B5EF4-FFF2-40B4-BE49-F238E27FC236}">
                <a16:creationId xmlns:a16="http://schemas.microsoft.com/office/drawing/2014/main" id="{69077B80-01B9-43F3-8266-AAC6FDB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008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AF8"/>
                </a:solidFill>
              </a:defRPr>
            </a:pPr>
            <a:r>
              <a:rPr sz="2175" b="1">
                <a:solidFill>
                  <a:srgbClr val="F7FAF8"/>
                </a:solidFill>
              </a:rPr>
              <a:t>Success gate</a:t>
            </a:r>
          </a:p>
        </p:txBody>
      </p:sp>
      <p:sp>
        <p:nvSpPr>
          <p:cNvPr id="13" name="statement-body-success-gate">
            <a:extLst xmlns:a="http://schemas.openxmlformats.org/drawingml/2006/main">
              <a:ext uri="{FF2B5EF4-FFF2-40B4-BE49-F238E27FC236}">
                <a16:creationId xmlns:a16="http://schemas.microsoft.com/office/drawing/2014/main" id="{5F4E1B71-F452-452F-A84C-AC9FCB8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7246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A9B8AE"/>
                </a:solidFill>
              </a:defRPr>
            </a:pPr>
            <a:r>
              <a:rPr sz="1650">
                <a:solidFill>
                  <a:srgbClr val="A9B8AE"/>
                </a:solidFill>
              </a:rPr>
              <a:t>Client can approve or reject the next iteration using evidence, not trust alone.</a:t>
            </a:r>
          </a:p>
        </p:txBody>
      </p:sp>
      <p:sp>
        <p:nvSpPr>
          <p:cNvPr id="14" name="ask-token-record">
            <a:extLst xmlns:a="http://schemas.openxmlformats.org/drawingml/2006/main">
              <a:ext uri="{FF2B5EF4-FFF2-40B4-BE49-F238E27FC236}">
                <a16:creationId xmlns:a16="http://schemas.microsoft.com/office/drawing/2014/main" id="{F330FBA8-A9FD-4EC3-BC0F-B4A144A5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817" y="4591050"/>
            <a:ext cx="7868984" cy="26289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62520"/>
          </a:solidFill>
          <a:ln xmlns:a="http://schemas.openxmlformats.org/drawingml/2006/main" w="9525">
            <a:solidFill>
              <a:srgbClr val="29443B"/>
            </a:solidFill>
            <a:prstDash val="solid"/>
          </a:ln>
        </p:spPr>
      </p:sp>
      <p:sp>
        <p:nvSpPr>
          <p:cNvPr id="15" name="ask-token-title">
            <a:extLst xmlns:a="http://schemas.openxmlformats.org/drawingml/2006/main">
              <a:ext uri="{FF2B5EF4-FFF2-40B4-BE49-F238E27FC236}">
                <a16:creationId xmlns:a16="http://schemas.microsoft.com/office/drawing/2014/main" id="{B5806A74-BE8A-4663-BDDC-D805DA0F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958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8"/>
                </a:solidFill>
              </a:defRPr>
            </a:pPr>
            <a:r>
              <a:rPr sz="2550" b="1">
                <a:solidFill>
                  <a:srgbClr val="F7FAF8"/>
                </a:solidFill>
              </a:rPr>
              <a:t>Pilot budget contract</a:t>
            </a:r>
          </a:p>
        </p:txBody>
      </p:sp>
      <p:sp>
        <p:nvSpPr>
          <p:cNvPr id="16" name="ask-token-1">
            <a:extLst xmlns:a="http://schemas.openxmlformats.org/drawingml/2006/main">
              <a:ext uri="{FF2B5EF4-FFF2-40B4-BE49-F238E27FC236}">
                <a16:creationId xmlns:a16="http://schemas.microsoft.com/office/drawing/2014/main" id="{3C2C9B14-2112-414E-882C-2DD9076B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10200"/>
            <a:ext cx="721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B8AE"/>
                </a:solidFill>
              </a:defRPr>
            </a:pPr>
            <a:r>
              <a:rPr sz="1800">
                <a:solidFill>
                  <a:srgbClr val="A9B8AE"/>
                </a:solidFill>
              </a:rPr>
              <a:t>Rough token SWAG: low / mid / high</a:t>
            </a:r>
          </a:p>
        </p:txBody>
      </p:sp>
      <p:sp>
        <p:nvSpPr>
          <p:cNvPr id="17" name="ask-token-2">
            <a:extLst xmlns:a="http://schemas.openxmlformats.org/drawingml/2006/main">
              <a:ext uri="{FF2B5EF4-FFF2-40B4-BE49-F238E27FC236}">
                <a16:creationId xmlns:a16="http://schemas.microsoft.com/office/drawing/2014/main" id="{007FC0B7-DC6A-41AC-86B0-C5143B76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29300"/>
            <a:ext cx="721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B8AE"/>
                </a:solidFill>
              </a:defRPr>
            </a:pPr>
            <a:r>
              <a:rPr sz="1800">
                <a:solidFill>
                  <a:srgbClr val="A9B8AE"/>
                </a:solidFill>
              </a:rPr>
              <a:t>Approved iteration objective and acceptance criteria</a:t>
            </a:r>
          </a:p>
        </p:txBody>
      </p:sp>
      <p:sp>
        <p:nvSpPr>
          <p:cNvPr id="18" name="ask-token-3">
            <a:extLst xmlns:a="http://schemas.openxmlformats.org/drawingml/2006/main">
              <a:ext uri="{FF2B5EF4-FFF2-40B4-BE49-F238E27FC236}">
                <a16:creationId xmlns:a16="http://schemas.microsoft.com/office/drawing/2014/main" id="{D8CC82BA-9248-4B9C-AF4A-A544F0C8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48400"/>
            <a:ext cx="721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B8AE"/>
                </a:solidFill>
              </a:defRPr>
            </a:pPr>
            <a:r>
              <a:rPr sz="1800">
                <a:solidFill>
                  <a:srgbClr val="A9B8AE"/>
                </a:solidFill>
              </a:rPr>
              <a:t>Change-control trigger for scope, tokens, schedule, quality, or risk</a:t>
            </a:r>
          </a:p>
        </p:txBody>
      </p:sp>
      <p:sp>
        <p:nvSpPr>
          <p:cNvPr id="19" name="ask-token-4">
            <a:extLst xmlns:a="http://schemas.openxmlformats.org/drawingml/2006/main">
              <a:ext uri="{FF2B5EF4-FFF2-40B4-BE49-F238E27FC236}">
                <a16:creationId xmlns:a16="http://schemas.microsoft.com/office/drawing/2014/main" id="{CDC11AED-A89D-4119-83B9-C2A7D14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00"/>
            <a:ext cx="721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AF2C8"/>
                </a:solidFill>
              </a:defRPr>
            </a:pPr>
            <a:r>
              <a:rPr sz="1800">
                <a:solidFill>
                  <a:srgbClr val="9AF2C8"/>
                </a:solidFill>
              </a:rPr>
              <a:t>Output: project book, evidence ledger, quality certificate, handoff package</a:t>
            </a:r>
          </a:p>
        </p:txBody>
      </p:sp>
      <p:sp>
        <p:nvSpPr>
          <p:cNvPr id="20" name="ask-footer">
            <a:extLst xmlns:a="http://schemas.openxmlformats.org/drawingml/2006/main">
              <a:ext uri="{FF2B5EF4-FFF2-40B4-BE49-F238E27FC236}">
                <a16:creationId xmlns:a16="http://schemas.microsoft.com/office/drawing/2014/main" id="{C0F2DB42-6DD0-411C-AB01-C8DA10CA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297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C74"/>
                </a:solidFill>
              </a:defRPr>
            </a:pPr>
            <a:r>
              <a:rPr sz="975">
                <a:solidFill>
                  <a:srgbClr val="6E7C74"/>
                </a:solidFill>
              </a:rPr>
              <a:t>DFMS pitch deck | software assurance dark factory</a:t>
            </a:r>
          </a:p>
        </p:txBody>
      </p:sp>
      <p:sp>
        <p:nvSpPr>
          <p:cNvPr id="21" name="ask-page">
            <a:extLst xmlns:a="http://schemas.openxmlformats.org/drawingml/2006/main">
              <a:ext uri="{FF2B5EF4-FFF2-40B4-BE49-F238E27FC236}">
                <a16:creationId xmlns:a16="http://schemas.microsoft.com/office/drawing/2014/main" id="{2943E2D3-A0FA-4D76-A4A6-AB5C4B2C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05950"/>
            <a:ext cx="3810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7C74"/>
                </a:solidFill>
              </a:defRPr>
            </a:pPr>
            <a:r>
              <a:rPr sz="975" b="1">
                <a:solidFill>
                  <a:srgbClr val="6E7C74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02210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2026-04-26T03:13:37.0010000Z</dcterms:created>
  <dcterms:modified xsi:type="dcterms:W3CDTF">2026-04-26T03:13:37.0010000Z</dcterms:modified>
</coreProperties>
</file>